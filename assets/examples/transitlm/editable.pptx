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08875" cy="15373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0680cc872ad3477.png"/>
  <Relationship Id="rId3" Type="http://schemas.openxmlformats.org/officeDocument/2006/relationships/image" Target="../media/image_a209221d7eddcfa9.png"/>
  <Relationship Id="rId4" Type="http://schemas.openxmlformats.org/officeDocument/2006/relationships/image" Target="../media/image_0ab6312ffd19bd84.png"/>
  <Relationship Id="rId5" Type="http://schemas.openxmlformats.org/officeDocument/2006/relationships/image" Target="../media/image_d8aa9b5d91201d66.png"/>
  <Relationship Id="rId6" Type="http://schemas.openxmlformats.org/officeDocument/2006/relationships/image" Target="../media/image_3903dc79c50a74d5.png"/>
  <Relationship Id="rId7" Type="http://schemas.openxmlformats.org/officeDocument/2006/relationships/image" Target="../media/image_87ede7ba463dc0d9.png"/>
  <Relationship Id="rId8" Type="http://schemas.openxmlformats.org/officeDocument/2006/relationships/image" Target="../media/image_767a3f25112c12a8.png"/>
  <Relationship Id="rId9" Type="http://schemas.openxmlformats.org/officeDocument/2006/relationships/image" Target="../media/image_c4072b022ac76a4c.png"/>
  <Relationship Id="rId10" Type="http://schemas.openxmlformats.org/officeDocument/2006/relationships/image" Target="../media/image_704812026038e93b.png"/>
  <Relationship Id="rId11" Type="http://schemas.openxmlformats.org/officeDocument/2006/relationships/image" Target="../media/image_86a18c8701d134a6.png"/>
  <Relationship Id="rId12" Type="http://schemas.openxmlformats.org/officeDocument/2006/relationships/image" Target="../media/image_5080de16499f88a4.png"/>
  <Relationship Id="rId13" Type="http://schemas.openxmlformats.org/officeDocument/2006/relationships/image" Target="../media/image_1a06f3bde14ba438.png"/>
  <Relationship Id="rId14" Type="http://schemas.openxmlformats.org/officeDocument/2006/relationships/image" Target="../media/image_b4f706c4f319a968.png"/>
  <Relationship Id="rId15" Type="http://schemas.openxmlformats.org/officeDocument/2006/relationships/image" Target="../media/image_567636966baac60a.png"/>
  <Relationship Id="rId16" Type="http://schemas.openxmlformats.org/officeDocument/2006/relationships/image" Target="../media/image_10d33133f764a279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32908875" cy="1537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90525" y="285750"/>
            <a:ext cx="32184975" cy="14925675"/>
            <a:chOff x="390525" y="285750"/>
            <a:chExt cx="32184975" cy="14925675"/>
          </a:xfrm>
        </p:grpSpPr>
        <p:sp>
          <p:nvSpPr>
            <p:cNvPr id="3" name="Rectangle 3"/>
            <p:cNvSpPr/>
            <p:nvPr/>
          </p:nvSpPr>
          <p:spPr>
            <a:xfrm>
              <a:off x="390525" y="285750"/>
              <a:ext cx="10563225" cy="14925675"/>
            </a:xfrm>
            <a:prstGeom prst="roundRect">
              <a:avLst>
                <a:gd name="adj" fmla="val 3156"/>
              </a:avLst>
            </a:prstGeom>
            <a:solidFill>
              <a:srgbClr val="FBFCFD"/>
            </a:solidFill>
            <a:ln w="38100">
              <a:solidFill>
                <a:srgbClr val="8FAADC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1239500" y="285750"/>
              <a:ext cx="10496550" cy="14925675"/>
            </a:xfrm>
            <a:prstGeom prst="roundRect">
              <a:avLst>
                <a:gd name="adj" fmla="val 3176"/>
              </a:avLst>
            </a:prstGeom>
            <a:solidFill>
              <a:srgbClr val="FDF8F4"/>
            </a:solidFill>
            <a:ln w="38100">
              <a:solidFill>
                <a:srgbClr val="F4B183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2250400" y="285750"/>
              <a:ext cx="10325100" cy="14925675"/>
            </a:xfrm>
            <a:prstGeom prst="roundRect">
              <a:avLst>
                <a:gd name="adj" fmla="val 3229"/>
              </a:avLst>
            </a:prstGeom>
            <a:solidFill>
              <a:srgbClr val="F6FAF3"/>
            </a:solidFill>
            <a:ln w="38100">
              <a:solidFill>
                <a:srgbClr val="A9D18E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2171700"/>
              <a:ext cx="4962525" cy="8096250"/>
            </a:xfrm>
            <a:prstGeom prst="roundRect">
              <a:avLst>
                <a:gd name="adj" fmla="val 4798"/>
              </a:avLst>
            </a:prstGeom>
            <a:solidFill>
              <a:srgbClr val="FFFFFF"/>
            </a:solidFill>
            <a:ln w="28575">
              <a:solidFill>
                <a:srgbClr val="8FAAD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848350" y="2171700"/>
              <a:ext cx="4552950" cy="4362450"/>
            </a:xfrm>
            <a:prstGeom prst="roundRect">
              <a:avLst>
                <a:gd name="adj" fmla="val 5459"/>
              </a:avLst>
            </a:prstGeom>
            <a:solidFill>
              <a:srgbClr val="FFFFFF"/>
            </a:solidFill>
            <a:ln w="28575">
              <a:solidFill>
                <a:srgbClr val="8FAAD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848350" y="6619875"/>
              <a:ext cx="4552950" cy="3619500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28575">
              <a:solidFill>
                <a:srgbClr val="8FAAD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458450"/>
              <a:ext cx="4962525" cy="447675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28575">
              <a:solidFill>
                <a:srgbClr val="8FAAD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848350" y="10458450"/>
              <a:ext cx="4552950" cy="4533900"/>
            </a:xfrm>
            <a:prstGeom prst="roundRect">
              <a:avLst>
                <a:gd name="adj" fmla="val 5252"/>
              </a:avLst>
            </a:prstGeom>
            <a:solidFill>
              <a:srgbClr val="FFFFFF"/>
            </a:solidFill>
            <a:ln w="28575">
              <a:solidFill>
                <a:srgbClr val="8FAAD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410950" y="1285875"/>
              <a:ext cx="10039350" cy="4562475"/>
            </a:xfrm>
            <a:prstGeom prst="roundRect">
              <a:avLst>
                <a:gd name="adj" fmla="val 5846"/>
              </a:avLst>
            </a:prstGeom>
            <a:solidFill>
              <a:srgbClr val="FDF8F4"/>
            </a:solidFill>
            <a:ln w="28575">
              <a:solidFill>
                <a:srgbClr val="F4B18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506200" y="1962150"/>
              <a:ext cx="2924175" cy="3686175"/>
            </a:xfrm>
            <a:prstGeom prst="roundRect">
              <a:avLst>
                <a:gd name="adj" fmla="val 7166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697075" y="1962150"/>
              <a:ext cx="3019425" cy="3686175"/>
            </a:xfrm>
            <a:prstGeom prst="roundRect">
              <a:avLst>
                <a:gd name="adj" fmla="val 6940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7954625" y="1962150"/>
              <a:ext cx="3048000" cy="3686175"/>
            </a:xfrm>
            <a:prstGeom prst="roundRect">
              <a:avLst>
                <a:gd name="adj" fmla="val 6875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10950" y="6048375"/>
              <a:ext cx="10039350" cy="8982075"/>
            </a:xfrm>
            <a:prstGeom prst="roundRect">
              <a:avLst>
                <a:gd name="adj" fmla="val 2969"/>
              </a:avLst>
            </a:prstGeom>
            <a:solidFill>
              <a:srgbClr val="FDF8F4"/>
            </a:solidFill>
            <a:ln w="28575">
              <a:solidFill>
                <a:srgbClr val="F4B18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582400" y="6886575"/>
              <a:ext cx="2914650" cy="2505075"/>
            </a:xfrm>
            <a:prstGeom prst="roundRect">
              <a:avLst>
                <a:gd name="adj" fmla="val 7605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4668500" y="6886575"/>
              <a:ext cx="6343650" cy="2505075"/>
            </a:xfrm>
            <a:prstGeom prst="roundRect">
              <a:avLst>
                <a:gd name="adj" fmla="val 7605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4820900" y="7524750"/>
              <a:ext cx="2819400" cy="1762125"/>
            </a:xfrm>
            <a:prstGeom prst="roundRect">
              <a:avLst>
                <a:gd name="adj" fmla="val 8649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773650" y="7524750"/>
              <a:ext cx="3143250" cy="1762125"/>
            </a:xfrm>
            <a:prstGeom prst="roundRect">
              <a:avLst>
                <a:gd name="adj" fmla="val 8649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582400" y="9648825"/>
              <a:ext cx="9429750" cy="2390775"/>
            </a:xfrm>
            <a:prstGeom prst="roundRect">
              <a:avLst>
                <a:gd name="adj" fmla="val 7968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763375" y="10648950"/>
              <a:ext cx="2571750" cy="1238250"/>
            </a:xfrm>
            <a:prstGeom prst="roundRect">
              <a:avLst>
                <a:gd name="adj" fmla="val 12308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4668500" y="10553700"/>
              <a:ext cx="3028950" cy="1381125"/>
            </a:xfrm>
            <a:prstGeom prst="roundRect">
              <a:avLst>
                <a:gd name="adj" fmla="val 11034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7907000" y="10553700"/>
              <a:ext cx="3009900" cy="1381125"/>
            </a:xfrm>
            <a:prstGeom prst="roundRect">
              <a:avLst>
                <a:gd name="adj" fmla="val 11034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582400" y="12296775"/>
              <a:ext cx="6276975" cy="2486025"/>
            </a:xfrm>
            <a:prstGeom prst="roundRect">
              <a:avLst>
                <a:gd name="adj" fmla="val 7663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1763375" y="13287375"/>
              <a:ext cx="2190750" cy="1428750"/>
            </a:xfrm>
            <a:prstGeom prst="roundRect">
              <a:avLst>
                <a:gd name="adj" fmla="val 10667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573250" y="13287375"/>
              <a:ext cx="3162300" cy="1428750"/>
            </a:xfrm>
            <a:prstGeom prst="roundRect">
              <a:avLst>
                <a:gd name="adj" fmla="val 10667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049875" y="12296775"/>
              <a:ext cx="2962275" cy="2486025"/>
            </a:xfrm>
            <a:prstGeom prst="roundRect">
              <a:avLst>
                <a:gd name="adj" fmla="val 7663"/>
              </a:avLst>
            </a:prstGeom>
            <a:solidFill>
              <a:srgbClr val="FFFFFF"/>
            </a:solidFill>
            <a:ln w="28575">
              <a:solidFill>
                <a:srgbClr val="F6D3B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145125" y="12744450"/>
              <a:ext cx="2771775" cy="990600"/>
            </a:xfrm>
            <a:prstGeom prst="roundRect">
              <a:avLst>
                <a:gd name="adj" fmla="val 15385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145125" y="13830300"/>
              <a:ext cx="2771775" cy="914400"/>
            </a:xfrm>
            <a:prstGeom prst="roundRect">
              <a:avLst>
                <a:gd name="adj" fmla="val 16667"/>
              </a:avLst>
            </a:prstGeom>
            <a:solidFill>
              <a:srgbClr val="FBF7F3"/>
            </a:solidFill>
            <a:ln w="19050">
              <a:solidFill>
                <a:srgbClr val="E9DCC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383750" y="1219200"/>
              <a:ext cx="10039350" cy="1752600"/>
            </a:xfrm>
            <a:prstGeom prst="roundRect">
              <a:avLst>
                <a:gd name="adj" fmla="val 11957"/>
              </a:avLst>
            </a:prstGeom>
            <a:solidFill>
              <a:srgbClr val="FFFFFF"/>
            </a:solidFill>
            <a:ln w="28575">
              <a:solidFill>
                <a:srgbClr val="70AD4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383750" y="3219450"/>
              <a:ext cx="10020300" cy="685800"/>
            </a:xfrm>
            <a:prstGeom prst="roundRect">
              <a:avLst>
                <a:gd name="adj" fmla="val 25000"/>
              </a:avLst>
            </a:prstGeom>
            <a:solidFill>
              <a:srgbClr val="F6FAF3"/>
            </a:solidFill>
            <a:ln w="28575">
              <a:solidFill>
                <a:srgbClr val="A9D18E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526625" y="3981450"/>
              <a:ext cx="9782175" cy="5829300"/>
            </a:xfrm>
            <a:prstGeom prst="roundRect">
              <a:avLst>
                <a:gd name="adj" fmla="val 4085"/>
              </a:avLst>
            </a:prstGeom>
            <a:solidFill>
              <a:srgbClr val="FFFFFF"/>
            </a:solidFill>
            <a:ln w="28575">
              <a:solidFill>
                <a:srgbClr val="70AD47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517100" y="5238750"/>
              <a:ext cx="5467350" cy="4333875"/>
            </a:xfrm>
            <a:prstGeom prst="roundRect">
              <a:avLst>
                <a:gd name="adj" fmla="val 4835"/>
              </a:avLst>
            </a:prstGeom>
            <a:solidFill>
              <a:srgbClr val="FFFFFF"/>
            </a:solidFill>
            <a:ln w="28575">
              <a:solidFill>
                <a:srgbClr val="70AD47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174950" y="5238750"/>
              <a:ext cx="4019550" cy="4333875"/>
            </a:xfrm>
            <a:prstGeom prst="roundRect">
              <a:avLst>
                <a:gd name="adj" fmla="val 5213"/>
              </a:avLst>
            </a:prstGeom>
            <a:solidFill>
              <a:srgbClr val="FFFFFF"/>
            </a:solidFill>
            <a:ln w="28575">
              <a:solidFill>
                <a:srgbClr val="70AD4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365450" y="5848350"/>
              <a:ext cx="3467100" cy="1562100"/>
            </a:xfrm>
            <a:prstGeom prst="roundRect">
              <a:avLst>
                <a:gd name="adj" fmla="val 10976"/>
              </a:avLst>
            </a:prstGeom>
            <a:solidFill>
              <a:srgbClr val="FFFFFF"/>
            </a:solidFill>
            <a:ln w="23812">
              <a:solidFill>
                <a:srgbClr val="A9D18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365450" y="7639050"/>
              <a:ext cx="3467100" cy="17716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23812">
              <a:solidFill>
                <a:srgbClr val="A9D18E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2383750" y="9982200"/>
              <a:ext cx="4953000" cy="4781550"/>
            </a:xfrm>
            <a:prstGeom prst="roundRect">
              <a:avLst>
                <a:gd name="adj" fmla="val 4980"/>
              </a:avLst>
            </a:prstGeom>
            <a:solidFill>
              <a:srgbClr val="FFFFFF"/>
            </a:solidFill>
            <a:ln w="28575">
              <a:solidFill>
                <a:srgbClr val="70AD47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2783800" y="10591800"/>
              <a:ext cx="4343400" cy="110490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3812">
              <a:solidFill>
                <a:srgbClr val="70AD47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783800" y="11925300"/>
              <a:ext cx="4343400" cy="110490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3812">
              <a:solidFill>
                <a:srgbClr val="70AD47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783800" y="13258800"/>
              <a:ext cx="4343400" cy="1314450"/>
            </a:xfrm>
            <a:prstGeom prst="roundRect">
              <a:avLst>
                <a:gd name="adj" fmla="val 11594"/>
              </a:avLst>
            </a:prstGeom>
            <a:solidFill>
              <a:srgbClr val="FFFFFF"/>
            </a:solidFill>
            <a:ln w="23812">
              <a:solidFill>
                <a:srgbClr val="70AD47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698700" y="9982200"/>
              <a:ext cx="4572000" cy="478155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28575">
              <a:solidFill>
                <a:srgbClr val="70AD47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7765375" y="12363450"/>
              <a:ext cx="4448175" cy="21336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23812">
              <a:solidFill>
                <a:srgbClr val="70AD47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409575" y="285750"/>
            <a:ext cx="30506315" cy="14573250"/>
            <a:chOff x="409575" y="285750"/>
            <a:chExt cx="30506315" cy="14573250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9575" y="285750"/>
              <a:ext cx="1371600" cy="1352550"/>
            </a:xfrm>
            <a:prstGeom prst="rect">
              <a:avLst/>
            </a:prstGeom>
          </p:spPr>
        </p:pic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550" y="3541845"/>
              <a:ext cx="3810000" cy="6156059"/>
            </a:xfrm>
            <a:prstGeom prst="rect">
              <a:avLst/>
            </a:prstGeom>
          </p:spPr>
        </p:pic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4875" y="11125200"/>
              <a:ext cx="4356100" cy="3733800"/>
            </a:xfrm>
            <a:prstGeom prst="rect">
              <a:avLst/>
            </a:prstGeom>
          </p:spPr>
        </p:pic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48489" y="2933700"/>
              <a:ext cx="2753871" cy="2257425"/>
            </a:xfrm>
            <a:prstGeom prst="rect">
              <a:avLst/>
            </a:prstGeom>
          </p:spPr>
        </p:pic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25089" y="2933700"/>
              <a:ext cx="2753871" cy="2257425"/>
            </a:xfrm>
            <a:prstGeom prst="rect">
              <a:avLst/>
            </a:prstGeom>
          </p:spPr>
        </p:pic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083472" y="2952750"/>
              <a:ext cx="2828407" cy="2238375"/>
            </a:xfrm>
            <a:prstGeom prst="rect">
              <a:avLst/>
            </a:prstGeom>
          </p:spPr>
        </p:pic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36011" y="8382000"/>
              <a:ext cx="2179604" cy="857250"/>
            </a:xfrm>
            <a:prstGeom prst="rect">
              <a:avLst/>
            </a:prstGeom>
          </p:spPr>
        </p:pic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227550" y="9734550"/>
              <a:ext cx="2644775" cy="933450"/>
            </a:xfrm>
            <a:prstGeom prst="rect">
              <a:avLst/>
            </a:prstGeom>
          </p:spPr>
        </p:pic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130588" y="12287250"/>
              <a:ext cx="1571625" cy="571500"/>
            </a:xfrm>
            <a:prstGeom prst="rect">
              <a:avLst/>
            </a:prstGeom>
          </p:spPr>
        </p:pic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848428" y="1790700"/>
              <a:ext cx="5643145" cy="1047750"/>
            </a:xfrm>
            <a:prstGeom prst="rect">
              <a:avLst/>
            </a:prstGeom>
          </p:spPr>
        </p:pic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6346150" y="6000750"/>
              <a:ext cx="914400" cy="1009650"/>
            </a:xfrm>
            <a:prstGeom prst="rect">
              <a:avLst/>
            </a:prstGeom>
          </p:spPr>
        </p:pic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6127075" y="13677900"/>
              <a:ext cx="952500" cy="914400"/>
            </a:xfrm>
            <a:prstGeom prst="rect">
              <a:avLst/>
            </a:prstGeom>
          </p:spPr>
        </p:pic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7851100" y="10953750"/>
              <a:ext cx="1162050" cy="1066800"/>
            </a:xfrm>
            <a:prstGeom prst="rect">
              <a:avLst/>
            </a:prstGeom>
          </p:spPr>
        </p:pic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7817270" y="12315825"/>
              <a:ext cx="1305910" cy="1066800"/>
            </a:xfrm>
            <a:prstGeom prst="rect">
              <a:avLst/>
            </a:prstGeom>
          </p:spPr>
        </p:pic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9282110" y="13906500"/>
              <a:ext cx="1633780" cy="523875"/>
            </a:xfrm>
            <a:prstGeom prst="rect">
              <a:avLst/>
            </a:prstGeom>
          </p:spPr>
        </p:pic>
      </p:grpSp>
      <p:grpSp>
        <p:nvGrpSpPr>
          <p:cNvPr id="68" name="Group 68"/>
          <p:cNvGrpSpPr/>
          <p:nvPr/>
        </p:nvGrpSpPr>
        <p:grpSpPr>
          <a:xfrm>
            <a:off x="7019925" y="3028950"/>
            <a:ext cx="20840700" cy="6343650"/>
            <a:chOff x="7019925" y="3028950"/>
            <a:chExt cx="20840700" cy="6343650"/>
          </a:xfrm>
        </p:grpSpPr>
        <p:sp>
          <p:nvSpPr>
            <p:cNvPr id="60" name="Rectangle 60"/>
            <p:cNvSpPr/>
            <p:nvPr/>
          </p:nvSpPr>
          <p:spPr>
            <a:xfrm>
              <a:off x="7019925" y="3295650"/>
              <a:ext cx="2190750" cy="2438400"/>
            </a:xfrm>
            <a:prstGeom prst="rect">
              <a:avLst/>
            </a:prstGeom>
            <a:solidFill>
              <a:srgbClr val="FFFFFF"/>
            </a:solidFill>
            <a:ln w="47625">
              <a:solidFill>
                <a:srgbClr val="1A1A1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62800" y="3162300"/>
              <a:ext cx="2190750" cy="2438400"/>
            </a:xfrm>
            <a:prstGeom prst="rect">
              <a:avLst/>
            </a:prstGeom>
            <a:solidFill>
              <a:srgbClr val="FFFFFF"/>
            </a:solidFill>
            <a:ln w="47625">
              <a:solidFill>
                <a:srgbClr val="1A1A1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315200" y="3028950"/>
              <a:ext cx="2190750" cy="2447925"/>
            </a:xfrm>
            <a:custGeom>
              <a:avLst/>
              <a:gdLst/>
              <a:ahLst/>
              <a:cxnLst/>
              <a:rect l="l" t="t" r="r" b="b"/>
              <a:pathLst>
                <a:path w="2190750" h="2447925">
                  <a:moveTo>
                    <a:pt x="0" y="0"/>
                  </a:moveTo>
                  <a:lnTo>
                    <a:pt x="1381125" y="0"/>
                  </a:lnTo>
                  <a:lnTo>
                    <a:pt x="2190750" y="809625"/>
                  </a:lnTo>
                  <a:lnTo>
                    <a:pt x="2190750" y="2447925"/>
                  </a:lnTo>
                  <a:lnTo>
                    <a:pt x="0" y="2447925"/>
                  </a:ln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1A1A1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696325" y="3028950"/>
              <a:ext cx="809625" cy="809625"/>
            </a:xfrm>
            <a:custGeom>
              <a:avLst/>
              <a:gdLst/>
              <a:ahLst/>
              <a:cxnLst/>
              <a:rect l="l" t="t" r="r" b="b"/>
              <a:pathLst>
                <a:path w="809625" h="809625">
                  <a:moveTo>
                    <a:pt x="0" y="0"/>
                  </a:moveTo>
                  <a:lnTo>
                    <a:pt x="0" y="809625"/>
                  </a:lnTo>
                  <a:lnTo>
                    <a:pt x="809625" y="809625"/>
                  </a:lnTo>
                  <a:close/>
                </a:path>
              </a:pathLst>
            </a:custGeom>
            <a:solidFill>
              <a:srgbClr val="F0F0F0"/>
            </a:solidFill>
            <a:ln w="47625">
              <a:solidFill>
                <a:srgbClr val="1A1A1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6098500" y="7753350"/>
              <a:ext cx="1762125" cy="352425"/>
            </a:xfrm>
            <a:prstGeom prst="roundRect">
              <a:avLst>
                <a:gd name="adj" fmla="val 8108"/>
              </a:avLst>
            </a:prstGeom>
            <a:solidFill>
              <a:srgbClr val="54823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26098500" y="8191500"/>
              <a:ext cx="1762125" cy="314325"/>
            </a:xfrm>
            <a:prstGeom prst="roundRect">
              <a:avLst>
                <a:gd name="adj" fmla="val 9091"/>
              </a:avLst>
            </a:prstGeom>
            <a:solidFill>
              <a:srgbClr val="54823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6098500" y="8610600"/>
              <a:ext cx="1762125" cy="314325"/>
            </a:xfrm>
            <a:prstGeom prst="roundRect">
              <a:avLst>
                <a:gd name="adj" fmla="val 9091"/>
              </a:avLst>
            </a:prstGeom>
            <a:solidFill>
              <a:srgbClr val="54823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26098500" y="9029700"/>
              <a:ext cx="1762125" cy="342900"/>
            </a:xfrm>
            <a:prstGeom prst="roundRect">
              <a:avLst>
                <a:gd name="adj" fmla="val 8333"/>
              </a:avLst>
            </a:prstGeom>
            <a:solidFill>
              <a:srgbClr val="548235"/>
            </a:solidFill>
            <a:ln>
              <a:noFill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2038350" y="8096250"/>
            <a:ext cx="29375100" cy="5676900"/>
            <a:chOff x="2038350" y="8096250"/>
            <a:chExt cx="29375100" cy="5676900"/>
          </a:xfrm>
        </p:grpSpPr>
        <p:sp>
          <p:nvSpPr>
            <p:cNvPr id="69" name="Ellipse 69"/>
            <p:cNvSpPr/>
            <p:nvPr/>
          </p:nvSpPr>
          <p:spPr>
            <a:xfrm>
              <a:off x="6924675" y="8162925"/>
              <a:ext cx="723900" cy="723900"/>
            </a:xfrm>
            <a:prstGeom prst="ellipse">
              <a:avLst/>
            </a:prstGeom>
            <a:solidFill>
              <a:srgbClr val="7A96CC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972425" y="8162925"/>
              <a:ext cx="723900" cy="723900"/>
            </a:xfrm>
            <a:prstGeom prst="ellipse">
              <a:avLst/>
            </a:prstGeom>
            <a:solidFill>
              <a:srgbClr val="BDD3E8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6972300" y="9067800"/>
              <a:ext cx="723900" cy="723900"/>
            </a:xfrm>
            <a:prstGeom prst="ellipse">
              <a:avLst/>
            </a:prstGeom>
            <a:solidFill>
              <a:srgbClr val="7A96CC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8001000" y="9067800"/>
              <a:ext cx="723900" cy="723900"/>
            </a:xfrm>
            <a:prstGeom prst="ellipse">
              <a:avLst/>
            </a:prstGeom>
            <a:solidFill>
              <a:srgbClr val="BDD3E8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020175" y="9067800"/>
              <a:ext cx="723900" cy="723900"/>
            </a:xfrm>
            <a:prstGeom prst="ellipse">
              <a:avLst/>
            </a:prstGeom>
            <a:solidFill>
              <a:srgbClr val="BDD3E8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2038350" y="123444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6AAB4E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2609850" y="123444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6AAB4E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3257550" y="123444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6AAB4E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3895725" y="123444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6AAB4E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2057400" y="12915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ED7D31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2657475" y="12915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ED7D31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3257550" y="129159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ED7D31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2057400" y="134683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2E75B6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2686050" y="134683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2E75B6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3295650" y="134683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2E75B6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4248150" y="134683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2E75B6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11668125" y="81915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12258675" y="81915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12925425" y="81915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13525500" y="81915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13906500" y="8096250"/>
              <a:ext cx="419100" cy="419100"/>
            </a:xfrm>
            <a:prstGeom prst="ellipse">
              <a:avLst/>
            </a:prstGeom>
            <a:solidFill>
              <a:srgbClr val="70AD47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1668125" y="882015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12258675" y="882015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12925425" y="882015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13525500" y="8820150"/>
              <a:ext cx="228600" cy="2286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2E75B6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13906500" y="8724900"/>
              <a:ext cx="419100" cy="4191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28555950" y="13430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70AD47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29127450" y="13430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70AD47"/>
              </a:solidFill>
            </a:ln>
          </p:spPr>
        </p:sp>
        <p:sp>
          <p:nvSpPr>
            <p:cNvPr id="97" name="Ellipse 97"/>
            <p:cNvSpPr/>
            <p:nvPr/>
          </p:nvSpPr>
          <p:spPr>
            <a:xfrm>
              <a:off x="29794200" y="13430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ED7D31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30508575" y="13430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2E75B6"/>
              </a:solidFill>
            </a:ln>
          </p:spPr>
        </p:sp>
        <p:sp>
          <p:nvSpPr>
            <p:cNvPr id="99" name="Ellipse 99"/>
            <p:cNvSpPr/>
            <p:nvPr/>
          </p:nvSpPr>
          <p:spPr>
            <a:xfrm>
              <a:off x="31127700" y="134302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66675">
              <a:solidFill>
                <a:srgbClr val="2E75B6"/>
              </a:solidFill>
            </a:ln>
          </p:spPr>
        </p:sp>
      </p:grpSp>
      <p:grpSp>
        <p:nvGrpSpPr>
          <p:cNvPr id="126" name="Group 126"/>
          <p:cNvGrpSpPr/>
          <p:nvPr/>
        </p:nvGrpSpPr>
        <p:grpSpPr>
          <a:xfrm>
            <a:off x="2190750" y="6572250"/>
            <a:ext cx="29718000" cy="7058025"/>
            <a:chOff x="2190750" y="6572250"/>
            <a:chExt cx="29718000" cy="7058025"/>
          </a:xfrm>
        </p:grpSpPr>
        <p:sp>
          <p:nvSpPr>
            <p:cNvPr id="101" name="Freeform 101"/>
            <p:cNvSpPr/>
            <p:nvPr/>
          </p:nvSpPr>
          <p:spPr>
            <a:xfrm>
              <a:off x="7410450" y="8070850"/>
              <a:ext cx="800100" cy="177800"/>
            </a:xfrm>
            <a:custGeom>
              <a:avLst/>
              <a:gdLst/>
              <a:ahLst/>
              <a:cxnLst/>
              <a:rect l="l" t="t" r="r" b="b"/>
              <a:pathLst>
                <a:path w="800100" h="177800">
                  <a:moveTo>
                    <a:pt x="0" y="177800"/>
                  </a:moveTo>
                  <a:cubicBezTo>
                    <a:pt x="266700" y="0"/>
                    <a:pt x="533400" y="0"/>
                    <a:pt x="800100" y="177800"/>
                  </a:cubicBezTo>
                </a:path>
              </a:pathLst>
            </a:custGeom>
            <a:noFill/>
            <a:ln w="28575">
              <a:solidFill>
                <a:srgbClr val="2E75B6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7467600" y="8978900"/>
              <a:ext cx="781050" cy="165100"/>
            </a:xfrm>
            <a:custGeom>
              <a:avLst/>
              <a:gdLst/>
              <a:ahLst/>
              <a:cxnLst/>
              <a:rect l="l" t="t" r="r" b="b"/>
              <a:pathLst>
                <a:path w="781050" h="165100">
                  <a:moveTo>
                    <a:pt x="0" y="165100"/>
                  </a:moveTo>
                  <a:cubicBezTo>
                    <a:pt x="266700" y="0"/>
                    <a:pt x="527050" y="0"/>
                    <a:pt x="781050" y="165100"/>
                  </a:cubicBezTo>
                </a:path>
              </a:pathLst>
            </a:custGeom>
            <a:noFill/>
            <a:ln w="28575">
              <a:solidFill>
                <a:srgbClr val="2E75B6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7486650" y="8826500"/>
              <a:ext cx="1771650" cy="279400"/>
            </a:xfrm>
            <a:custGeom>
              <a:avLst/>
              <a:gdLst/>
              <a:ahLst/>
              <a:cxnLst/>
              <a:rect l="l" t="t" r="r" b="b"/>
              <a:pathLst>
                <a:path w="1771650" h="279400">
                  <a:moveTo>
                    <a:pt x="0" y="279400"/>
                  </a:moveTo>
                  <a:cubicBezTo>
                    <a:pt x="622300" y="0"/>
                    <a:pt x="1212850" y="0"/>
                    <a:pt x="1771650" y="279400"/>
                  </a:cubicBezTo>
                </a:path>
              </a:pathLst>
            </a:custGeom>
            <a:noFill/>
            <a:ln w="28575">
              <a:solidFill>
                <a:srgbClr val="2E75B6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2190750" y="12496800"/>
              <a:ext cx="1857375" cy="9525"/>
            </a:xfrm>
            <a:custGeom>
              <a:avLst/>
              <a:gdLst/>
              <a:ahLst/>
              <a:cxnLst/>
              <a:rect l="l" t="t" r="r" b="b"/>
              <a:pathLst>
                <a:path w="1857375" h="9525">
                  <a:moveTo>
                    <a:pt x="0" y="0"/>
                  </a:moveTo>
                  <a:lnTo>
                    <a:pt x="1857375" y="0"/>
                  </a:lnTo>
                </a:path>
              </a:pathLst>
            </a:custGeom>
            <a:noFill/>
            <a:ln w="76200">
              <a:solidFill>
                <a:srgbClr val="6AAB4E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2209800" y="13068300"/>
              <a:ext cx="1200150" cy="9525"/>
            </a:xfrm>
            <a:custGeom>
              <a:avLst/>
              <a:gdLst/>
              <a:ahLst/>
              <a:cxnLst/>
              <a:rect l="l" t="t" r="r" b="b"/>
              <a:pathLst>
                <a:path w="1200150" h="9525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noFill/>
            <a:ln w="76200">
              <a:solidFill>
                <a:srgbClr val="ED7D31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2209800" y="136207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76200">
              <a:solidFill>
                <a:srgbClr val="2E75B6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11782425" y="8305800"/>
              <a:ext cx="1857375" cy="9525"/>
            </a:xfrm>
            <a:custGeom>
              <a:avLst/>
              <a:gdLst/>
              <a:ahLst/>
              <a:cxnLst/>
              <a:rect l="l" t="t" r="r" b="b"/>
              <a:pathLst>
                <a:path w="1857375" h="9525">
                  <a:moveTo>
                    <a:pt x="0" y="0"/>
                  </a:moveTo>
                  <a:lnTo>
                    <a:pt x="1857375" y="0"/>
                  </a:lnTo>
                </a:path>
              </a:pathLst>
            </a:custGeom>
            <a:noFill/>
            <a:ln w="57150">
              <a:solidFill>
                <a:srgbClr val="2E75B6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14011275" y="8220075"/>
              <a:ext cx="219075" cy="171450"/>
            </a:xfrm>
            <a:custGeom>
              <a:avLst/>
              <a:gdLst/>
              <a:ahLst/>
              <a:cxnLst/>
              <a:rect l="l" t="t" r="r" b="b"/>
              <a:pathLst>
                <a:path w="219075" h="171450">
                  <a:moveTo>
                    <a:pt x="0" y="85725"/>
                  </a:moveTo>
                  <a:lnTo>
                    <a:pt x="76200" y="171450"/>
                  </a:lnTo>
                  <a:lnTo>
                    <a:pt x="219075" y="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11782425" y="8934450"/>
              <a:ext cx="1857375" cy="9525"/>
            </a:xfrm>
            <a:custGeom>
              <a:avLst/>
              <a:gdLst/>
              <a:ahLst/>
              <a:cxnLst/>
              <a:rect l="l" t="t" r="r" b="b"/>
              <a:pathLst>
                <a:path w="1857375" h="9525">
                  <a:moveTo>
                    <a:pt x="0" y="0"/>
                  </a:moveTo>
                  <a:lnTo>
                    <a:pt x="1857375" y="0"/>
                  </a:lnTo>
                </a:path>
              </a:pathLst>
            </a:custGeom>
            <a:noFill/>
            <a:ln w="57150">
              <a:solidFill>
                <a:srgbClr val="2E75B6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12630150" y="8801100"/>
              <a:ext cx="247650" cy="266700"/>
            </a:xfrm>
            <a:custGeom>
              <a:avLst/>
              <a:gdLst/>
              <a:ahLst/>
              <a:cxnLst/>
              <a:rect l="l" t="t" r="r" b="b"/>
              <a:pathLst>
                <a:path w="247650" h="266700">
                  <a:moveTo>
                    <a:pt x="0" y="0"/>
                  </a:moveTo>
                  <a:lnTo>
                    <a:pt x="247650" y="266700"/>
                  </a:lnTo>
                  <a:moveTo>
                    <a:pt x="247650" y="0"/>
                  </a:moveTo>
                  <a:lnTo>
                    <a:pt x="0" y="266700"/>
                  </a:ln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14030325" y="88487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171450" y="171450"/>
                  </a:lnTo>
                  <a:moveTo>
                    <a:pt x="171450" y="0"/>
                  </a:moveTo>
                  <a:lnTo>
                    <a:pt x="0" y="171450"/>
                  </a:lnTo>
                </a:path>
              </a:pathLst>
            </a:custGeom>
            <a:noFill/>
            <a:ln w="57150">
              <a:solidFill>
                <a:srgbClr val="FFFFFF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25384125" y="6572250"/>
              <a:ext cx="92392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13" name="Line 113"/>
            <p:cNvSpPr/>
            <p:nvPr/>
          </p:nvSpPr>
          <p:spPr>
            <a:xfrm>
              <a:off x="23307675" y="6877050"/>
              <a:ext cx="1" cy="476250"/>
            </a:xfrm>
            <a:prstGeom prst="line">
              <a:avLst/>
            </a:prstGeom>
            <a:noFill/>
            <a:ln w="47625">
              <a:solidFill>
                <a:srgbClr val="2F5597"/>
              </a:solidFill>
              <a:tailEnd type="triangle" w="lg" len="lg"/>
            </a:ln>
          </p:spPr>
        </p:sp>
        <p:sp>
          <p:nvSpPr>
            <p:cNvPr id="114" name="Line 114"/>
            <p:cNvSpPr/>
            <p:nvPr/>
          </p:nvSpPr>
          <p:spPr>
            <a:xfrm>
              <a:off x="23793450" y="7124700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0"/>
                  </a:moveTo>
                  <a:lnTo>
                    <a:pt x="0" y="2257425"/>
                  </a:lnTo>
                </a:path>
              </a:pathLst>
            </a:custGeom>
            <a:noFill/>
            <a:ln w="19050">
              <a:solidFill>
                <a:srgbClr val="404040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25927050" y="7124700"/>
              <a:ext cx="9525" cy="2257425"/>
            </a:xfrm>
            <a:custGeom>
              <a:avLst/>
              <a:gdLst/>
              <a:ahLst/>
              <a:cxnLst/>
              <a:rect l="l" t="t" r="r" b="b"/>
              <a:pathLst>
                <a:path w="9525" h="2257425">
                  <a:moveTo>
                    <a:pt x="0" y="0"/>
                  </a:moveTo>
                  <a:lnTo>
                    <a:pt x="0" y="2257425"/>
                  </a:lnTo>
                </a:path>
              </a:pathLst>
            </a:custGeom>
            <a:noFill/>
            <a:ln w="19050">
              <a:solidFill>
                <a:srgbClr val="404040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22955250" y="762000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19050">
              <a:solidFill>
                <a:srgbClr val="404040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22955250" y="8143875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14288">
              <a:solidFill>
                <a:srgbClr val="BFBFBF"/>
              </a:solidFill>
            </a:ln>
          </p:spPr>
        </p:sp>
        <p:sp>
          <p:nvSpPr>
            <p:cNvPr id="118" name="Line 118"/>
            <p:cNvSpPr/>
            <p:nvPr/>
          </p:nvSpPr>
          <p:spPr>
            <a:xfrm>
              <a:off x="22955250" y="855345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14288">
              <a:solidFill>
                <a:srgbClr val="BFBFBF"/>
              </a:solidFill>
            </a:ln>
          </p:spPr>
        </p:sp>
        <p:sp>
          <p:nvSpPr>
            <p:cNvPr id="119" name="Line 119"/>
            <p:cNvSpPr/>
            <p:nvPr/>
          </p:nvSpPr>
          <p:spPr>
            <a:xfrm>
              <a:off x="22955250" y="895350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14288">
              <a:solidFill>
                <a:srgbClr val="BFBFBF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24745950" y="12706350"/>
              <a:ext cx="6096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121" name="Line 121"/>
            <p:cNvSpPr/>
            <p:nvPr/>
          </p:nvSpPr>
          <p:spPr>
            <a:xfrm>
              <a:off x="28051125" y="13573125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28575">
              <a:solidFill>
                <a:srgbClr val="333333"/>
              </a:solidFill>
              <a:custDash>
                <a:ds d="300000" sp="233333"/>
              </a:custDash>
            </a:ln>
          </p:spPr>
        </p:sp>
        <p:sp>
          <p:nvSpPr>
            <p:cNvPr id="122" name="Line 122"/>
            <p:cNvSpPr/>
            <p:nvPr/>
          </p:nvSpPr>
          <p:spPr>
            <a:xfrm>
              <a:off x="28698825" y="135731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66675">
              <a:solidFill>
                <a:srgbClr val="70AD47"/>
              </a:solidFill>
            </a:ln>
          </p:spPr>
        </p:sp>
        <p:sp>
          <p:nvSpPr>
            <p:cNvPr id="123" name="Line 123"/>
            <p:cNvSpPr/>
            <p:nvPr/>
          </p:nvSpPr>
          <p:spPr>
            <a:xfrm>
              <a:off x="29937075" y="135731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66675">
              <a:solidFill>
                <a:srgbClr val="ED7D31"/>
              </a:solidFill>
            </a:ln>
          </p:spPr>
        </p:sp>
        <p:sp>
          <p:nvSpPr>
            <p:cNvPr id="124" name="Line 124"/>
            <p:cNvSpPr/>
            <p:nvPr/>
          </p:nvSpPr>
          <p:spPr>
            <a:xfrm>
              <a:off x="30651450" y="13573125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66675">
              <a:solidFill>
                <a:srgbClr val="2E75B6"/>
              </a:solidFill>
            </a:ln>
          </p:spPr>
        </p:sp>
        <p:sp>
          <p:nvSpPr>
            <p:cNvPr id="125" name="Line 125"/>
            <p:cNvSpPr/>
            <p:nvPr/>
          </p:nvSpPr>
          <p:spPr>
            <a:xfrm>
              <a:off x="31318200" y="13573125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rgbClr val="333333"/>
              </a:solidFill>
              <a:custDash>
                <a:ds d="300000" sp="233333"/>
              </a:custDash>
            </a:ln>
          </p:spPr>
        </p:sp>
      </p:grpSp>
      <p:grpSp>
        <p:nvGrpSpPr>
          <p:cNvPr id="253" name="Group 253"/>
          <p:cNvGrpSpPr/>
          <p:nvPr/>
        </p:nvGrpSpPr>
        <p:grpSpPr>
          <a:xfrm>
            <a:off x="617220" y="412433"/>
            <a:ext cx="31729680" cy="14589442"/>
            <a:chOff x="617220" y="412433"/>
            <a:chExt cx="31729680" cy="14589442"/>
          </a:xfrm>
        </p:grpSpPr>
        <p:sp>
          <p:nvSpPr>
            <p:cNvPr id="127" name="TextBox 127"/>
            <p:cNvSpPr txBox="1"/>
            <p:nvPr/>
          </p:nvSpPr>
          <p:spPr>
            <a:xfrm>
              <a:off x="3510634" y="488633"/>
              <a:ext cx="3894382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Data Source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104318" y="1358265"/>
              <a:ext cx="244031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From Amap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17220" y="2250758"/>
              <a:ext cx="314534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A. Route plans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22376" y="2810828"/>
              <a:ext cx="46893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Multiple detailed routes and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62419" y="3215640"/>
              <a:ext cx="400926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associated ODs per plan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369004" y="9753600"/>
              <a:ext cx="320559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13M route plans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5895975" y="2247900"/>
              <a:ext cx="484379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B1. Station Information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412355" y="3168968"/>
              <a:ext cx="184816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x station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7874889" y="3839528"/>
              <a:ext cx="8808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Name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296817" y="4372928"/>
              <a:ext cx="203701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Coordinates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339322" y="4963478"/>
              <a:ext cx="19520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Description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830720" y="5864542"/>
              <a:ext cx="26263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120K stations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5557861" y="6753225"/>
              <a:ext cx="509582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B2. Station Connectivity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462284" y="7230428"/>
              <a:ext cx="33631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First-order station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7074360" y="7635240"/>
              <a:ext cx="21390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connectivity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030953" y="8350568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var(--font-serif)"/>
                  <a:ea typeface="Microsoft YaHei"/>
                  <a:cs typeface="var(--font-serif)"/>
                </a:rPr>
                <a:t>S₁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078703" y="8350568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var(--font-serif)"/>
                  <a:ea typeface="Microsoft YaHei"/>
                  <a:cs typeface="var(--font-serif)"/>
                </a:rPr>
                <a:t>S₂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078578" y="9255442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var(--font-serif)"/>
                  <a:ea typeface="Microsoft YaHei"/>
                  <a:cs typeface="var(--font-serif)"/>
                </a:rPr>
                <a:t>S₂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107278" y="9255442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var(--font-serif)"/>
                  <a:ea typeface="Microsoft YaHei"/>
                  <a:cs typeface="var(--font-serif)"/>
                </a:rPr>
                <a:t>S₁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126453" y="9255442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var(--font-serif)"/>
                  <a:ea typeface="Microsoft YaHei"/>
                  <a:cs typeface="var(--font-serif)"/>
                </a:rPr>
                <a:t>S₇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642741" y="9734550"/>
              <a:ext cx="102131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· · ·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626745" y="10737532"/>
              <a:ext cx="42259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C. Line Information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05064" y="11307128"/>
              <a:ext cx="48763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Line length, stop sequences,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793200" y="11711940"/>
              <a:ext cx="270009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operating hours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870585" y="12329160"/>
              <a:ext cx="10326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548235"/>
                  </a:solidFill>
                  <a:latin typeface="var(--font-serif)"/>
                  <a:ea typeface="Microsoft YaHei"/>
                  <a:cs typeface="var(--font-serif)"/>
                </a:rPr>
                <a:t>Line 1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870585" y="12900660"/>
              <a:ext cx="11271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D7D31"/>
                  </a:solidFill>
                  <a:latin typeface="var(--font-serif)"/>
                  <a:ea typeface="Microsoft YaHei"/>
                  <a:cs typeface="var(--font-serif)"/>
                </a:rPr>
                <a:t>Line 2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870585" y="13462635"/>
              <a:ext cx="11271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5B6"/>
                  </a:solidFill>
                  <a:latin typeface="var(--font-serif)"/>
                  <a:ea typeface="Microsoft YaHei"/>
                  <a:cs typeface="var(--font-serif)"/>
                </a:rPr>
                <a:t>Line 3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3578121" y="1342453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5B6"/>
                  </a:solidFill>
                  <a:latin typeface="var(--font-serif)"/>
                  <a:ea typeface="Microsoft YaHei"/>
                  <a:cs typeface="var(--font-serif)"/>
                </a:rPr>
                <a:t>···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2346127" y="13836968"/>
              <a:ext cx="92749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· · ·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218319" y="14392275"/>
              <a:ext cx="337361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13K transit lines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6516410" y="10629900"/>
              <a:ext cx="312158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Covers 4 cities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3828137" y="431483"/>
              <a:ext cx="4252477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ED7D31"/>
                  </a:solidFill>
                  <a:latin typeface="var(--font-serif)"/>
                  <a:ea typeface="Microsoft YaHei"/>
                  <a:cs typeface="var(--font-serif)"/>
                </a:rPr>
                <a:t>TransitBench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3894408" y="1472565"/>
              <a:ext cx="419613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ED7D31"/>
                  </a:solidFill>
                  <a:latin typeface="var(--font-serif)"/>
                  <a:ea typeface="Microsoft YaHei"/>
                  <a:cs typeface="var(--font-serif)"/>
                </a:rPr>
                <a:t>3 Evaluation Tasks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1707663" y="2125028"/>
              <a:ext cx="24926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Optimal Route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1404175" y="2529840"/>
              <a:ext cx="30996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Generation (ORG)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4536161" y="2125028"/>
              <a:ext cx="333172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Personalized Route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14687905" y="2529840"/>
              <a:ext cx="30282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Generation (PRG)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18259067" y="2125028"/>
              <a:ext cx="243911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Diverse Route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7964505" y="2529840"/>
              <a:ext cx="30282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Generation (DRG)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12638470" y="5273992"/>
              <a:ext cx="6310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10K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5886495" y="5254942"/>
              <a:ext cx="6310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10K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9134520" y="5273992"/>
              <a:ext cx="63106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10K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11495824" y="6295072"/>
              <a:ext cx="986960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ED7D31"/>
                  </a:solidFill>
                  <a:latin typeface="var(--font-serif)"/>
                  <a:ea typeface="Microsoft YaHei"/>
                  <a:cs typeface="var(--font-serif)"/>
                </a:rPr>
                <a:t>10 Evaluation Metrics Across 5 Categories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1717655" y="7045642"/>
              <a:ext cx="29655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1. Connectivity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2541958" y="740473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Conn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14765655" y="7045642"/>
              <a:ext cx="408284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2. Access Feasibility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4600492" y="7709535"/>
              <a:ext cx="31649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Station Grounding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5916115" y="80495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SG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7518190" y="7690485"/>
              <a:ext cx="35970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Distance Plausibility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9059365" y="80495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DP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17753124" y="8457724"/>
              <a:ext cx="3165253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75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Accuracy of feeder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17711868" y="8850630"/>
              <a:ext cx="3247763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75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distance estimation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1679555" y="9769792"/>
              <a:ext cx="336455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3. Route Overlap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11884342" y="10248424"/>
              <a:ext cx="6168628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Consistency with ground truth routes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1868674" y="10871835"/>
              <a:ext cx="22468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Line Overlap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12651436" y="11364278"/>
              <a:ext cx="52892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LO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14649331" y="10689431"/>
              <a:ext cx="2972038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Station Sequence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15436929" y="11106150"/>
              <a:ext cx="1396841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Overlap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15677449" y="11516678"/>
              <a:ext cx="72530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SSO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17766090" y="10689431"/>
              <a:ext cx="3234571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Route Exact Match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18877849" y="11059478"/>
              <a:ext cx="72530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REM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18341340" y="11530012"/>
              <a:ext cx="22174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A6A6A6"/>
                  </a:solidFill>
                  <a:latin typeface="var(--font-serif)"/>
                  <a:ea typeface="Microsoft YaHei"/>
                  <a:cs typeface="var(--font-serif)"/>
                </a:rPr>
                <a:t>LO = 1 &amp; SSO = 1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11702415" y="12431078"/>
              <a:ext cx="450997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4. Numeric Field Accuracy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1884342" y="12839224"/>
              <a:ext cx="6729698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Correctness of predicted route features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904154" y="13402628"/>
              <a:ext cx="183299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Estimation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12040172" y="13807440"/>
              <a:ext cx="156095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Accuracy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12563315" y="1422177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EA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14966894" y="13364528"/>
              <a:ext cx="23940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Mean Absolute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14677858" y="13769340"/>
              <a:ext cx="297213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Percentage Error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15731661" y="14202728"/>
              <a:ext cx="92167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MAPE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18167985" y="12300585"/>
              <a:ext cx="31118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5. Task-Specific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18082498" y="12888278"/>
              <a:ext cx="193500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Preference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18133504" y="13293090"/>
              <a:ext cx="183299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Compliance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20059490" y="1305972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PC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18407182" y="13955078"/>
              <a:ext cx="99988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Route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18118145" y="14359890"/>
              <a:ext cx="15779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222222"/>
                  </a:solidFill>
                  <a:latin typeface="var(--font-serif)"/>
                  <a:ea typeface="Microsoft YaHei"/>
                  <a:cs typeface="var(--font-serif)"/>
                </a:rPr>
                <a:t>Diversity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20069015" y="14126528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548235"/>
                  </a:solidFill>
                  <a:latin typeface="var(--font-sans)"/>
                  <a:ea typeface="Microsoft YaHei"/>
                  <a:cs typeface="var(--font-sans)"/>
                </a:rPr>
                <a:t>RD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25873046" y="412433"/>
              <a:ext cx="330840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TransitLM</a:t>
              </a: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22218996" y="1412558"/>
              <a:ext cx="6872259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15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General LLMs perform poorly on</a:t>
              </a:r>
            </a:p>
          </p:txBody>
        </p:sp>
        <p:sp>
          <p:nvSpPr>
            <p:cNvPr id="206" name="TextBox 206"/>
            <p:cNvSpPr txBox="1"/>
            <p:nvPr/>
          </p:nvSpPr>
          <p:spPr>
            <a:xfrm>
              <a:off x="29125545" y="1412558"/>
              <a:ext cx="288071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D7D31"/>
                  </a:solidFill>
                  <a:latin typeface="var(--font-serif)"/>
                  <a:ea typeface="Microsoft YaHei"/>
                  <a:cs typeface="var(--font-serif)"/>
                </a:rPr>
                <a:t>TransitBench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29437767" y="2139315"/>
              <a:ext cx="84621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···</a:t>
              </a:r>
            </a:p>
          </p:txBody>
        </p:sp>
        <p:sp>
          <p:nvSpPr>
            <p:cNvPr id="208" name="TextBox 208"/>
            <p:cNvSpPr txBox="1"/>
            <p:nvPr/>
          </p:nvSpPr>
          <p:spPr>
            <a:xfrm>
              <a:off x="24625849" y="3358515"/>
              <a:ext cx="553610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Our Solution: TransitLM</a:t>
              </a:r>
            </a:p>
          </p:txBody>
        </p:sp>
        <p:sp>
          <p:nvSpPr>
            <p:cNvPr id="209" name="TextBox 209"/>
            <p:cNvSpPr txBox="1"/>
            <p:nvPr/>
          </p:nvSpPr>
          <p:spPr>
            <a:xfrm>
              <a:off x="22722840" y="4215765"/>
              <a:ext cx="276375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TransitData</a:t>
              </a:r>
            </a:p>
          </p:txBody>
        </p:sp>
        <p:sp>
          <p:nvSpPr>
            <p:cNvPr id="210" name="TextBox 210"/>
            <p:cNvSpPr txBox="1"/>
            <p:nvPr/>
          </p:nvSpPr>
          <p:spPr>
            <a:xfrm>
              <a:off x="22730460" y="4737735"/>
              <a:ext cx="443502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Exclude benchmark data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27264360" y="4737735"/>
              <a:ext cx="40290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from the data sources</a:t>
              </a:r>
            </a:p>
          </p:txBody>
        </p:sp>
        <p:sp>
          <p:nvSpPr>
            <p:cNvPr id="212" name="TextBox 212"/>
            <p:cNvSpPr txBox="1"/>
            <p:nvPr/>
          </p:nvSpPr>
          <p:spPr>
            <a:xfrm>
              <a:off x="22863810" y="5437822"/>
              <a:ext cx="8846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CPT</a:t>
              </a:r>
            </a:p>
          </p:txBody>
        </p:sp>
        <p:sp>
          <p:nvSpPr>
            <p:cNvPr id="213" name="TextBox 213"/>
            <p:cNvSpPr txBox="1"/>
            <p:nvPr/>
          </p:nvSpPr>
          <p:spPr>
            <a:xfrm>
              <a:off x="26287095" y="5657850"/>
              <a:ext cx="9563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Text</a:t>
              </a: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25253752" y="6093142"/>
              <a:ext cx="92749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Align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23018115" y="6392228"/>
              <a:ext cx="263549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3 data sources</a:t>
              </a:r>
            </a:p>
          </p:txBody>
        </p:sp>
        <p:sp>
          <p:nvSpPr>
            <p:cNvPr id="216" name="TextBox 216"/>
            <p:cNvSpPr txBox="1"/>
            <p:nvPr/>
          </p:nvSpPr>
          <p:spPr>
            <a:xfrm>
              <a:off x="23919180" y="7217092"/>
              <a:ext cx="202773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Knowledge</a:t>
              </a:r>
            </a:p>
          </p:txBody>
        </p:sp>
        <p:sp>
          <p:nvSpPr>
            <p:cNvPr id="217" name="TextBox 217"/>
            <p:cNvSpPr txBox="1"/>
            <p:nvPr/>
          </p:nvSpPr>
          <p:spPr>
            <a:xfrm>
              <a:off x="26325493" y="7217092"/>
              <a:ext cx="107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Ratio</a:t>
              </a:r>
            </a:p>
          </p:txBody>
        </p:sp>
        <p:sp>
          <p:nvSpPr>
            <p:cNvPr id="218" name="TextBox 218"/>
            <p:cNvSpPr txBox="1"/>
            <p:nvPr/>
          </p:nvSpPr>
          <p:spPr>
            <a:xfrm>
              <a:off x="23190316" y="7740968"/>
              <a:ext cx="29186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A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23930610" y="7766685"/>
              <a:ext cx="10587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route</a:t>
              </a:r>
            </a:p>
          </p:txBody>
        </p:sp>
        <p:sp>
          <p:nvSpPr>
            <p:cNvPr id="220" name="TextBox 220"/>
            <p:cNvSpPr txBox="1"/>
            <p:nvPr/>
          </p:nvSpPr>
          <p:spPr>
            <a:xfrm>
              <a:off x="26379154" y="7786688"/>
              <a:ext cx="11912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Various</a:t>
              </a:r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23139984" y="8160068"/>
              <a:ext cx="4115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B1</a:t>
              </a:r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23930610" y="8185785"/>
              <a:ext cx="13647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station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26661444" y="8212455"/>
              <a:ext cx="6267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100%</a:t>
              </a:r>
            </a:p>
          </p:txBody>
        </p:sp>
        <p:sp>
          <p:nvSpPr>
            <p:cNvPr id="224" name="TextBox 224"/>
            <p:cNvSpPr txBox="1"/>
            <p:nvPr/>
          </p:nvSpPr>
          <p:spPr>
            <a:xfrm>
              <a:off x="23090103" y="8579168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B2</a:t>
              </a:r>
            </a:p>
          </p:txBody>
        </p:sp>
        <p:sp>
          <p:nvSpPr>
            <p:cNvPr id="225" name="TextBox 225"/>
            <p:cNvSpPr txBox="1"/>
            <p:nvPr/>
          </p:nvSpPr>
          <p:spPr>
            <a:xfrm>
              <a:off x="23930610" y="8604885"/>
              <a:ext cx="226485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connectivity</a:t>
              </a:r>
            </a:p>
          </p:txBody>
        </p:sp>
        <p:sp>
          <p:nvSpPr>
            <p:cNvPr id="226" name="TextBox 226"/>
            <p:cNvSpPr txBox="1"/>
            <p:nvPr/>
          </p:nvSpPr>
          <p:spPr>
            <a:xfrm>
              <a:off x="26661444" y="8631555"/>
              <a:ext cx="6267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100%</a:t>
              </a:r>
            </a:p>
          </p:txBody>
        </p:sp>
        <p:sp>
          <p:nvSpPr>
            <p:cNvPr id="227" name="TextBox 227"/>
            <p:cNvSpPr txBox="1"/>
            <p:nvPr/>
          </p:nvSpPr>
          <p:spPr>
            <a:xfrm>
              <a:off x="23190316" y="8998268"/>
              <a:ext cx="29186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F5597"/>
                  </a:solidFill>
                  <a:latin typeface="var(--font-serif)"/>
                  <a:ea typeface="Microsoft YaHei"/>
                  <a:cs typeface="var(--font-serif)"/>
                </a:rPr>
                <a:t>C</a:t>
              </a:r>
            </a:p>
          </p:txBody>
        </p:sp>
        <p:sp>
          <p:nvSpPr>
            <p:cNvPr id="228" name="TextBox 228"/>
            <p:cNvSpPr txBox="1"/>
            <p:nvPr/>
          </p:nvSpPr>
          <p:spPr>
            <a:xfrm>
              <a:off x="23930610" y="9023985"/>
              <a:ext cx="68065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line</a:t>
              </a:r>
            </a:p>
          </p:txBody>
        </p:sp>
        <p:sp>
          <p:nvSpPr>
            <p:cNvPr id="229" name="TextBox 229"/>
            <p:cNvSpPr txBox="1"/>
            <p:nvPr/>
          </p:nvSpPr>
          <p:spPr>
            <a:xfrm>
              <a:off x="26661444" y="9069705"/>
              <a:ext cx="6267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100%</a:t>
              </a:r>
            </a:p>
          </p:txBody>
        </p:sp>
        <p:sp>
          <p:nvSpPr>
            <p:cNvPr id="230" name="TextBox 230"/>
            <p:cNvSpPr txBox="1"/>
            <p:nvPr/>
          </p:nvSpPr>
          <p:spPr>
            <a:xfrm>
              <a:off x="28435935" y="5399722"/>
              <a:ext cx="8846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SFT</a:t>
              </a:r>
            </a:p>
          </p:txBody>
        </p:sp>
        <p:sp>
          <p:nvSpPr>
            <p:cNvPr id="231" name="TextBox 231"/>
            <p:cNvSpPr txBox="1"/>
            <p:nvPr/>
          </p:nvSpPr>
          <p:spPr>
            <a:xfrm>
              <a:off x="29344515" y="6055042"/>
              <a:ext cx="150897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 Tasks</a:t>
              </a:r>
            </a:p>
          </p:txBody>
        </p:sp>
        <p:sp>
          <p:nvSpPr>
            <p:cNvPr id="232" name="TextBox 232"/>
            <p:cNvSpPr txBox="1"/>
            <p:nvPr/>
          </p:nvSpPr>
          <p:spPr>
            <a:xfrm>
              <a:off x="29050893" y="6506528"/>
              <a:ext cx="2020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9D9D9D"/>
                  </a:solidFill>
                  <a:latin typeface="var(--font-serif)"/>
                  <a:ea typeface="Microsoft YaHei"/>
                  <a:cs typeface="var(--font-serif)"/>
                </a:rPr>
                <a:t>ORG PRG DRG</a:t>
              </a:r>
            </a:p>
          </p:txBody>
        </p:sp>
        <p:sp>
          <p:nvSpPr>
            <p:cNvPr id="233" name="TextBox 233"/>
            <p:cNvSpPr txBox="1"/>
            <p:nvPr/>
          </p:nvSpPr>
          <p:spPr>
            <a:xfrm>
              <a:off x="28259376" y="6966109"/>
              <a:ext cx="367924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30k samples for training</a:t>
              </a:r>
            </a:p>
          </p:txBody>
        </p:sp>
        <p:sp>
          <p:nvSpPr>
            <p:cNvPr id="234" name="TextBox 234"/>
            <p:cNvSpPr txBox="1"/>
            <p:nvPr/>
          </p:nvSpPr>
          <p:spPr>
            <a:xfrm>
              <a:off x="28696059" y="7769542"/>
              <a:ext cx="28058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Input Formats</a:t>
              </a:r>
            </a:p>
          </p:txBody>
        </p:sp>
        <p:sp>
          <p:nvSpPr>
            <p:cNvPr id="235" name="TextBox 235"/>
            <p:cNvSpPr txBox="1"/>
            <p:nvPr/>
          </p:nvSpPr>
          <p:spPr>
            <a:xfrm>
              <a:off x="28498800" y="8291512"/>
              <a:ext cx="133305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Prompt:</a:t>
              </a:r>
            </a:p>
          </p:txBody>
        </p:sp>
        <p:sp>
          <p:nvSpPr>
            <p:cNvPr id="236" name="TextBox 236"/>
            <p:cNvSpPr txBox="1"/>
            <p:nvPr/>
          </p:nvSpPr>
          <p:spPr>
            <a:xfrm>
              <a:off x="29765625" y="8291512"/>
              <a:ext cx="22324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task definition</a:t>
              </a:r>
            </a:p>
          </p:txBody>
        </p:sp>
        <p:sp>
          <p:nvSpPr>
            <p:cNvPr id="237" name="TextBox 237"/>
            <p:cNvSpPr txBox="1"/>
            <p:nvPr/>
          </p:nvSpPr>
          <p:spPr>
            <a:xfrm>
              <a:off x="28927425" y="8710612"/>
              <a:ext cx="10180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Input:</a:t>
              </a:r>
            </a:p>
          </p:txBody>
        </p:sp>
        <p:sp>
          <p:nvSpPr>
            <p:cNvPr id="238" name="TextBox 238"/>
            <p:cNvSpPr txBox="1"/>
            <p:nvPr/>
          </p:nvSpPr>
          <p:spPr>
            <a:xfrm>
              <a:off x="29994225" y="8710612"/>
              <a:ext cx="16173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query + OD</a:t>
              </a:r>
            </a:p>
          </p:txBody>
        </p:sp>
        <p:sp>
          <p:nvSpPr>
            <p:cNvPr id="239" name="TextBox 239"/>
            <p:cNvSpPr txBox="1"/>
            <p:nvPr/>
          </p:nvSpPr>
          <p:spPr>
            <a:xfrm>
              <a:off x="29169717" y="9053512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404040"/>
                  </a:solidFill>
                  <a:latin typeface="var(--font-serif)"/>
                  <a:ea typeface="Microsoft YaHei"/>
                  <a:cs typeface="var(--font-serif)"/>
                </a:rPr>
                <a:t>information</a:t>
              </a:r>
            </a:p>
          </p:txBody>
        </p:sp>
        <p:sp>
          <p:nvSpPr>
            <p:cNvPr id="240" name="TextBox 240"/>
            <p:cNvSpPr txBox="1"/>
            <p:nvPr/>
          </p:nvSpPr>
          <p:spPr>
            <a:xfrm>
              <a:off x="22675215" y="10073640"/>
              <a:ext cx="188584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Training</a:t>
              </a:r>
            </a:p>
          </p:txBody>
        </p:sp>
        <p:sp>
          <p:nvSpPr>
            <p:cNvPr id="241" name="TextBox 241"/>
            <p:cNvSpPr txBox="1"/>
            <p:nvPr/>
          </p:nvSpPr>
          <p:spPr>
            <a:xfrm>
              <a:off x="22924056" y="1072229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Varied Data Settings</a:t>
              </a:r>
            </a:p>
          </p:txBody>
        </p:sp>
        <p:sp>
          <p:nvSpPr>
            <p:cNvPr id="242" name="TextBox 242"/>
            <p:cNvSpPr txBox="1"/>
            <p:nvPr/>
          </p:nvSpPr>
          <p:spPr>
            <a:xfrm>
              <a:off x="23039975" y="11195685"/>
              <a:ext cx="38310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Multi-CPT × Multi-SFT</a:t>
              </a:r>
            </a:p>
          </p:txBody>
        </p:sp>
        <p:sp>
          <p:nvSpPr>
            <p:cNvPr id="243" name="TextBox 243"/>
            <p:cNvSpPr txBox="1"/>
            <p:nvPr/>
          </p:nvSpPr>
          <p:spPr>
            <a:xfrm>
              <a:off x="22874174" y="12055792"/>
              <a:ext cx="416265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Vocabulary Expansion</a:t>
              </a:r>
            </a:p>
          </p:txBody>
        </p:sp>
        <p:sp>
          <p:nvSpPr>
            <p:cNvPr id="244" name="TextBox 244"/>
            <p:cNvSpPr txBox="1"/>
            <p:nvPr/>
          </p:nvSpPr>
          <p:spPr>
            <a:xfrm>
              <a:off x="23416260" y="12529185"/>
              <a:ext cx="15627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Stations</a:t>
              </a:r>
            </a:p>
          </p:txBody>
        </p:sp>
        <p:sp>
          <p:nvSpPr>
            <p:cNvPr id="245" name="TextBox 245"/>
            <p:cNvSpPr txBox="1"/>
            <p:nvPr/>
          </p:nvSpPr>
          <p:spPr>
            <a:xfrm>
              <a:off x="25492710" y="12529185"/>
              <a:ext cx="57264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IDs</a:t>
              </a:r>
            </a:p>
          </p:txBody>
        </p:sp>
        <p:sp>
          <p:nvSpPr>
            <p:cNvPr id="246" name="TextBox 246"/>
            <p:cNvSpPr txBox="1"/>
            <p:nvPr/>
          </p:nvSpPr>
          <p:spPr>
            <a:xfrm>
              <a:off x="23153509" y="13408342"/>
              <a:ext cx="36039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3 Base Model Sizes</a:t>
              </a:r>
            </a:p>
          </p:txBody>
        </p:sp>
        <p:sp>
          <p:nvSpPr>
            <p:cNvPr id="247" name="TextBox 247"/>
            <p:cNvSpPr txBox="1"/>
            <p:nvPr/>
          </p:nvSpPr>
          <p:spPr>
            <a:xfrm>
              <a:off x="23371540" y="14015085"/>
              <a:ext cx="27869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0.6B / 1.7B / 4B</a:t>
              </a:r>
            </a:p>
          </p:txBody>
        </p:sp>
        <p:sp>
          <p:nvSpPr>
            <p:cNvPr id="248" name="TextBox 248"/>
            <p:cNvSpPr txBox="1"/>
            <p:nvPr/>
          </p:nvSpPr>
          <p:spPr>
            <a:xfrm>
              <a:off x="27866340" y="1004506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385723"/>
                  </a:solidFill>
                  <a:latin typeface="var(--font-serif)"/>
                  <a:ea typeface="Microsoft YaHei"/>
                  <a:cs typeface="var(--font-serif)"/>
                </a:rPr>
                <a:t>Evaluation</a:t>
              </a:r>
            </a:p>
          </p:txBody>
        </p:sp>
        <p:sp>
          <p:nvSpPr>
            <p:cNvPr id="249" name="TextBox 249"/>
            <p:cNvSpPr txBox="1"/>
            <p:nvPr/>
          </p:nvSpPr>
          <p:spPr>
            <a:xfrm>
              <a:off x="27826335" y="10624185"/>
              <a:ext cx="30740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D7D31"/>
                  </a:solidFill>
                  <a:latin typeface="var(--font-serif)"/>
                  <a:ea typeface="Microsoft YaHei"/>
                  <a:cs typeface="var(--font-serif)"/>
                </a:rPr>
                <a:t>On TransitBench</a:t>
              </a:r>
            </a:p>
          </p:txBody>
        </p:sp>
        <p:sp>
          <p:nvSpPr>
            <p:cNvPr id="250" name="TextBox 250"/>
            <p:cNvSpPr txBox="1"/>
            <p:nvPr/>
          </p:nvSpPr>
          <p:spPr>
            <a:xfrm>
              <a:off x="29167455" y="11008042"/>
              <a:ext cx="3074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Query = [O→D] +</a:t>
              </a:r>
            </a:p>
          </p:txBody>
        </p:sp>
        <p:sp>
          <p:nvSpPr>
            <p:cNvPr id="251" name="TextBox 251"/>
            <p:cNvSpPr txBox="1"/>
            <p:nvPr/>
          </p:nvSpPr>
          <p:spPr>
            <a:xfrm>
              <a:off x="29234130" y="11427142"/>
              <a:ext cx="311277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{Preference, k-</a:t>
              </a:r>
            </a:p>
          </p:txBody>
        </p:sp>
        <p:sp>
          <p:nvSpPr>
            <p:cNvPr id="252" name="TextBox 252"/>
            <p:cNvSpPr txBox="1"/>
            <p:nvPr/>
          </p:nvSpPr>
          <p:spPr>
            <a:xfrm>
              <a:off x="29148405" y="11846242"/>
              <a:ext cx="174459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routes}*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