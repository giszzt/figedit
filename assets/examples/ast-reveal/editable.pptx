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507200" cy="109442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9507200" cy="109442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6096000" y="5133975"/>
            <a:ext cx="10629900" cy="5295900"/>
            <a:chOff x="6096000" y="5133975"/>
            <a:chExt cx="10629900" cy="5295900"/>
          </a:xfrm>
        </p:grpSpPr>
        <p:sp>
          <p:nvSpPr>
            <p:cNvPr id="3" name="Rectangle 3"/>
            <p:cNvSpPr/>
            <p:nvPr/>
          </p:nvSpPr>
          <p:spPr>
            <a:xfrm>
              <a:off x="8096250" y="5133975"/>
              <a:ext cx="5648325" cy="561975"/>
            </a:xfrm>
            <a:prstGeom prst="roundRect">
              <a:avLst>
                <a:gd name="adj" fmla="val 30508"/>
              </a:avLst>
            </a:prstGeom>
            <a:solidFill>
              <a:srgbClr val="E9E8EE">
                <a:alpha val="70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743700" y="7067550"/>
              <a:ext cx="247650" cy="1038225"/>
            </a:xfrm>
            <a:prstGeom prst="roundRect">
              <a:avLst>
                <a:gd name="adj" fmla="val 15385"/>
              </a:avLst>
            </a:prstGeom>
            <a:solidFill>
              <a:srgbClr val="9FE8E2">
                <a:alpha val="5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0" y="6896100"/>
              <a:ext cx="809625" cy="342900"/>
            </a:xfrm>
            <a:prstGeom prst="rect">
              <a:avLst/>
            </a:prstGeom>
            <a:solidFill>
              <a:srgbClr val="FDEBEA">
                <a:alpha val="55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0" y="7620000"/>
              <a:ext cx="1381125" cy="428625"/>
            </a:xfrm>
            <a:prstGeom prst="rect">
              <a:avLst/>
            </a:prstGeom>
            <a:solidFill>
              <a:srgbClr val="FDEBEA">
                <a:alpha val="55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591550" y="10144125"/>
              <a:ext cx="1962150" cy="285750"/>
            </a:xfrm>
            <a:prstGeom prst="roundRect">
              <a:avLst>
                <a:gd name="adj" fmla="val 13333"/>
              </a:avLst>
            </a:prstGeom>
            <a:solidFill>
              <a:srgbClr val="C8F3F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5106650" y="9115425"/>
              <a:ext cx="523875" cy="514350"/>
            </a:xfrm>
            <a:prstGeom prst="roundRect">
              <a:avLst>
                <a:gd name="adj" fmla="val 9259"/>
              </a:avLst>
            </a:prstGeom>
            <a:solidFill>
              <a:srgbClr val="BFF4F3">
                <a:alpha val="8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6173450" y="9105900"/>
              <a:ext cx="552450" cy="504825"/>
            </a:xfrm>
            <a:prstGeom prst="roundRect">
              <a:avLst>
                <a:gd name="adj" fmla="val 9434"/>
              </a:avLst>
            </a:prstGeom>
            <a:solidFill>
              <a:srgbClr val="FFE9C6">
                <a:alpha val="80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80975" y="304800"/>
            <a:ext cx="19135725" cy="10429875"/>
            <a:chOff x="180975" y="304800"/>
            <a:chExt cx="19135725" cy="10429875"/>
          </a:xfrm>
        </p:grpSpPr>
        <p:sp>
          <p:nvSpPr>
            <p:cNvPr id="11" name="Rectangle 11"/>
            <p:cNvSpPr/>
            <p:nvPr/>
          </p:nvSpPr>
          <p:spPr>
            <a:xfrm>
              <a:off x="180975" y="304800"/>
              <a:ext cx="5457825" cy="10429875"/>
            </a:xfrm>
            <a:prstGeom prst="roundRect">
              <a:avLst>
                <a:gd name="adj" fmla="val 2443"/>
              </a:avLst>
            </a:prstGeom>
            <a:noFill/>
            <a:ln w="20955">
              <a:solidFill>
                <a:srgbClr val="11111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638800" y="333375"/>
              <a:ext cx="13658850" cy="3714750"/>
            </a:xfrm>
            <a:prstGeom prst="roundRect">
              <a:avLst>
                <a:gd name="adj" fmla="val 3590"/>
              </a:avLst>
            </a:prstGeom>
            <a:noFill/>
            <a:ln w="20955">
              <a:solidFill>
                <a:srgbClr val="11111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857875" y="4219575"/>
              <a:ext cx="11125200" cy="2028825"/>
            </a:xfrm>
            <a:prstGeom prst="roundRect">
              <a:avLst>
                <a:gd name="adj" fmla="val 5634"/>
              </a:avLst>
            </a:prstGeom>
            <a:noFill/>
            <a:ln w="20955">
              <a:solidFill>
                <a:srgbClr val="11111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857875" y="6457950"/>
              <a:ext cx="11125200" cy="2105025"/>
            </a:xfrm>
            <a:prstGeom prst="roundRect">
              <a:avLst>
                <a:gd name="adj" fmla="val 5430"/>
              </a:avLst>
            </a:prstGeom>
            <a:noFill/>
            <a:ln w="20955">
              <a:solidFill>
                <a:srgbClr val="11111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857875" y="8734425"/>
              <a:ext cx="11125200" cy="2000250"/>
            </a:xfrm>
            <a:prstGeom prst="roundRect">
              <a:avLst>
                <a:gd name="adj" fmla="val 5714"/>
              </a:avLst>
            </a:prstGeom>
            <a:noFill/>
            <a:ln w="20955">
              <a:solidFill>
                <a:srgbClr val="11111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192625" y="4238625"/>
              <a:ext cx="2124075" cy="6486525"/>
            </a:xfrm>
            <a:prstGeom prst="roundRect">
              <a:avLst>
                <a:gd name="adj" fmla="val 6278"/>
              </a:avLst>
            </a:prstGeom>
            <a:noFill/>
            <a:ln w="20955">
              <a:solidFill>
                <a:srgbClr val="111111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323850" y="180975"/>
            <a:ext cx="18716625" cy="10344150"/>
            <a:chOff x="323850" y="180975"/>
            <a:chExt cx="18716625" cy="10344150"/>
          </a:xfrm>
        </p:grpSpPr>
        <p:sp>
          <p:nvSpPr>
            <p:cNvPr id="18" name="Rectangle 18"/>
            <p:cNvSpPr/>
            <p:nvPr/>
          </p:nvSpPr>
          <p:spPr>
            <a:xfrm>
              <a:off x="1466850" y="180975"/>
              <a:ext cx="2952750" cy="857250"/>
            </a:xfrm>
            <a:prstGeom prst="rect">
              <a:avLst/>
            </a:prstGeom>
            <a:solidFill>
              <a:srgbClr val="E6FBF5"/>
            </a:solidFill>
            <a:ln w="19050">
              <a:solidFill>
                <a:srgbClr val="11111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23850" y="1390650"/>
              <a:ext cx="2286000" cy="419100"/>
            </a:xfrm>
            <a:prstGeom prst="rect">
              <a:avLst/>
            </a:prstGeom>
            <a:solidFill>
              <a:srgbClr val="FBF6CF"/>
            </a:solidFill>
            <a:ln w="19050">
              <a:solidFill>
                <a:srgbClr val="11111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23875" y="2133600"/>
              <a:ext cx="1952625" cy="2152650"/>
            </a:xfrm>
            <a:prstGeom prst="rect">
              <a:avLst/>
            </a:prstGeom>
            <a:solidFill>
              <a:srgbClr val="FBF6CF"/>
            </a:solidFill>
            <a:ln w="19050">
              <a:solidFill>
                <a:srgbClr val="11111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38450" y="1409700"/>
              <a:ext cx="2466975" cy="1504950"/>
            </a:xfrm>
            <a:prstGeom prst="rect">
              <a:avLst/>
            </a:prstGeom>
            <a:solidFill>
              <a:srgbClr val="FBF6CF"/>
            </a:solidFill>
            <a:ln w="19050">
              <a:solidFill>
                <a:srgbClr val="11111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2900" y="5095875"/>
              <a:ext cx="5124450" cy="5429250"/>
            </a:xfrm>
            <a:prstGeom prst="roundRect">
              <a:avLst>
                <a:gd name="adj" fmla="val 1859"/>
              </a:avLst>
            </a:prstGeom>
            <a:solidFill>
              <a:srgbClr val="FFFFFF"/>
            </a:solidFill>
            <a:ln w="19050">
              <a:solidFill>
                <a:srgbClr val="11111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629275" y="209550"/>
              <a:ext cx="1809750" cy="561975"/>
            </a:xfrm>
            <a:prstGeom prst="rect">
              <a:avLst/>
            </a:prstGeom>
            <a:solidFill>
              <a:srgbClr val="E6FBF5"/>
            </a:solidFill>
            <a:ln w="19050">
              <a:solidFill>
                <a:srgbClr val="11111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0" y="1866900"/>
              <a:ext cx="1257300" cy="127635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9050">
              <a:solidFill>
                <a:srgbClr val="11111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601075" y="1400175"/>
              <a:ext cx="809625" cy="114300"/>
            </a:xfrm>
            <a:prstGeom prst="rect">
              <a:avLst/>
            </a:prstGeom>
            <a:solidFill>
              <a:srgbClr val="E7F6FB"/>
            </a:solidFill>
            <a:ln w="11430">
              <a:solidFill>
                <a:srgbClr val="11111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591550" y="1628775"/>
              <a:ext cx="600075" cy="114300"/>
            </a:xfrm>
            <a:prstGeom prst="rect">
              <a:avLst/>
            </a:prstGeom>
            <a:solidFill>
              <a:srgbClr val="EEFAFA"/>
            </a:solidFill>
            <a:ln w="11430">
              <a:solidFill>
                <a:srgbClr val="11111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10600" y="1838325"/>
              <a:ext cx="123825" cy="1333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1111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486775" y="2514600"/>
              <a:ext cx="819150" cy="114300"/>
            </a:xfrm>
            <a:prstGeom prst="rect">
              <a:avLst/>
            </a:prstGeom>
            <a:solidFill>
              <a:srgbClr val="F7E5EE"/>
            </a:solidFill>
            <a:ln w="11430">
              <a:solidFill>
                <a:srgbClr val="11111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486775" y="2724150"/>
              <a:ext cx="600075" cy="114300"/>
            </a:xfrm>
            <a:prstGeom prst="rect">
              <a:avLst/>
            </a:prstGeom>
            <a:solidFill>
              <a:srgbClr val="F9EEF3"/>
            </a:solidFill>
            <a:ln w="11430">
              <a:solidFill>
                <a:srgbClr val="11111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3448050"/>
              <a:ext cx="819150" cy="114300"/>
            </a:xfrm>
            <a:prstGeom prst="rect">
              <a:avLst/>
            </a:prstGeom>
            <a:solidFill>
              <a:srgbClr val="BDF2C7"/>
            </a:solidFill>
            <a:ln w="11430">
              <a:solidFill>
                <a:srgbClr val="11111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286750" y="3676650"/>
              <a:ext cx="590550" cy="114300"/>
            </a:xfrm>
            <a:prstGeom prst="rect">
              <a:avLst/>
            </a:prstGeom>
            <a:solidFill>
              <a:srgbClr val="F2F8F7"/>
            </a:solidFill>
            <a:ln w="11430">
              <a:solidFill>
                <a:srgbClr val="11111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991725" y="1200150"/>
              <a:ext cx="2209800" cy="1314450"/>
            </a:xfrm>
            <a:prstGeom prst="roundRect">
              <a:avLst>
                <a:gd name="adj" fmla="val 8696"/>
              </a:avLst>
            </a:prstGeom>
            <a:noFill/>
            <a:ln w="23812">
              <a:solidFill>
                <a:srgbClr val="B9EFC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3877925" y="666750"/>
              <a:ext cx="5162550" cy="3162300"/>
            </a:xfrm>
            <a:prstGeom prst="rect">
              <a:avLst/>
            </a:prstGeom>
            <a:solidFill>
              <a:srgbClr val="EAF8E9"/>
            </a:solidFill>
            <a:ln w="19050">
              <a:solidFill>
                <a:srgbClr val="11111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62625" y="4181475"/>
              <a:ext cx="3771900" cy="523875"/>
            </a:xfrm>
            <a:prstGeom prst="rect">
              <a:avLst/>
            </a:prstGeom>
            <a:solidFill>
              <a:srgbClr val="E6FBF5"/>
            </a:solidFill>
            <a:ln w="19050">
              <a:solidFill>
                <a:srgbClr val="11111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9300" y="6010275"/>
              <a:ext cx="3429000" cy="504825"/>
            </a:xfrm>
            <a:prstGeom prst="rect">
              <a:avLst/>
            </a:prstGeom>
            <a:solidFill>
              <a:srgbClr val="E6FBF5"/>
            </a:solidFill>
            <a:ln w="19050">
              <a:solidFill>
                <a:srgbClr val="11111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91200" y="8524875"/>
              <a:ext cx="3552825" cy="552450"/>
            </a:xfrm>
            <a:prstGeom prst="rect">
              <a:avLst/>
            </a:prstGeom>
            <a:solidFill>
              <a:srgbClr val="E6FBF5"/>
            </a:solidFill>
            <a:ln w="19050">
              <a:solidFill>
                <a:srgbClr val="11111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7792700" y="4838700"/>
              <a:ext cx="809625" cy="590550"/>
            </a:xfrm>
            <a:prstGeom prst="roundRect">
              <a:avLst>
                <a:gd name="adj" fmla="val 16129"/>
              </a:avLst>
            </a:prstGeom>
            <a:solidFill>
              <a:srgbClr val="E6FBF5"/>
            </a:solidFill>
            <a:ln w="17145">
              <a:solidFill>
                <a:srgbClr val="11111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7706975" y="5886450"/>
              <a:ext cx="809625" cy="590550"/>
            </a:xfrm>
            <a:prstGeom prst="roundRect">
              <a:avLst>
                <a:gd name="adj" fmla="val 16129"/>
              </a:avLst>
            </a:prstGeom>
            <a:solidFill>
              <a:srgbClr val="E6FBF5"/>
            </a:solidFill>
            <a:ln w="17145">
              <a:solidFill>
                <a:srgbClr val="111111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7745075" y="6934200"/>
              <a:ext cx="809625" cy="590550"/>
            </a:xfrm>
            <a:prstGeom prst="roundRect">
              <a:avLst>
                <a:gd name="adj" fmla="val 16129"/>
              </a:avLst>
            </a:prstGeom>
            <a:solidFill>
              <a:srgbClr val="E6FBF5"/>
            </a:solidFill>
            <a:ln w="17145">
              <a:solidFill>
                <a:srgbClr val="111111"/>
              </a:solidFill>
            </a:ln>
          </p:spPr>
        </p:sp>
      </p:grpSp>
      <p:grpSp>
        <p:nvGrpSpPr>
          <p:cNvPr id="176" name="Group 176"/>
          <p:cNvGrpSpPr/>
          <p:nvPr/>
        </p:nvGrpSpPr>
        <p:grpSpPr>
          <a:xfrm>
            <a:off x="476250" y="933450"/>
            <a:ext cx="14782800" cy="9639300"/>
            <a:chOff x="476250" y="933450"/>
            <a:chExt cx="14782800" cy="9639300"/>
          </a:xfrm>
        </p:grpSpPr>
        <p:sp>
          <p:nvSpPr>
            <p:cNvPr id="41" name="Rectangle 41"/>
            <p:cNvSpPr/>
            <p:nvPr/>
          </p:nvSpPr>
          <p:spPr>
            <a:xfrm>
              <a:off x="3705225" y="3609975"/>
              <a:ext cx="809625" cy="80962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867150" y="3609975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029075" y="3609975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191000" y="3609975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352925" y="3609975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705225" y="37719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705225" y="39338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3705225" y="409575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705225" y="425767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886200" y="3629025"/>
              <a:ext cx="123825" cy="123825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210050" y="3629025"/>
              <a:ext cx="123825" cy="123825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724275" y="3790950"/>
              <a:ext cx="123825" cy="123825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048125" y="3790950"/>
              <a:ext cx="123825" cy="123825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371975" y="3790950"/>
              <a:ext cx="123825" cy="123825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886200" y="4114800"/>
              <a:ext cx="123825" cy="123825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333875" y="3914775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rgbClr val="9FE8E2"/>
            </a:solidFill>
            <a:ln w="11430">
              <a:solidFill>
                <a:srgbClr val="6BD8D2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1500" y="63817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EAF8E9"/>
            </a:solidFill>
            <a:ln w="13335">
              <a:solidFill>
                <a:srgbClr val="111111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76250" y="7058025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1E7F8"/>
            </a:solidFill>
            <a:ln w="13335">
              <a:solidFill>
                <a:srgbClr val="111111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485900" y="7058025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1E7F8"/>
            </a:solidFill>
            <a:ln w="13335">
              <a:solidFill>
                <a:srgbClr val="111111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476375" y="7762875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BF6CF"/>
            </a:solidFill>
            <a:ln w="13335">
              <a:solidFill>
                <a:srgbClr val="111111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3724275" y="5838825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EAF8E9"/>
            </a:solidFill>
            <a:ln w="13335">
              <a:solidFill>
                <a:srgbClr val="111111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2809875" y="6543675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EAF8E9"/>
            </a:solidFill>
            <a:ln w="13335">
              <a:solidFill>
                <a:srgbClr val="111111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800350" y="7191375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1E7F8"/>
            </a:solidFill>
            <a:ln w="13335">
              <a:solidFill>
                <a:srgbClr val="111111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733800" y="7191375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1E7F8"/>
            </a:solidFill>
            <a:ln w="13335">
              <a:solidFill>
                <a:srgbClr val="111111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733675" y="79438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BF6CF"/>
            </a:solidFill>
            <a:ln w="13335">
              <a:solidFill>
                <a:srgbClr val="111111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3733800" y="79438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BF6CF"/>
            </a:solidFill>
            <a:ln w="13335">
              <a:solidFill>
                <a:srgbClr val="111111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4229100" y="67246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1E7F8"/>
            </a:solidFill>
            <a:ln w="13335">
              <a:solidFill>
                <a:srgbClr val="111111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4371975" y="735330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BF6CF"/>
            </a:solidFill>
            <a:ln w="13335">
              <a:solidFill>
                <a:srgbClr val="111111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90575" y="88582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EAF8E9"/>
            </a:solidFill>
            <a:ln w="13335">
              <a:solidFill>
                <a:srgbClr val="111111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743075" y="88582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BF6CF"/>
            </a:solidFill>
            <a:ln w="13335">
              <a:solidFill>
                <a:srgbClr val="111111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2886075" y="88582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BF6CF"/>
            </a:solidFill>
            <a:ln w="13335">
              <a:solidFill>
                <a:srgbClr val="111111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3952875" y="885825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1E7F8"/>
            </a:solidFill>
            <a:ln w="13335">
              <a:solidFill>
                <a:srgbClr val="111111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85825" y="1013460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1E7F8"/>
            </a:solidFill>
            <a:ln w="13335">
              <a:solidFill>
                <a:srgbClr val="111111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2200275" y="1013460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EAF8E9"/>
            </a:solidFill>
            <a:ln w="13335">
              <a:solidFill>
                <a:srgbClr val="111111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3495675" y="10134600"/>
              <a:ext cx="238125" cy="238125"/>
            </a:xfrm>
            <a:prstGeom prst="roundRect">
              <a:avLst>
                <a:gd name="adj" fmla="val 16000"/>
              </a:avLst>
            </a:prstGeom>
            <a:solidFill>
              <a:srgbClr val="FBF6CF"/>
            </a:solidFill>
            <a:ln w="13335">
              <a:solidFill>
                <a:srgbClr val="111111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762875" y="1009650"/>
              <a:ext cx="222885" cy="240030"/>
            </a:xfrm>
            <a:custGeom>
              <a:avLst/>
              <a:gdLst/>
              <a:ahLst/>
              <a:cxnLst/>
              <a:rect l="l" t="t" r="r" b="b"/>
              <a:pathLst>
                <a:path w="222885" h="240030">
                  <a:moveTo>
                    <a:pt x="0" y="0"/>
                  </a:moveTo>
                  <a:lnTo>
                    <a:pt x="171450" y="0"/>
                  </a:lnTo>
                  <a:lnTo>
                    <a:pt x="222885" y="60007"/>
                  </a:lnTo>
                  <a:lnTo>
                    <a:pt x="222885" y="240030"/>
                  </a:lnTo>
                  <a:lnTo>
                    <a:pt x="0" y="240030"/>
                  </a:lnTo>
                  <a:close/>
                </a:path>
              </a:pathLst>
            </a:custGeom>
            <a:solidFill>
              <a:srgbClr val="F5F5F5"/>
            </a:solidFill>
            <a:ln w="11430">
              <a:solidFill>
                <a:srgbClr val="111111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7934325" y="1009650"/>
              <a:ext cx="9525" cy="60007"/>
            </a:xfrm>
            <a:custGeom>
              <a:avLst/>
              <a:gdLst/>
              <a:ahLst/>
              <a:cxnLst/>
              <a:rect l="l" t="t" r="r" b="b"/>
              <a:pathLst>
                <a:path w="9525" h="60007">
                  <a:moveTo>
                    <a:pt x="0" y="0"/>
                  </a:moveTo>
                  <a:lnTo>
                    <a:pt x="0" y="60007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7934325" y="1069658"/>
              <a:ext cx="51435" cy="9525"/>
            </a:xfrm>
            <a:custGeom>
              <a:avLst/>
              <a:gdLst/>
              <a:ahLst/>
              <a:cxnLst/>
              <a:rect l="l" t="t" r="r" b="b"/>
              <a:pathLst>
                <a:path w="51435" h="9525">
                  <a:moveTo>
                    <a:pt x="0" y="0"/>
                  </a:moveTo>
                  <a:lnTo>
                    <a:pt x="51435" y="0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7696200" y="2238375"/>
              <a:ext cx="438150" cy="390525"/>
            </a:xfrm>
            <a:custGeom>
              <a:avLst/>
              <a:gdLst/>
              <a:ahLst/>
              <a:cxnLst/>
              <a:rect l="l" t="t" r="r" b="b"/>
              <a:pathLst>
                <a:path w="438150" h="390525">
                  <a:moveTo>
                    <a:pt x="114300" y="0"/>
                  </a:moveTo>
                  <a:cubicBezTo>
                    <a:pt x="0" y="95250"/>
                    <a:pt x="238125" y="114300"/>
                    <a:pt x="95250" y="209550"/>
                  </a:cubicBezTo>
                  <a:cubicBezTo>
                    <a:pt x="361950" y="104775"/>
                    <a:pt x="180975" y="390525"/>
                    <a:pt x="438150" y="314325"/>
                  </a:cubicBezTo>
                </a:path>
              </a:pathLst>
            </a:custGeom>
            <a:noFill/>
            <a:ln w="16192">
              <a:solidFill>
                <a:srgbClr val="111111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7772400" y="3105150"/>
              <a:ext cx="210503" cy="226695"/>
            </a:xfrm>
            <a:custGeom>
              <a:avLst/>
              <a:gdLst/>
              <a:ahLst/>
              <a:cxnLst/>
              <a:rect l="l" t="t" r="r" b="b"/>
              <a:pathLst>
                <a:path w="210503" h="226695">
                  <a:moveTo>
                    <a:pt x="0" y="0"/>
                  </a:moveTo>
                  <a:lnTo>
                    <a:pt x="161925" y="0"/>
                  </a:lnTo>
                  <a:lnTo>
                    <a:pt x="210503" y="56674"/>
                  </a:lnTo>
                  <a:lnTo>
                    <a:pt x="210503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F5F5F5"/>
            </a:solidFill>
            <a:ln w="11430">
              <a:solidFill>
                <a:srgbClr val="111111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7934325" y="3105150"/>
              <a:ext cx="9525" cy="56674"/>
            </a:xfrm>
            <a:custGeom>
              <a:avLst/>
              <a:gdLst/>
              <a:ahLst/>
              <a:cxnLst/>
              <a:rect l="l" t="t" r="r" b="b"/>
              <a:pathLst>
                <a:path w="9525" h="56674">
                  <a:moveTo>
                    <a:pt x="0" y="0"/>
                  </a:moveTo>
                  <a:lnTo>
                    <a:pt x="0" y="56674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7934325" y="3161824"/>
              <a:ext cx="48578" cy="9525"/>
            </a:xfrm>
            <a:custGeom>
              <a:avLst/>
              <a:gdLst/>
              <a:ahLst/>
              <a:cxnLst/>
              <a:rect l="l" t="t" r="r" b="b"/>
              <a:pathLst>
                <a:path w="48578" h="9525">
                  <a:moveTo>
                    <a:pt x="0" y="0"/>
                  </a:moveTo>
                  <a:lnTo>
                    <a:pt x="48578" y="0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9886950" y="933450"/>
              <a:ext cx="128588" cy="60008"/>
            </a:xfrm>
            <a:prstGeom prst="roundRect">
              <a:avLst>
                <a:gd name="adj" fmla="val 15873"/>
              </a:avLst>
            </a:prstGeom>
            <a:solidFill>
              <a:srgbClr val="FFFFFF"/>
            </a:solidFill>
            <a:ln w="11430">
              <a:solidFill>
                <a:srgbClr val="111111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9886950" y="976312"/>
              <a:ext cx="240030" cy="145732"/>
            </a:xfrm>
            <a:prstGeom prst="roundRect">
              <a:avLst>
                <a:gd name="adj" fmla="val 13072"/>
              </a:avLst>
            </a:prstGeom>
            <a:solidFill>
              <a:srgbClr val="FFFFFF"/>
            </a:solidFill>
            <a:ln w="11430">
              <a:solidFill>
                <a:srgbClr val="111111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096500" y="1285875"/>
              <a:ext cx="128588" cy="60008"/>
            </a:xfrm>
            <a:prstGeom prst="roundRect">
              <a:avLst>
                <a:gd name="adj" fmla="val 15873"/>
              </a:avLst>
            </a:prstGeom>
            <a:solidFill>
              <a:srgbClr val="CDF4D5"/>
            </a:solidFill>
            <a:ln w="11430">
              <a:solidFill>
                <a:srgbClr val="111111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096500" y="1328738"/>
              <a:ext cx="240030" cy="145732"/>
            </a:xfrm>
            <a:prstGeom prst="roundRect">
              <a:avLst>
                <a:gd name="adj" fmla="val 13072"/>
              </a:avLst>
            </a:prstGeom>
            <a:solidFill>
              <a:srgbClr val="CDF4D5"/>
            </a:solidFill>
            <a:ln w="11430">
              <a:solidFill>
                <a:srgbClr val="111111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63200" y="1609725"/>
              <a:ext cx="185738" cy="200025"/>
            </a:xfrm>
            <a:custGeom>
              <a:avLst/>
              <a:gdLst/>
              <a:ahLst/>
              <a:cxnLst/>
              <a:rect l="l" t="t" r="r" b="b"/>
              <a:pathLst>
                <a:path w="185738" h="200025">
                  <a:moveTo>
                    <a:pt x="0" y="0"/>
                  </a:moveTo>
                  <a:lnTo>
                    <a:pt x="142875" y="0"/>
                  </a:lnTo>
                  <a:lnTo>
                    <a:pt x="185738" y="50006"/>
                  </a:lnTo>
                  <a:lnTo>
                    <a:pt x="185738" y="200025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rgbClr val="F5F5F5"/>
            </a:solidFill>
            <a:ln w="11430">
              <a:solidFill>
                <a:srgbClr val="111111"/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10506075" y="1609725"/>
              <a:ext cx="9525" cy="50006"/>
            </a:xfrm>
            <a:custGeom>
              <a:avLst/>
              <a:gdLst/>
              <a:ahLst/>
              <a:cxnLst/>
              <a:rect l="l" t="t" r="r" b="b"/>
              <a:pathLst>
                <a:path w="9525" h="50006">
                  <a:moveTo>
                    <a:pt x="0" y="0"/>
                  </a:moveTo>
                  <a:lnTo>
                    <a:pt x="0" y="50006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89" name="Line 89"/>
            <p:cNvSpPr/>
            <p:nvPr/>
          </p:nvSpPr>
          <p:spPr>
            <a:xfrm>
              <a:off x="10506075" y="1659731"/>
              <a:ext cx="42862" cy="9525"/>
            </a:xfrm>
            <a:custGeom>
              <a:avLst/>
              <a:gdLst/>
              <a:ahLst/>
              <a:cxnLst/>
              <a:rect l="l" t="t" r="r" b="b"/>
              <a:pathLst>
                <a:path w="42862" h="9525">
                  <a:moveTo>
                    <a:pt x="0" y="0"/>
                  </a:moveTo>
                  <a:lnTo>
                    <a:pt x="42862" y="0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10363200" y="1952625"/>
              <a:ext cx="185738" cy="200025"/>
            </a:xfrm>
            <a:custGeom>
              <a:avLst/>
              <a:gdLst/>
              <a:ahLst/>
              <a:cxnLst/>
              <a:rect l="l" t="t" r="r" b="b"/>
              <a:pathLst>
                <a:path w="185738" h="200025">
                  <a:moveTo>
                    <a:pt x="0" y="0"/>
                  </a:moveTo>
                  <a:lnTo>
                    <a:pt x="142875" y="0"/>
                  </a:lnTo>
                  <a:lnTo>
                    <a:pt x="185738" y="50006"/>
                  </a:lnTo>
                  <a:lnTo>
                    <a:pt x="185738" y="200025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rgbClr val="F5F5F5"/>
            </a:solidFill>
            <a:ln w="11430">
              <a:solidFill>
                <a:srgbClr val="111111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10506075" y="1952625"/>
              <a:ext cx="9525" cy="50006"/>
            </a:xfrm>
            <a:custGeom>
              <a:avLst/>
              <a:gdLst/>
              <a:ahLst/>
              <a:cxnLst/>
              <a:rect l="l" t="t" r="r" b="b"/>
              <a:pathLst>
                <a:path w="9525" h="50006">
                  <a:moveTo>
                    <a:pt x="0" y="0"/>
                  </a:moveTo>
                  <a:lnTo>
                    <a:pt x="0" y="50006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92" name="Line 92"/>
            <p:cNvSpPr/>
            <p:nvPr/>
          </p:nvSpPr>
          <p:spPr>
            <a:xfrm>
              <a:off x="10506075" y="2002631"/>
              <a:ext cx="42862" cy="9525"/>
            </a:xfrm>
            <a:custGeom>
              <a:avLst/>
              <a:gdLst/>
              <a:ahLst/>
              <a:cxnLst/>
              <a:rect l="l" t="t" r="r" b="b"/>
              <a:pathLst>
                <a:path w="42862" h="9525">
                  <a:moveTo>
                    <a:pt x="0" y="0"/>
                  </a:moveTo>
                  <a:lnTo>
                    <a:pt x="42862" y="0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10363200" y="2295525"/>
              <a:ext cx="185738" cy="200025"/>
            </a:xfrm>
            <a:custGeom>
              <a:avLst/>
              <a:gdLst/>
              <a:ahLst/>
              <a:cxnLst/>
              <a:rect l="l" t="t" r="r" b="b"/>
              <a:pathLst>
                <a:path w="185738" h="200025">
                  <a:moveTo>
                    <a:pt x="0" y="0"/>
                  </a:moveTo>
                  <a:lnTo>
                    <a:pt x="142875" y="0"/>
                  </a:lnTo>
                  <a:lnTo>
                    <a:pt x="185738" y="50006"/>
                  </a:lnTo>
                  <a:lnTo>
                    <a:pt x="185738" y="200025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rgbClr val="F5F5F5"/>
            </a:solidFill>
            <a:ln w="11430">
              <a:solidFill>
                <a:srgbClr val="111111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10506075" y="2295525"/>
              <a:ext cx="9525" cy="50006"/>
            </a:xfrm>
            <a:custGeom>
              <a:avLst/>
              <a:gdLst/>
              <a:ahLst/>
              <a:cxnLst/>
              <a:rect l="l" t="t" r="r" b="b"/>
              <a:pathLst>
                <a:path w="9525" h="50006">
                  <a:moveTo>
                    <a:pt x="0" y="0"/>
                  </a:moveTo>
                  <a:lnTo>
                    <a:pt x="0" y="50006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10506075" y="2345531"/>
              <a:ext cx="42862" cy="9525"/>
            </a:xfrm>
            <a:custGeom>
              <a:avLst/>
              <a:gdLst/>
              <a:ahLst/>
              <a:cxnLst/>
              <a:rect l="l" t="t" r="r" b="b"/>
              <a:pathLst>
                <a:path w="42862" h="9525">
                  <a:moveTo>
                    <a:pt x="0" y="0"/>
                  </a:moveTo>
                  <a:lnTo>
                    <a:pt x="42862" y="0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096500" y="2628900"/>
              <a:ext cx="128588" cy="60008"/>
            </a:xfrm>
            <a:prstGeom prst="roundRect">
              <a:avLst>
                <a:gd name="adj" fmla="val 15873"/>
              </a:avLst>
            </a:prstGeom>
            <a:solidFill>
              <a:srgbClr val="FFFFFF"/>
            </a:solidFill>
            <a:ln w="11430">
              <a:solidFill>
                <a:srgbClr val="111111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0096500" y="2671762"/>
              <a:ext cx="240030" cy="145732"/>
            </a:xfrm>
            <a:prstGeom prst="roundRect">
              <a:avLst>
                <a:gd name="adj" fmla="val 13072"/>
              </a:avLst>
            </a:prstGeom>
            <a:solidFill>
              <a:srgbClr val="FFFFFF"/>
            </a:solidFill>
            <a:ln w="11430">
              <a:solidFill>
                <a:srgbClr val="111111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10363200" y="3009900"/>
              <a:ext cx="185738" cy="200025"/>
            </a:xfrm>
            <a:custGeom>
              <a:avLst/>
              <a:gdLst/>
              <a:ahLst/>
              <a:cxnLst/>
              <a:rect l="l" t="t" r="r" b="b"/>
              <a:pathLst>
                <a:path w="185738" h="200025">
                  <a:moveTo>
                    <a:pt x="0" y="0"/>
                  </a:moveTo>
                  <a:lnTo>
                    <a:pt x="142875" y="0"/>
                  </a:lnTo>
                  <a:lnTo>
                    <a:pt x="185738" y="50006"/>
                  </a:lnTo>
                  <a:lnTo>
                    <a:pt x="185738" y="200025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rgbClr val="F5F5F5"/>
            </a:solidFill>
            <a:ln w="11430">
              <a:solidFill>
                <a:srgbClr val="111111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10506075" y="3009900"/>
              <a:ext cx="9525" cy="50006"/>
            </a:xfrm>
            <a:custGeom>
              <a:avLst/>
              <a:gdLst/>
              <a:ahLst/>
              <a:cxnLst/>
              <a:rect l="l" t="t" r="r" b="b"/>
              <a:pathLst>
                <a:path w="9525" h="50006">
                  <a:moveTo>
                    <a:pt x="0" y="0"/>
                  </a:moveTo>
                  <a:lnTo>
                    <a:pt x="0" y="50006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10506075" y="3059906"/>
              <a:ext cx="42862" cy="9525"/>
            </a:xfrm>
            <a:custGeom>
              <a:avLst/>
              <a:gdLst/>
              <a:ahLst/>
              <a:cxnLst/>
              <a:rect l="l" t="t" r="r" b="b"/>
              <a:pathLst>
                <a:path w="42862" h="9525">
                  <a:moveTo>
                    <a:pt x="0" y="0"/>
                  </a:moveTo>
                  <a:lnTo>
                    <a:pt x="42862" y="0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0096500" y="3333750"/>
              <a:ext cx="128588" cy="60008"/>
            </a:xfrm>
            <a:prstGeom prst="roundRect">
              <a:avLst>
                <a:gd name="adj" fmla="val 15873"/>
              </a:avLst>
            </a:prstGeom>
            <a:solidFill>
              <a:srgbClr val="FFFFFF"/>
            </a:solidFill>
            <a:ln w="11430">
              <a:solidFill>
                <a:srgbClr val="111111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0096500" y="3376612"/>
              <a:ext cx="240030" cy="145732"/>
            </a:xfrm>
            <a:prstGeom prst="roundRect">
              <a:avLst>
                <a:gd name="adj" fmla="val 13072"/>
              </a:avLst>
            </a:prstGeom>
            <a:solidFill>
              <a:srgbClr val="FFFFFF"/>
            </a:solidFill>
            <a:ln w="11430">
              <a:solidFill>
                <a:srgbClr val="111111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10363200" y="3705225"/>
              <a:ext cx="185738" cy="200025"/>
            </a:xfrm>
            <a:custGeom>
              <a:avLst/>
              <a:gdLst/>
              <a:ahLst/>
              <a:cxnLst/>
              <a:rect l="l" t="t" r="r" b="b"/>
              <a:pathLst>
                <a:path w="185738" h="200025">
                  <a:moveTo>
                    <a:pt x="0" y="0"/>
                  </a:moveTo>
                  <a:lnTo>
                    <a:pt x="142875" y="0"/>
                  </a:lnTo>
                  <a:lnTo>
                    <a:pt x="185738" y="50006"/>
                  </a:lnTo>
                  <a:lnTo>
                    <a:pt x="185738" y="200025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rgbClr val="F5F5F5"/>
            </a:solidFill>
            <a:ln w="11430">
              <a:solidFill>
                <a:srgbClr val="111111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10506075" y="3705225"/>
              <a:ext cx="9525" cy="50006"/>
            </a:xfrm>
            <a:custGeom>
              <a:avLst/>
              <a:gdLst/>
              <a:ahLst/>
              <a:cxnLst/>
              <a:rect l="l" t="t" r="r" b="b"/>
              <a:pathLst>
                <a:path w="9525" h="50006">
                  <a:moveTo>
                    <a:pt x="0" y="0"/>
                  </a:moveTo>
                  <a:lnTo>
                    <a:pt x="0" y="50006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0506075" y="3755231"/>
              <a:ext cx="42862" cy="9525"/>
            </a:xfrm>
            <a:custGeom>
              <a:avLst/>
              <a:gdLst/>
              <a:ahLst/>
              <a:cxnLst/>
              <a:rect l="l" t="t" r="r" b="b"/>
              <a:pathLst>
                <a:path w="42862" h="9525">
                  <a:moveTo>
                    <a:pt x="0" y="0"/>
                  </a:moveTo>
                  <a:lnTo>
                    <a:pt x="42862" y="0"/>
                  </a:lnTo>
                </a:path>
              </a:pathLst>
            </a:custGeom>
            <a:noFill/>
            <a:ln w="9525">
              <a:solidFill>
                <a:srgbClr val="111111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11572875" y="2905125"/>
              <a:ext cx="647700" cy="552450"/>
            </a:xfrm>
            <a:prstGeom prst="roundRect">
              <a:avLst>
                <a:gd name="adj" fmla="val 31034"/>
              </a:avLst>
            </a:prstGeom>
            <a:solidFill>
              <a:srgbClr val="F7F4DF"/>
            </a:solidFill>
            <a:ln w="19050">
              <a:solidFill>
                <a:srgbClr val="111111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1715750" y="2962275"/>
              <a:ext cx="390525" cy="400050"/>
            </a:xfrm>
            <a:prstGeom prst="roundRect">
              <a:avLst>
                <a:gd name="adj" fmla="val 19512"/>
              </a:avLst>
            </a:prstGeom>
            <a:solidFill>
              <a:srgbClr val="19212A"/>
            </a:solidFill>
            <a:ln w="9525">
              <a:solidFill>
                <a:srgbClr val="111111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11877675" y="3295650"/>
              <a:ext cx="85725" cy="31750"/>
            </a:xfrm>
            <a:custGeom>
              <a:avLst/>
              <a:gdLst/>
              <a:ahLst/>
              <a:cxnLst/>
              <a:rect l="l" t="t" r="r" b="b"/>
              <a:pathLst>
                <a:path w="85725" h="31750">
                  <a:moveTo>
                    <a:pt x="0" y="0"/>
                  </a:moveTo>
                  <a:cubicBezTo>
                    <a:pt x="25400" y="31750"/>
                    <a:pt x="53975" y="31750"/>
                    <a:pt x="85725" y="0"/>
                  </a:cubicBez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8220075" y="5238750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DCE8FB">
                <a:alpha val="95000"/>
              </a:srgbClr>
            </a:solidFill>
            <a:ln w="19050">
              <a:solidFill>
                <a:srgbClr val="9AA0A6">
                  <a:alpha val="95000"/>
                </a:srgbClr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9820275" y="5238750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CDEBD3">
                <a:alpha val="95000"/>
              </a:srgbClr>
            </a:solidFill>
            <a:ln w="19050">
              <a:solidFill>
                <a:srgbClr val="9AA0A6">
                  <a:alpha val="95000"/>
                </a:srgbClr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1972925" y="5238750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FFF4DC">
                <a:alpha val="95000"/>
              </a:srgbClr>
            </a:solidFill>
            <a:ln w="19050">
              <a:solidFill>
                <a:srgbClr val="9AA0A6">
                  <a:alpha val="95000"/>
                </a:srgbClr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3439775" y="5238750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F0DFF3">
                <a:alpha val="95000"/>
              </a:srgbClr>
            </a:solidFill>
            <a:ln w="19050">
              <a:solidFill>
                <a:srgbClr val="9AA0A6">
                  <a:alpha val="95000"/>
                </a:srgbClr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0134600" y="6896100"/>
              <a:ext cx="571500" cy="5715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10248900" y="68961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10363200" y="68961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10477500" y="68961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10591800" y="68961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18" name="Line 118"/>
            <p:cNvSpPr/>
            <p:nvPr/>
          </p:nvSpPr>
          <p:spPr>
            <a:xfrm>
              <a:off x="10134600" y="70104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19" name="Line 119"/>
            <p:cNvSpPr/>
            <p:nvPr/>
          </p:nvSpPr>
          <p:spPr>
            <a:xfrm>
              <a:off x="10134600" y="7124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10134600" y="7239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10134600" y="73533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10267950" y="691515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10496550" y="691515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10153650" y="702945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10382250" y="702945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0610850" y="702945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10267950" y="725805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10572750" y="7105650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rgbClr val="9FE8E2"/>
            </a:solidFill>
            <a:ln w="11430">
              <a:solidFill>
                <a:srgbClr val="6BD8D2"/>
              </a:solidFill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10134600" y="7829550"/>
              <a:ext cx="571500" cy="5715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30" name="Line 130"/>
            <p:cNvSpPr/>
            <p:nvPr/>
          </p:nvSpPr>
          <p:spPr>
            <a:xfrm>
              <a:off x="10248900" y="78295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1" name="Line 131"/>
            <p:cNvSpPr/>
            <p:nvPr/>
          </p:nvSpPr>
          <p:spPr>
            <a:xfrm>
              <a:off x="10363200" y="78295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2" name="Line 132"/>
            <p:cNvSpPr/>
            <p:nvPr/>
          </p:nvSpPr>
          <p:spPr>
            <a:xfrm>
              <a:off x="10477500" y="78295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3" name="Line 133"/>
            <p:cNvSpPr/>
            <p:nvPr/>
          </p:nvSpPr>
          <p:spPr>
            <a:xfrm>
              <a:off x="10591800" y="78295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4" name="Line 134"/>
            <p:cNvSpPr/>
            <p:nvPr/>
          </p:nvSpPr>
          <p:spPr>
            <a:xfrm>
              <a:off x="10134600" y="7943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5" name="Line 135"/>
            <p:cNvSpPr/>
            <p:nvPr/>
          </p:nvSpPr>
          <p:spPr>
            <a:xfrm>
              <a:off x="10134600" y="8058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6" name="Line 136"/>
            <p:cNvSpPr/>
            <p:nvPr/>
          </p:nvSpPr>
          <p:spPr>
            <a:xfrm>
              <a:off x="10134600" y="81724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7" name="Line 137"/>
            <p:cNvSpPr/>
            <p:nvPr/>
          </p:nvSpPr>
          <p:spPr>
            <a:xfrm>
              <a:off x="10134600" y="8286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430">
              <a:solidFill>
                <a:srgbClr val="111111"/>
              </a:solidFill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10267950" y="784860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10496550" y="784860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10153650" y="796290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10382250" y="796290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10610850" y="796290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10267950" y="8191500"/>
              <a:ext cx="76200" cy="76200"/>
            </a:xfrm>
            <a:prstGeom prst="rect">
              <a:avLst/>
            </a:prstGeom>
            <a:solidFill>
              <a:srgbClr val="9DD6EC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10572750" y="8039100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rgbClr val="9FE8E2"/>
            </a:solidFill>
            <a:ln w="11430">
              <a:solidFill>
                <a:srgbClr val="6BD8D2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8648700" y="6896100"/>
              <a:ext cx="457200" cy="37147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8686800" y="6867525"/>
              <a:ext cx="400050" cy="257175"/>
            </a:xfrm>
            <a:custGeom>
              <a:avLst/>
              <a:gdLst/>
              <a:ahLst/>
              <a:cxnLst/>
              <a:rect l="l" t="t" r="r" b="b"/>
              <a:pathLst>
                <a:path w="400050" h="257175">
                  <a:moveTo>
                    <a:pt x="0" y="133350"/>
                  </a:moveTo>
                  <a:lnTo>
                    <a:pt x="190500" y="0"/>
                  </a:lnTo>
                  <a:lnTo>
                    <a:pt x="400050" y="133350"/>
                  </a:lnTo>
                  <a:lnTo>
                    <a:pt x="200025" y="2571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11111"/>
              </a:solidFill>
            </a:ln>
          </p:spPr>
        </p:sp>
        <p:sp>
          <p:nvSpPr>
            <p:cNvPr id="147" name="Line 147"/>
            <p:cNvSpPr/>
            <p:nvPr/>
          </p:nvSpPr>
          <p:spPr>
            <a:xfrm>
              <a:off x="8886825" y="71247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11111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9048750" y="7219950"/>
              <a:ext cx="142875" cy="133350"/>
            </a:xfrm>
            <a:prstGeom prst="roundRect">
              <a:avLst>
                <a:gd name="adj" fmla="val 14286"/>
              </a:avLst>
            </a:prstGeom>
            <a:solidFill>
              <a:srgbClr val="A8DCE9"/>
            </a:solidFill>
            <a:ln w="9525">
              <a:solidFill>
                <a:srgbClr val="111111"/>
              </a:solidFill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8648700" y="7858125"/>
              <a:ext cx="457200" cy="37147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8686800" y="7829550"/>
              <a:ext cx="400050" cy="257175"/>
            </a:xfrm>
            <a:custGeom>
              <a:avLst/>
              <a:gdLst/>
              <a:ahLst/>
              <a:cxnLst/>
              <a:rect l="l" t="t" r="r" b="b"/>
              <a:pathLst>
                <a:path w="400050" h="257175">
                  <a:moveTo>
                    <a:pt x="0" y="133350"/>
                  </a:moveTo>
                  <a:lnTo>
                    <a:pt x="190500" y="0"/>
                  </a:lnTo>
                  <a:lnTo>
                    <a:pt x="400050" y="133350"/>
                  </a:lnTo>
                  <a:lnTo>
                    <a:pt x="200025" y="2571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11111"/>
              </a:solidFill>
            </a:ln>
          </p:spPr>
        </p:sp>
        <p:sp>
          <p:nvSpPr>
            <p:cNvPr id="151" name="Line 151"/>
            <p:cNvSpPr/>
            <p:nvPr/>
          </p:nvSpPr>
          <p:spPr>
            <a:xfrm>
              <a:off x="8886825" y="80867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111111"/>
              </a:solidFill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9048750" y="8181975"/>
              <a:ext cx="142875" cy="133350"/>
            </a:xfrm>
            <a:prstGeom prst="roundRect">
              <a:avLst>
                <a:gd name="adj" fmla="val 14286"/>
              </a:avLst>
            </a:prstGeom>
            <a:solidFill>
              <a:srgbClr val="F4E5EE"/>
            </a:solidFill>
            <a:ln w="9525">
              <a:solidFill>
                <a:srgbClr val="111111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11525250" y="6877050"/>
              <a:ext cx="66675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11525250" y="7820025"/>
              <a:ext cx="66675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11620500" y="6962775"/>
              <a:ext cx="247650" cy="152400"/>
            </a:xfrm>
            <a:prstGeom prst="roundRect">
              <a:avLst>
                <a:gd name="adj" fmla="val 50000"/>
              </a:avLst>
            </a:prstGeom>
            <a:solidFill>
              <a:srgbClr val="F7FBFB"/>
            </a:solidFill>
            <a:ln w="9525">
              <a:solidFill>
                <a:srgbClr val="B9B9B9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11887200" y="6953250"/>
              <a:ext cx="247650" cy="152400"/>
            </a:xfrm>
            <a:prstGeom prst="roundRect">
              <a:avLst>
                <a:gd name="adj" fmla="val 50000"/>
              </a:avLst>
            </a:prstGeom>
            <a:solidFill>
              <a:srgbClr val="F8FBF5"/>
            </a:solidFill>
            <a:ln w="9525">
              <a:solidFill>
                <a:srgbClr val="B9B9B9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11753850" y="7172325"/>
              <a:ext cx="247650" cy="152400"/>
            </a:xfrm>
            <a:prstGeom prst="roundRect">
              <a:avLst>
                <a:gd name="adj" fmla="val 50000"/>
              </a:avLst>
            </a:prstGeom>
            <a:solidFill>
              <a:srgbClr val="FFF8E6"/>
            </a:solidFill>
            <a:ln w="9525">
              <a:solidFill>
                <a:srgbClr val="B9B9B9"/>
              </a:solidFill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11649075" y="7953375"/>
              <a:ext cx="247650" cy="152400"/>
            </a:xfrm>
            <a:prstGeom prst="roundRect">
              <a:avLst>
                <a:gd name="adj" fmla="val 50000"/>
              </a:avLst>
            </a:prstGeom>
            <a:solidFill>
              <a:srgbClr val="FBF8FB"/>
            </a:solidFill>
            <a:ln w="9525">
              <a:solidFill>
                <a:srgbClr val="B9B9B9"/>
              </a:solidFill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11877675" y="8067675"/>
              <a:ext cx="247650" cy="152400"/>
            </a:xfrm>
            <a:prstGeom prst="roundRect">
              <a:avLst>
                <a:gd name="adj" fmla="val 50000"/>
              </a:avLst>
            </a:prstGeom>
            <a:solidFill>
              <a:srgbClr val="F5FBF7"/>
            </a:solidFill>
            <a:ln w="9525">
              <a:solidFill>
                <a:srgbClr val="B9B9B9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12144375" y="7277100"/>
              <a:ext cx="142875" cy="142875"/>
            </a:xfrm>
            <a:prstGeom prst="roundRect">
              <a:avLst>
                <a:gd name="adj" fmla="val 13333"/>
              </a:avLst>
            </a:prstGeom>
            <a:solidFill>
              <a:srgbClr val="9BCDD7"/>
            </a:solidFill>
            <a:ln w="9525">
              <a:solidFill>
                <a:srgbClr val="111111"/>
              </a:solidFill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12144375" y="8239125"/>
              <a:ext cx="142875" cy="142875"/>
            </a:xfrm>
            <a:prstGeom prst="roundRect">
              <a:avLst>
                <a:gd name="adj" fmla="val 13333"/>
              </a:avLst>
            </a:prstGeom>
            <a:solidFill>
              <a:srgbClr val="F4E4EC"/>
            </a:solidFill>
            <a:ln w="9525">
              <a:solidFill>
                <a:srgbClr val="111111"/>
              </a:solidFill>
            </a:ln>
          </p:spPr>
        </p:sp>
        <p:sp>
          <p:nvSpPr>
            <p:cNvPr id="162" name="Polygon 162"/>
            <p:cNvSpPr/>
            <p:nvPr/>
          </p:nvSpPr>
          <p:spPr>
            <a:xfrm>
              <a:off x="6419850" y="935355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63" name="Polygon 163"/>
            <p:cNvSpPr/>
            <p:nvPr/>
          </p:nvSpPr>
          <p:spPr>
            <a:xfrm>
              <a:off x="7439025" y="9229725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64" name="Polygon 164"/>
            <p:cNvSpPr/>
            <p:nvPr/>
          </p:nvSpPr>
          <p:spPr>
            <a:xfrm>
              <a:off x="7153275" y="9705975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1C7"/>
            </a:solidFill>
            <a:ln w="14288">
              <a:solidFill>
                <a:srgbClr val="111111"/>
              </a:solidFill>
            </a:ln>
          </p:spPr>
        </p:sp>
        <p:sp>
          <p:nvSpPr>
            <p:cNvPr id="165" name="Polygon 165"/>
            <p:cNvSpPr/>
            <p:nvPr/>
          </p:nvSpPr>
          <p:spPr>
            <a:xfrm>
              <a:off x="8334375" y="925830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66" name="Polygon 166"/>
            <p:cNvSpPr/>
            <p:nvPr/>
          </p:nvSpPr>
          <p:spPr>
            <a:xfrm>
              <a:off x="7753350" y="1022985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67" name="Polygon 167"/>
            <p:cNvSpPr/>
            <p:nvPr/>
          </p:nvSpPr>
          <p:spPr>
            <a:xfrm>
              <a:off x="9191625" y="9077325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68" name="Polygon 168"/>
            <p:cNvSpPr/>
            <p:nvPr/>
          </p:nvSpPr>
          <p:spPr>
            <a:xfrm>
              <a:off x="9258300" y="960120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AAF0EF"/>
            </a:solidFill>
            <a:ln w="14288">
              <a:solidFill>
                <a:srgbClr val="111111"/>
              </a:solidFill>
            </a:ln>
          </p:spPr>
        </p:sp>
        <p:sp>
          <p:nvSpPr>
            <p:cNvPr id="169" name="Polygon 169"/>
            <p:cNvSpPr/>
            <p:nvPr/>
          </p:nvSpPr>
          <p:spPr>
            <a:xfrm>
              <a:off x="10125075" y="908685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70" name="Polygon 170"/>
            <p:cNvSpPr/>
            <p:nvPr/>
          </p:nvSpPr>
          <p:spPr>
            <a:xfrm>
              <a:off x="10125075" y="969645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71" name="Polygon 171"/>
            <p:cNvSpPr/>
            <p:nvPr/>
          </p:nvSpPr>
          <p:spPr>
            <a:xfrm>
              <a:off x="11753850" y="969645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571500" h="342900">
                  <a:moveTo>
                    <a:pt x="76200" y="0"/>
                  </a:moveTo>
                  <a:lnTo>
                    <a:pt x="495300" y="0"/>
                  </a:lnTo>
                  <a:lnTo>
                    <a:pt x="571500" y="171450"/>
                  </a:lnTo>
                  <a:lnTo>
                    <a:pt x="4953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72" name="Polygon 172"/>
            <p:cNvSpPr/>
            <p:nvPr/>
          </p:nvSpPr>
          <p:spPr>
            <a:xfrm>
              <a:off x="12668250" y="969645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571500" h="342900">
                  <a:moveTo>
                    <a:pt x="76200" y="0"/>
                  </a:moveTo>
                  <a:lnTo>
                    <a:pt x="495300" y="0"/>
                  </a:lnTo>
                  <a:lnTo>
                    <a:pt x="571500" y="171450"/>
                  </a:lnTo>
                  <a:lnTo>
                    <a:pt x="4953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73" name="Polygon 173"/>
            <p:cNvSpPr/>
            <p:nvPr/>
          </p:nvSpPr>
          <p:spPr>
            <a:xfrm>
              <a:off x="10887075" y="1022985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74" name="Polygon 174"/>
            <p:cNvSpPr/>
            <p:nvPr/>
          </p:nvSpPr>
          <p:spPr>
            <a:xfrm>
              <a:off x="12487275" y="1022985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  <p:sp>
          <p:nvSpPr>
            <p:cNvPr id="175" name="Polygon 175"/>
            <p:cNvSpPr/>
            <p:nvPr/>
          </p:nvSpPr>
          <p:spPr>
            <a:xfrm>
              <a:off x="14801850" y="10229850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76200" y="0"/>
                  </a:moveTo>
                  <a:lnTo>
                    <a:pt x="381000" y="0"/>
                  </a:lnTo>
                  <a:lnTo>
                    <a:pt x="457200" y="171450"/>
                  </a:lnTo>
                  <a:lnTo>
                    <a:pt x="381000" y="342900"/>
                  </a:lnTo>
                  <a:lnTo>
                    <a:pt x="762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11111"/>
              </a:solidFill>
            </a:ln>
          </p:spPr>
        </p:sp>
      </p:grpSp>
      <p:grpSp>
        <p:nvGrpSpPr>
          <p:cNvPr id="241" name="Group 241"/>
          <p:cNvGrpSpPr/>
          <p:nvPr/>
        </p:nvGrpSpPr>
        <p:grpSpPr>
          <a:xfrm>
            <a:off x="685800" y="962025"/>
            <a:ext cx="18002250" cy="9344025"/>
            <a:chOff x="685800" y="962025"/>
            <a:chExt cx="18002250" cy="9344025"/>
          </a:xfrm>
        </p:grpSpPr>
        <p:sp>
          <p:nvSpPr>
            <p:cNvPr id="177" name="Line 177"/>
            <p:cNvSpPr/>
            <p:nvPr/>
          </p:nvSpPr>
          <p:spPr>
            <a:xfrm>
              <a:off x="1438275" y="1866900"/>
              <a:ext cx="1" cy="266700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78" name="Line 178"/>
            <p:cNvSpPr/>
            <p:nvPr/>
          </p:nvSpPr>
          <p:spPr>
            <a:xfrm>
              <a:off x="2400300" y="2609850"/>
              <a:ext cx="4572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79" name="Line 179"/>
            <p:cNvSpPr/>
            <p:nvPr/>
          </p:nvSpPr>
          <p:spPr>
            <a:xfrm>
              <a:off x="4057650" y="2943225"/>
              <a:ext cx="1" cy="428625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80" name="Freeform 180"/>
            <p:cNvSpPr/>
            <p:nvPr/>
          </p:nvSpPr>
          <p:spPr>
            <a:xfrm>
              <a:off x="3590925" y="3914775"/>
              <a:ext cx="752475" cy="171450"/>
            </a:xfrm>
            <a:custGeom>
              <a:avLst/>
              <a:gdLst/>
              <a:ahLst/>
              <a:cxnLst/>
              <a:rect l="l" t="t" r="r" b="b"/>
              <a:pathLst>
                <a:path w="752475" h="171450">
                  <a:moveTo>
                    <a:pt x="0" y="171450"/>
                  </a:moveTo>
                  <a:lnTo>
                    <a:pt x="752475" y="0"/>
                  </a:lnTo>
                </a:path>
              </a:pathLst>
            </a:custGeom>
            <a:noFill/>
            <a:ln w="20955">
              <a:solidFill>
                <a:srgbClr val="111111"/>
              </a:solidFill>
              <a:tailEnd type="triangle" w="lg" len="lg"/>
            </a:ln>
          </p:spPr>
        </p:sp>
        <p:sp>
          <p:nvSpPr>
            <p:cNvPr id="181" name="Line 181"/>
            <p:cNvSpPr/>
            <p:nvPr/>
          </p:nvSpPr>
          <p:spPr>
            <a:xfrm>
              <a:off x="1238250" y="4105275"/>
              <a:ext cx="2466975" cy="323850"/>
            </a:xfrm>
            <a:custGeom>
              <a:avLst/>
              <a:gdLst/>
              <a:ahLst/>
              <a:cxnLst/>
              <a:rect l="l" t="t" r="r" b="b"/>
              <a:pathLst>
                <a:path w="2466975" h="323850">
                  <a:moveTo>
                    <a:pt x="0" y="323850"/>
                  </a:moveTo>
                  <a:lnTo>
                    <a:pt x="2466975" y="0"/>
                  </a:lnTo>
                </a:path>
              </a:pathLst>
            </a:custGeom>
            <a:noFill/>
            <a:ln w="28575">
              <a:solidFill>
                <a:srgbClr val="111111"/>
              </a:solidFill>
              <a:custDash>
                <a:ds d="400000" sp="400000"/>
              </a:custDash>
            </a:ln>
          </p:spPr>
        </p:sp>
        <p:sp>
          <p:nvSpPr>
            <p:cNvPr id="182" name="Line 182"/>
            <p:cNvSpPr/>
            <p:nvPr/>
          </p:nvSpPr>
          <p:spPr>
            <a:xfrm>
              <a:off x="4457700" y="3952875"/>
              <a:ext cx="904875" cy="1143000"/>
            </a:xfrm>
            <a:custGeom>
              <a:avLst/>
              <a:gdLst/>
              <a:ahLst/>
              <a:cxnLst/>
              <a:rect l="l" t="t" r="r" b="b"/>
              <a:pathLst>
                <a:path w="904875" h="1143000">
                  <a:moveTo>
                    <a:pt x="0" y="0"/>
                  </a:moveTo>
                  <a:lnTo>
                    <a:pt x="904875" y="1143000"/>
                  </a:lnTo>
                </a:path>
              </a:pathLst>
            </a:custGeom>
            <a:noFill/>
            <a:ln w="28575">
              <a:solidFill>
                <a:srgbClr val="111111"/>
              </a:solidFill>
              <a:custDash>
                <a:ds d="400000" sp="400000"/>
              </a:custDash>
            </a:ln>
          </p:spPr>
        </p:sp>
        <p:sp>
          <p:nvSpPr>
            <p:cNvPr id="183" name="Line 183"/>
            <p:cNvSpPr/>
            <p:nvPr/>
          </p:nvSpPr>
          <p:spPr>
            <a:xfrm>
              <a:off x="685800" y="67151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50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84" name="Line 184"/>
            <p:cNvSpPr/>
            <p:nvPr/>
          </p:nvSpPr>
          <p:spPr>
            <a:xfrm>
              <a:off x="1371600" y="6715125"/>
              <a:ext cx="295275" cy="361950"/>
            </a:xfrm>
            <a:custGeom>
              <a:avLst/>
              <a:gdLst/>
              <a:ahLst/>
              <a:cxnLst/>
              <a:rect l="l" t="t" r="r" b="b"/>
              <a:pathLst>
                <a:path w="295275" h="361950">
                  <a:moveTo>
                    <a:pt x="0" y="0"/>
                  </a:moveTo>
                  <a:lnTo>
                    <a:pt x="295275" y="361950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85" name="Line 185"/>
            <p:cNvSpPr/>
            <p:nvPr/>
          </p:nvSpPr>
          <p:spPr>
            <a:xfrm>
              <a:off x="1609725" y="741045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86" name="Line 186"/>
            <p:cNvSpPr/>
            <p:nvPr/>
          </p:nvSpPr>
          <p:spPr>
            <a:xfrm>
              <a:off x="3181350" y="6181725"/>
              <a:ext cx="676275" cy="609600"/>
            </a:xfrm>
            <a:custGeom>
              <a:avLst/>
              <a:gdLst/>
              <a:ahLst/>
              <a:cxnLst/>
              <a:rect l="l" t="t" r="r" b="b"/>
              <a:pathLst>
                <a:path w="676275" h="609600">
                  <a:moveTo>
                    <a:pt x="676275" y="0"/>
                  </a:moveTo>
                  <a:lnTo>
                    <a:pt x="0" y="609600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87" name="Line 187"/>
            <p:cNvSpPr/>
            <p:nvPr/>
          </p:nvSpPr>
          <p:spPr>
            <a:xfrm>
              <a:off x="4181475" y="6181725"/>
              <a:ext cx="495300" cy="609600"/>
            </a:xfrm>
            <a:custGeom>
              <a:avLst/>
              <a:gdLst/>
              <a:ahLst/>
              <a:cxnLst/>
              <a:rect l="l" t="t" r="r" b="b"/>
              <a:pathLst>
                <a:path w="495300" h="609600">
                  <a:moveTo>
                    <a:pt x="0" y="0"/>
                  </a:moveTo>
                  <a:lnTo>
                    <a:pt x="495300" y="609600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88" name="Line 188"/>
            <p:cNvSpPr/>
            <p:nvPr/>
          </p:nvSpPr>
          <p:spPr>
            <a:xfrm>
              <a:off x="2933700" y="6886575"/>
              <a:ext cx="238125" cy="390525"/>
            </a:xfrm>
            <a:custGeom>
              <a:avLst/>
              <a:gdLst/>
              <a:ahLst/>
              <a:cxnLst/>
              <a:rect l="l" t="t" r="r" b="b"/>
              <a:pathLst>
                <a:path w="238125" h="390525">
                  <a:moveTo>
                    <a:pt x="238125" y="0"/>
                  </a:moveTo>
                  <a:lnTo>
                    <a:pt x="0" y="390525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89" name="Line 189"/>
            <p:cNvSpPr/>
            <p:nvPr/>
          </p:nvSpPr>
          <p:spPr>
            <a:xfrm>
              <a:off x="3448050" y="6886575"/>
              <a:ext cx="552450" cy="390525"/>
            </a:xfrm>
            <a:custGeom>
              <a:avLst/>
              <a:gdLst/>
              <a:ahLst/>
              <a:cxnLst/>
              <a:rect l="l" t="t" r="r" b="b"/>
              <a:pathLst>
                <a:path w="552450" h="390525">
                  <a:moveTo>
                    <a:pt x="0" y="0"/>
                  </a:moveTo>
                  <a:lnTo>
                    <a:pt x="552450" y="390525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90" name="Line 190"/>
            <p:cNvSpPr/>
            <p:nvPr/>
          </p:nvSpPr>
          <p:spPr>
            <a:xfrm>
              <a:off x="2924175" y="75438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91" name="Line 191"/>
            <p:cNvSpPr/>
            <p:nvPr/>
          </p:nvSpPr>
          <p:spPr>
            <a:xfrm>
              <a:off x="3857625" y="75438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92" name="Line 192"/>
            <p:cNvSpPr/>
            <p:nvPr/>
          </p:nvSpPr>
          <p:spPr>
            <a:xfrm>
              <a:off x="4657725" y="70770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93" name="Line 193"/>
            <p:cNvSpPr/>
            <p:nvPr/>
          </p:nvSpPr>
          <p:spPr>
            <a:xfrm>
              <a:off x="2838450" y="8286750"/>
              <a:ext cx="1" cy="457200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94" name="Line 194"/>
            <p:cNvSpPr/>
            <p:nvPr/>
          </p:nvSpPr>
          <p:spPr>
            <a:xfrm>
              <a:off x="7372350" y="2505075"/>
              <a:ext cx="48577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95" name="Line 195"/>
            <p:cNvSpPr/>
            <p:nvPr/>
          </p:nvSpPr>
          <p:spPr>
            <a:xfrm>
              <a:off x="7800975" y="962025"/>
              <a:ext cx="276225" cy="219075"/>
            </a:xfrm>
            <a:custGeom>
              <a:avLst/>
              <a:gdLst/>
              <a:ahLst/>
              <a:cxnLst/>
              <a:rect l="l" t="t" r="r" b="b"/>
              <a:pathLst>
                <a:path w="276225" h="219075">
                  <a:moveTo>
                    <a:pt x="0" y="219075"/>
                  </a:moveTo>
                  <a:lnTo>
                    <a:pt x="276225" y="0"/>
                  </a:lnTo>
                </a:path>
              </a:pathLst>
            </a:custGeom>
            <a:noFill/>
            <a:ln w="12382">
              <a:solidFill>
                <a:srgbClr val="111111"/>
              </a:solidFill>
            </a:ln>
          </p:spPr>
        </p:sp>
        <p:sp>
          <p:nvSpPr>
            <p:cNvPr id="196" name="Line 196"/>
            <p:cNvSpPr/>
            <p:nvPr/>
          </p:nvSpPr>
          <p:spPr>
            <a:xfrm>
              <a:off x="9391650" y="2505075"/>
              <a:ext cx="4381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97" name="Line 197"/>
            <p:cNvSpPr/>
            <p:nvPr/>
          </p:nvSpPr>
          <p:spPr>
            <a:xfrm>
              <a:off x="9982200" y="1171575"/>
              <a:ext cx="9525" cy="2600325"/>
            </a:xfrm>
            <a:custGeom>
              <a:avLst/>
              <a:gdLst/>
              <a:ahLst/>
              <a:cxnLst/>
              <a:rect l="l" t="t" r="r" b="b"/>
              <a:pathLst>
                <a:path w="9525" h="2600325">
                  <a:moveTo>
                    <a:pt x="0" y="0"/>
                  </a:moveTo>
                  <a:lnTo>
                    <a:pt x="0" y="2600325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198" name="Line 198"/>
            <p:cNvSpPr/>
            <p:nvPr/>
          </p:nvSpPr>
          <p:spPr>
            <a:xfrm>
              <a:off x="10229850" y="148590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199" name="Line 199"/>
            <p:cNvSpPr/>
            <p:nvPr/>
          </p:nvSpPr>
          <p:spPr>
            <a:xfrm>
              <a:off x="10229850" y="1733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6192">
              <a:solidFill>
                <a:srgbClr val="111111"/>
              </a:solidFill>
            </a:ln>
          </p:spPr>
        </p:sp>
        <p:sp>
          <p:nvSpPr>
            <p:cNvPr id="200" name="Line 200"/>
            <p:cNvSpPr/>
            <p:nvPr/>
          </p:nvSpPr>
          <p:spPr>
            <a:xfrm>
              <a:off x="10229850" y="20764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6192">
              <a:solidFill>
                <a:srgbClr val="111111"/>
              </a:solidFill>
            </a:ln>
          </p:spPr>
        </p:sp>
        <p:sp>
          <p:nvSpPr>
            <p:cNvPr id="201" name="Line 201"/>
            <p:cNvSpPr/>
            <p:nvPr/>
          </p:nvSpPr>
          <p:spPr>
            <a:xfrm>
              <a:off x="10229850" y="24193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6192">
              <a:solidFill>
                <a:srgbClr val="111111"/>
              </a:solidFill>
            </a:ln>
          </p:spPr>
        </p:sp>
        <p:sp>
          <p:nvSpPr>
            <p:cNvPr id="202" name="Line 202"/>
            <p:cNvSpPr/>
            <p:nvPr/>
          </p:nvSpPr>
          <p:spPr>
            <a:xfrm>
              <a:off x="12020550" y="1981200"/>
              <a:ext cx="18859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03" name="Line 203"/>
            <p:cNvSpPr/>
            <p:nvPr/>
          </p:nvSpPr>
          <p:spPr>
            <a:xfrm>
              <a:off x="11820525" y="3457575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762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04" name="Line 204"/>
            <p:cNvSpPr/>
            <p:nvPr/>
          </p:nvSpPr>
          <p:spPr>
            <a:xfrm>
              <a:off x="12011025" y="3457575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0" y="0"/>
                  </a:moveTo>
                  <a:lnTo>
                    <a:pt x="95250" y="15240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05" name="Line 205"/>
            <p:cNvSpPr/>
            <p:nvPr/>
          </p:nvSpPr>
          <p:spPr>
            <a:xfrm flipH="1">
              <a:off x="12439650" y="3190875"/>
              <a:ext cx="14668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06" name="Line 206"/>
            <p:cNvSpPr/>
            <p:nvPr/>
          </p:nvSpPr>
          <p:spPr>
            <a:xfrm>
              <a:off x="7334250" y="5410200"/>
              <a:ext cx="72390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07" name="Line 207"/>
            <p:cNvSpPr/>
            <p:nvPr/>
          </p:nvSpPr>
          <p:spPr>
            <a:xfrm>
              <a:off x="10896600" y="495300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38100">
              <a:solidFill>
                <a:srgbClr val="111111"/>
              </a:solidFill>
              <a:custDash>
                <a:ds d="225000" sp="300000"/>
              </a:custDash>
            </a:ln>
          </p:spPr>
        </p:sp>
        <p:sp>
          <p:nvSpPr>
            <p:cNvPr id="208" name="Line 208"/>
            <p:cNvSpPr/>
            <p:nvPr/>
          </p:nvSpPr>
          <p:spPr>
            <a:xfrm>
              <a:off x="6096000" y="7191375"/>
              <a:ext cx="18859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09" name="Line 209"/>
            <p:cNvSpPr/>
            <p:nvPr/>
          </p:nvSpPr>
          <p:spPr>
            <a:xfrm>
              <a:off x="6115050" y="71056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0" name="Line 210"/>
            <p:cNvSpPr/>
            <p:nvPr/>
          </p:nvSpPr>
          <p:spPr>
            <a:xfrm>
              <a:off x="6400800" y="71056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1" name="Line 211"/>
            <p:cNvSpPr/>
            <p:nvPr/>
          </p:nvSpPr>
          <p:spPr>
            <a:xfrm>
              <a:off x="6705600" y="71056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2" name="Line 212"/>
            <p:cNvSpPr/>
            <p:nvPr/>
          </p:nvSpPr>
          <p:spPr>
            <a:xfrm>
              <a:off x="7000875" y="71056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3" name="Line 213"/>
            <p:cNvSpPr/>
            <p:nvPr/>
          </p:nvSpPr>
          <p:spPr>
            <a:xfrm>
              <a:off x="7372350" y="71056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4" name="Line 214"/>
            <p:cNvSpPr/>
            <p:nvPr/>
          </p:nvSpPr>
          <p:spPr>
            <a:xfrm>
              <a:off x="6096000" y="7962900"/>
              <a:ext cx="18859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15" name="Line 215"/>
            <p:cNvSpPr/>
            <p:nvPr/>
          </p:nvSpPr>
          <p:spPr>
            <a:xfrm>
              <a:off x="6115050" y="78771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6" name="Line 216"/>
            <p:cNvSpPr/>
            <p:nvPr/>
          </p:nvSpPr>
          <p:spPr>
            <a:xfrm>
              <a:off x="6400800" y="78771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7" name="Line 217"/>
            <p:cNvSpPr/>
            <p:nvPr/>
          </p:nvSpPr>
          <p:spPr>
            <a:xfrm>
              <a:off x="6705600" y="78771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8" name="Line 218"/>
            <p:cNvSpPr/>
            <p:nvPr/>
          </p:nvSpPr>
          <p:spPr>
            <a:xfrm>
              <a:off x="7000875" y="78771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19" name="Line 219"/>
            <p:cNvSpPr/>
            <p:nvPr/>
          </p:nvSpPr>
          <p:spPr>
            <a:xfrm>
              <a:off x="7372350" y="78771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  <p:sp>
          <p:nvSpPr>
            <p:cNvPr id="220" name="Line 220"/>
            <p:cNvSpPr/>
            <p:nvPr/>
          </p:nvSpPr>
          <p:spPr>
            <a:xfrm>
              <a:off x="7991475" y="7620000"/>
              <a:ext cx="457200" cy="1"/>
            </a:xfrm>
            <a:prstGeom prst="line">
              <a:avLst/>
            </a:prstGeom>
            <a:noFill/>
            <a:ln w="32385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1" name="Line 221"/>
            <p:cNvSpPr/>
            <p:nvPr/>
          </p:nvSpPr>
          <p:spPr>
            <a:xfrm>
              <a:off x="9810750" y="7620000"/>
              <a:ext cx="457200" cy="1"/>
            </a:xfrm>
            <a:prstGeom prst="line">
              <a:avLst/>
            </a:prstGeom>
            <a:noFill/>
            <a:ln w="32385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2" name="Line 222"/>
            <p:cNvSpPr/>
            <p:nvPr/>
          </p:nvSpPr>
          <p:spPr>
            <a:xfrm>
              <a:off x="11334750" y="7620000"/>
              <a:ext cx="457200" cy="1"/>
            </a:xfrm>
            <a:prstGeom prst="line">
              <a:avLst/>
            </a:prstGeom>
            <a:noFill/>
            <a:ln w="32385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3" name="Line 223"/>
            <p:cNvSpPr/>
            <p:nvPr/>
          </p:nvSpPr>
          <p:spPr>
            <a:xfrm flipV="1">
              <a:off x="12306300" y="6762750"/>
              <a:ext cx="571500" cy="171450"/>
            </a:xfrm>
            <a:prstGeom prst="line">
              <a:avLst/>
            </a:prstGeom>
            <a:noFill/>
            <a:ln w="23812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4" name="Line 224"/>
            <p:cNvSpPr/>
            <p:nvPr/>
          </p:nvSpPr>
          <p:spPr>
            <a:xfrm flipV="1">
              <a:off x="6858000" y="9401175"/>
              <a:ext cx="581025" cy="66675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5" name="Line 225"/>
            <p:cNvSpPr/>
            <p:nvPr/>
          </p:nvSpPr>
          <p:spPr>
            <a:xfrm>
              <a:off x="6858000" y="9572625"/>
              <a:ext cx="304800" cy="247650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6" name="Line 226"/>
            <p:cNvSpPr/>
            <p:nvPr/>
          </p:nvSpPr>
          <p:spPr>
            <a:xfrm>
              <a:off x="7896225" y="9401175"/>
              <a:ext cx="438150" cy="28575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7" name="Line 227"/>
            <p:cNvSpPr/>
            <p:nvPr/>
          </p:nvSpPr>
          <p:spPr>
            <a:xfrm>
              <a:off x="7486650" y="10039350"/>
              <a:ext cx="304800" cy="266700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8" name="Line 228"/>
            <p:cNvSpPr/>
            <p:nvPr/>
          </p:nvSpPr>
          <p:spPr>
            <a:xfrm flipV="1">
              <a:off x="8791575" y="9296400"/>
              <a:ext cx="390525" cy="95250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29" name="Line 229"/>
            <p:cNvSpPr/>
            <p:nvPr/>
          </p:nvSpPr>
          <p:spPr>
            <a:xfrm>
              <a:off x="8791575" y="9496425"/>
              <a:ext cx="457200" cy="190500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0" name="Line 230"/>
            <p:cNvSpPr/>
            <p:nvPr/>
          </p:nvSpPr>
          <p:spPr>
            <a:xfrm>
              <a:off x="9648825" y="9248775"/>
              <a:ext cx="476250" cy="9525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1" name="Line 231"/>
            <p:cNvSpPr/>
            <p:nvPr/>
          </p:nvSpPr>
          <p:spPr>
            <a:xfrm>
              <a:off x="9715500" y="9791700"/>
              <a:ext cx="409575" cy="66675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2" name="Line 232"/>
            <p:cNvSpPr/>
            <p:nvPr/>
          </p:nvSpPr>
          <p:spPr>
            <a:xfrm flipV="1">
              <a:off x="10572750" y="9867900"/>
              <a:ext cx="1162050" cy="9525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3" name="Line 233"/>
            <p:cNvSpPr/>
            <p:nvPr/>
          </p:nvSpPr>
          <p:spPr>
            <a:xfrm>
              <a:off x="12325350" y="9867900"/>
              <a:ext cx="323850" cy="1"/>
            </a:xfrm>
            <a:prstGeom prst="line">
              <a:avLst/>
            </a:prstGeom>
            <a:noFill/>
            <a:ln w="3048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4" name="Line 234"/>
            <p:cNvSpPr/>
            <p:nvPr/>
          </p:nvSpPr>
          <p:spPr>
            <a:xfrm>
              <a:off x="8820150" y="9496425"/>
              <a:ext cx="428625" cy="190500"/>
            </a:xfrm>
            <a:prstGeom prst="line">
              <a:avLst/>
            </a:prstGeom>
            <a:noFill/>
            <a:ln w="3429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5" name="Line 235"/>
            <p:cNvSpPr/>
            <p:nvPr/>
          </p:nvSpPr>
          <p:spPr>
            <a:xfrm>
              <a:off x="17449800" y="7648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236" name="Line 236"/>
            <p:cNvSpPr/>
            <p:nvPr/>
          </p:nvSpPr>
          <p:spPr>
            <a:xfrm>
              <a:off x="18192750" y="8562975"/>
              <a:ext cx="1" cy="542925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7" name="Line 237"/>
            <p:cNvSpPr/>
            <p:nvPr/>
          </p:nvSpPr>
          <p:spPr>
            <a:xfrm>
              <a:off x="18192750" y="9629775"/>
              <a:ext cx="1" cy="542925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8" name="Line 238"/>
            <p:cNvSpPr/>
            <p:nvPr/>
          </p:nvSpPr>
          <p:spPr>
            <a:xfrm>
              <a:off x="16868775" y="5324475"/>
              <a:ext cx="44767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39" name="Line 239"/>
            <p:cNvSpPr/>
            <p:nvPr/>
          </p:nvSpPr>
          <p:spPr>
            <a:xfrm>
              <a:off x="16868775" y="7515225"/>
              <a:ext cx="44767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240" name="Line 240"/>
            <p:cNvSpPr/>
            <p:nvPr/>
          </p:nvSpPr>
          <p:spPr>
            <a:xfrm>
              <a:off x="16868775" y="9782175"/>
              <a:ext cx="44767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</p:grpSp>
      <p:grpSp>
        <p:nvGrpSpPr>
          <p:cNvPr id="368" name="Group 368"/>
          <p:cNvGrpSpPr/>
          <p:nvPr/>
        </p:nvGrpSpPr>
        <p:grpSpPr>
          <a:xfrm>
            <a:off x="533424" y="305276"/>
            <a:ext cx="18842354" cy="10346055"/>
            <a:chOff x="533424" y="305276"/>
            <a:chExt cx="18842354" cy="10346055"/>
          </a:xfrm>
        </p:grpSpPr>
        <p:sp>
          <p:nvSpPr>
            <p:cNvPr id="242" name="TextBox 242"/>
            <p:cNvSpPr txBox="1"/>
            <p:nvPr/>
          </p:nvSpPr>
          <p:spPr>
            <a:xfrm>
              <a:off x="1536382" y="305276"/>
              <a:ext cx="288678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pairwise AST distance</a:t>
              </a:r>
            </a:p>
          </p:txBody>
        </p:sp>
        <p:sp>
          <p:nvSpPr>
            <p:cNvPr id="243" name="TextBox 243"/>
            <p:cNvSpPr txBox="1"/>
            <p:nvPr/>
          </p:nvSpPr>
          <p:spPr>
            <a:xfrm>
              <a:off x="1536382" y="626745"/>
              <a:ext cx="29813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over M sibling rollouts</a:t>
              </a:r>
            </a:p>
          </p:txBody>
        </p:sp>
        <p:sp>
          <p:nvSpPr>
            <p:cNvPr id="244" name="TextBox 244"/>
            <p:cNvSpPr txBox="1"/>
            <p:nvPr/>
          </p:nvSpPr>
          <p:spPr>
            <a:xfrm>
              <a:off x="719138" y="1454944"/>
              <a:ext cx="187285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sibling rollouts</a:t>
              </a:r>
            </a:p>
          </p:txBody>
        </p:sp>
        <p:sp>
          <p:nvSpPr>
            <p:cNvPr id="245" name="TextBox 245"/>
            <p:cNvSpPr txBox="1"/>
            <p:nvPr/>
          </p:nvSpPr>
          <p:spPr>
            <a:xfrm>
              <a:off x="943570" y="2340769"/>
              <a:ext cx="11227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l-window</a:t>
              </a:r>
            </a:p>
          </p:txBody>
        </p:sp>
        <p:sp>
          <p:nvSpPr>
            <p:cNvPr id="246" name="TextBox 246"/>
            <p:cNvSpPr txBox="1"/>
            <p:nvPr/>
          </p:nvSpPr>
          <p:spPr>
            <a:xfrm>
              <a:off x="1099840" y="2638425"/>
              <a:ext cx="8102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action</a:t>
              </a:r>
            </a:p>
          </p:txBody>
        </p:sp>
        <p:sp>
          <p:nvSpPr>
            <p:cNvPr id="247" name="TextBox 247"/>
            <p:cNvSpPr txBox="1"/>
            <p:nvPr/>
          </p:nvSpPr>
          <p:spPr>
            <a:xfrm>
              <a:off x="824805" y="2936081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extraction</a:t>
              </a:r>
            </a:p>
          </p:txBody>
        </p:sp>
        <p:sp>
          <p:nvSpPr>
            <p:cNvPr id="248" name="TextBox 248"/>
            <p:cNvSpPr txBox="1"/>
            <p:nvPr/>
          </p:nvSpPr>
          <p:spPr>
            <a:xfrm>
              <a:off x="3530798" y="1454944"/>
              <a:ext cx="107275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pairwise</a:t>
              </a:r>
            </a:p>
          </p:txBody>
        </p:sp>
        <p:sp>
          <p:nvSpPr>
            <p:cNvPr id="249" name="TextBox 249"/>
            <p:cNvSpPr txBox="1"/>
            <p:nvPr/>
          </p:nvSpPr>
          <p:spPr>
            <a:xfrm>
              <a:off x="3212009" y="1752600"/>
              <a:ext cx="171033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over snippets</a:t>
              </a:r>
            </a:p>
          </p:txBody>
        </p:sp>
        <p:sp>
          <p:nvSpPr>
            <p:cNvPr id="250" name="TextBox 250"/>
            <p:cNvSpPr txBox="1"/>
            <p:nvPr/>
          </p:nvSpPr>
          <p:spPr>
            <a:xfrm>
              <a:off x="3754160" y="3421856"/>
              <a:ext cx="735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</a:t>
              </a:r>
            </a:p>
          </p:txBody>
        </p:sp>
        <p:sp>
          <p:nvSpPr>
            <p:cNvPr id="251" name="TextBox 251"/>
            <p:cNvSpPr txBox="1"/>
            <p:nvPr/>
          </p:nvSpPr>
          <p:spPr>
            <a:xfrm>
              <a:off x="3592235" y="3602831"/>
              <a:ext cx="735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</a:t>
              </a:r>
            </a:p>
          </p:txBody>
        </p:sp>
        <p:sp>
          <p:nvSpPr>
            <p:cNvPr id="252" name="TextBox 252"/>
            <p:cNvSpPr txBox="1"/>
            <p:nvPr/>
          </p:nvSpPr>
          <p:spPr>
            <a:xfrm>
              <a:off x="3897332" y="342185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</a:t>
              </a:r>
            </a:p>
          </p:txBody>
        </p:sp>
        <p:sp>
          <p:nvSpPr>
            <p:cNvPr id="253" name="TextBox 253"/>
            <p:cNvSpPr txBox="1"/>
            <p:nvPr/>
          </p:nvSpPr>
          <p:spPr>
            <a:xfrm>
              <a:off x="3573482" y="376475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</a:t>
              </a:r>
            </a:p>
          </p:txBody>
        </p:sp>
        <p:sp>
          <p:nvSpPr>
            <p:cNvPr id="254" name="TextBox 254"/>
            <p:cNvSpPr txBox="1"/>
            <p:nvPr/>
          </p:nvSpPr>
          <p:spPr>
            <a:xfrm>
              <a:off x="4059257" y="342185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</a:t>
              </a:r>
            </a:p>
          </p:txBody>
        </p:sp>
        <p:sp>
          <p:nvSpPr>
            <p:cNvPr id="255" name="TextBox 255"/>
            <p:cNvSpPr txBox="1"/>
            <p:nvPr/>
          </p:nvSpPr>
          <p:spPr>
            <a:xfrm>
              <a:off x="3573482" y="3926681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</a:t>
              </a:r>
            </a:p>
          </p:txBody>
        </p:sp>
        <p:sp>
          <p:nvSpPr>
            <p:cNvPr id="256" name="TextBox 256"/>
            <p:cNvSpPr txBox="1"/>
            <p:nvPr/>
          </p:nvSpPr>
          <p:spPr>
            <a:xfrm>
              <a:off x="4221182" y="342185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4</a:t>
              </a:r>
            </a:p>
          </p:txBody>
        </p:sp>
        <p:sp>
          <p:nvSpPr>
            <p:cNvPr id="257" name="TextBox 257"/>
            <p:cNvSpPr txBox="1"/>
            <p:nvPr/>
          </p:nvSpPr>
          <p:spPr>
            <a:xfrm>
              <a:off x="3573482" y="408860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4</a:t>
              </a:r>
            </a:p>
          </p:txBody>
        </p:sp>
        <p:sp>
          <p:nvSpPr>
            <p:cNvPr id="258" name="TextBox 258"/>
            <p:cNvSpPr txBox="1"/>
            <p:nvPr/>
          </p:nvSpPr>
          <p:spPr>
            <a:xfrm>
              <a:off x="4383107" y="342185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5</a:t>
              </a:r>
            </a:p>
          </p:txBody>
        </p:sp>
        <p:sp>
          <p:nvSpPr>
            <p:cNvPr id="259" name="TextBox 259"/>
            <p:cNvSpPr txBox="1"/>
            <p:nvPr/>
          </p:nvSpPr>
          <p:spPr>
            <a:xfrm>
              <a:off x="3573482" y="4250531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5</a:t>
              </a:r>
            </a:p>
          </p:txBody>
        </p:sp>
        <p:sp>
          <p:nvSpPr>
            <p:cNvPr id="260" name="TextBox 260"/>
            <p:cNvSpPr txBox="1"/>
            <p:nvPr/>
          </p:nvSpPr>
          <p:spPr>
            <a:xfrm>
              <a:off x="3262312" y="4483894"/>
              <a:ext cx="171033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AST signature</a:t>
              </a:r>
            </a:p>
          </p:txBody>
        </p:sp>
        <p:sp>
          <p:nvSpPr>
            <p:cNvPr id="261" name="TextBox 261"/>
            <p:cNvSpPr txBox="1"/>
            <p:nvPr/>
          </p:nvSpPr>
          <p:spPr>
            <a:xfrm>
              <a:off x="3262312" y="4781550"/>
              <a:ext cx="197286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distance matrix</a:t>
              </a:r>
            </a:p>
          </p:txBody>
        </p:sp>
        <p:sp>
          <p:nvSpPr>
            <p:cNvPr id="262" name="TextBox 262"/>
            <p:cNvSpPr txBox="1"/>
            <p:nvPr/>
          </p:nvSpPr>
          <p:spPr>
            <a:xfrm>
              <a:off x="769620" y="56035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ls | wc -l</a:t>
              </a:r>
            </a:p>
          </p:txBody>
        </p:sp>
        <p:sp>
          <p:nvSpPr>
            <p:cNvPr id="263" name="TextBox 263"/>
            <p:cNvSpPr txBox="1"/>
            <p:nvPr/>
          </p:nvSpPr>
          <p:spPr>
            <a:xfrm>
              <a:off x="2503170" y="5432108"/>
              <a:ext cx="3045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ls *.txt | wc -l &amp;&amp; echo done</a:t>
              </a:r>
            </a:p>
          </p:txBody>
        </p:sp>
        <p:sp>
          <p:nvSpPr>
            <p:cNvPr id="264" name="TextBox 264"/>
            <p:cNvSpPr txBox="1"/>
            <p:nvPr/>
          </p:nvSpPr>
          <p:spPr>
            <a:xfrm>
              <a:off x="628674" y="64265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K</a:t>
              </a:r>
            </a:p>
          </p:txBody>
        </p:sp>
        <p:sp>
          <p:nvSpPr>
            <p:cNvPr id="265" name="TextBox 265"/>
            <p:cNvSpPr txBox="1"/>
            <p:nvPr/>
          </p:nvSpPr>
          <p:spPr>
            <a:xfrm>
              <a:off x="848678" y="6389846"/>
              <a:ext cx="72978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pipeline</a:t>
              </a:r>
            </a:p>
          </p:txBody>
        </p:sp>
        <p:sp>
          <p:nvSpPr>
            <p:cNvPr id="266" name="TextBox 266"/>
            <p:cNvSpPr txBox="1"/>
            <p:nvPr/>
          </p:nvSpPr>
          <p:spPr>
            <a:xfrm>
              <a:off x="533424" y="71027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</a:t>
              </a:r>
            </a:p>
          </p:txBody>
        </p:sp>
        <p:sp>
          <p:nvSpPr>
            <p:cNvPr id="267" name="TextBox 267"/>
            <p:cNvSpPr txBox="1"/>
            <p:nvPr/>
          </p:nvSpPr>
          <p:spPr>
            <a:xfrm>
              <a:off x="773430" y="7083742"/>
              <a:ext cx="187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ls</a:t>
              </a:r>
            </a:p>
          </p:txBody>
        </p:sp>
        <p:sp>
          <p:nvSpPr>
            <p:cNvPr id="268" name="TextBox 268"/>
            <p:cNvSpPr txBox="1"/>
            <p:nvPr/>
          </p:nvSpPr>
          <p:spPr>
            <a:xfrm>
              <a:off x="1543074" y="71027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</a:t>
              </a:r>
            </a:p>
          </p:txBody>
        </p:sp>
        <p:sp>
          <p:nvSpPr>
            <p:cNvPr id="269" name="TextBox 269"/>
            <p:cNvSpPr txBox="1"/>
            <p:nvPr/>
          </p:nvSpPr>
          <p:spPr>
            <a:xfrm>
              <a:off x="1773555" y="7083742"/>
              <a:ext cx="2683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wc</a:t>
              </a:r>
            </a:p>
          </p:txBody>
        </p:sp>
        <p:sp>
          <p:nvSpPr>
            <p:cNvPr id="270" name="TextBox 270"/>
            <p:cNvSpPr txBox="1"/>
            <p:nvPr/>
          </p:nvSpPr>
          <p:spPr>
            <a:xfrm>
              <a:off x="1515547" y="7807642"/>
              <a:ext cx="169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</a:t>
              </a:r>
            </a:p>
          </p:txBody>
        </p:sp>
        <p:sp>
          <p:nvSpPr>
            <p:cNvPr id="271" name="TextBox 271"/>
            <p:cNvSpPr txBox="1"/>
            <p:nvPr/>
          </p:nvSpPr>
          <p:spPr>
            <a:xfrm>
              <a:off x="1783080" y="7798118"/>
              <a:ext cx="187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-l</a:t>
              </a:r>
            </a:p>
          </p:txBody>
        </p:sp>
        <p:sp>
          <p:nvSpPr>
            <p:cNvPr id="272" name="TextBox 272"/>
            <p:cNvSpPr txBox="1"/>
            <p:nvPr/>
          </p:nvSpPr>
          <p:spPr>
            <a:xfrm>
              <a:off x="3781449" y="58835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K</a:t>
              </a:r>
            </a:p>
          </p:txBody>
        </p:sp>
        <p:sp>
          <p:nvSpPr>
            <p:cNvPr id="273" name="TextBox 273"/>
            <p:cNvSpPr txBox="1"/>
            <p:nvPr/>
          </p:nvSpPr>
          <p:spPr>
            <a:xfrm>
              <a:off x="4030028" y="5856446"/>
              <a:ext cx="35923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list</a:t>
              </a:r>
            </a:p>
          </p:txBody>
        </p:sp>
        <p:sp>
          <p:nvSpPr>
            <p:cNvPr id="274" name="TextBox 274"/>
            <p:cNvSpPr txBox="1"/>
            <p:nvPr/>
          </p:nvSpPr>
          <p:spPr>
            <a:xfrm>
              <a:off x="2867049" y="658844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K</a:t>
              </a:r>
            </a:p>
          </p:txBody>
        </p:sp>
        <p:sp>
          <p:nvSpPr>
            <p:cNvPr id="275" name="TextBox 275"/>
            <p:cNvSpPr txBox="1"/>
            <p:nvPr/>
          </p:nvSpPr>
          <p:spPr>
            <a:xfrm>
              <a:off x="3115628" y="6551771"/>
              <a:ext cx="72978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pipeline</a:t>
              </a:r>
            </a:p>
          </p:txBody>
        </p:sp>
        <p:sp>
          <p:nvSpPr>
            <p:cNvPr id="276" name="TextBox 276"/>
            <p:cNvSpPr txBox="1"/>
            <p:nvPr/>
          </p:nvSpPr>
          <p:spPr>
            <a:xfrm>
              <a:off x="2857524" y="723614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</a:t>
              </a:r>
            </a:p>
          </p:txBody>
        </p:sp>
        <p:sp>
          <p:nvSpPr>
            <p:cNvPr id="277" name="TextBox 277"/>
            <p:cNvSpPr txBox="1"/>
            <p:nvPr/>
          </p:nvSpPr>
          <p:spPr>
            <a:xfrm>
              <a:off x="3088005" y="7217092"/>
              <a:ext cx="187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ls</a:t>
              </a:r>
            </a:p>
          </p:txBody>
        </p:sp>
        <p:sp>
          <p:nvSpPr>
            <p:cNvPr id="278" name="TextBox 278"/>
            <p:cNvSpPr txBox="1"/>
            <p:nvPr/>
          </p:nvSpPr>
          <p:spPr>
            <a:xfrm>
              <a:off x="3790974" y="723614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</a:t>
              </a:r>
            </a:p>
          </p:txBody>
        </p:sp>
        <p:sp>
          <p:nvSpPr>
            <p:cNvPr id="279" name="TextBox 279"/>
            <p:cNvSpPr txBox="1"/>
            <p:nvPr/>
          </p:nvSpPr>
          <p:spPr>
            <a:xfrm>
              <a:off x="4030980" y="7217092"/>
              <a:ext cx="2683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wc</a:t>
              </a:r>
            </a:p>
          </p:txBody>
        </p:sp>
        <p:sp>
          <p:nvSpPr>
            <p:cNvPr id="280" name="TextBox 280"/>
            <p:cNvSpPr txBox="1"/>
            <p:nvPr/>
          </p:nvSpPr>
          <p:spPr>
            <a:xfrm>
              <a:off x="2772847" y="7988618"/>
              <a:ext cx="169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</a:t>
              </a:r>
            </a:p>
          </p:txBody>
        </p:sp>
        <p:sp>
          <p:nvSpPr>
            <p:cNvPr id="281" name="TextBox 281"/>
            <p:cNvSpPr txBox="1"/>
            <p:nvPr/>
          </p:nvSpPr>
          <p:spPr>
            <a:xfrm>
              <a:off x="3049905" y="7969568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*.txt</a:t>
              </a:r>
            </a:p>
          </p:txBody>
        </p:sp>
        <p:sp>
          <p:nvSpPr>
            <p:cNvPr id="282" name="TextBox 282"/>
            <p:cNvSpPr txBox="1"/>
            <p:nvPr/>
          </p:nvSpPr>
          <p:spPr>
            <a:xfrm>
              <a:off x="3772972" y="7988618"/>
              <a:ext cx="169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</a:t>
              </a:r>
            </a:p>
          </p:txBody>
        </p:sp>
        <p:sp>
          <p:nvSpPr>
            <p:cNvPr id="283" name="TextBox 283"/>
            <p:cNvSpPr txBox="1"/>
            <p:nvPr/>
          </p:nvSpPr>
          <p:spPr>
            <a:xfrm>
              <a:off x="4040505" y="7969568"/>
              <a:ext cx="187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-l</a:t>
              </a:r>
            </a:p>
          </p:txBody>
        </p:sp>
        <p:sp>
          <p:nvSpPr>
            <p:cNvPr id="284" name="TextBox 284"/>
            <p:cNvSpPr txBox="1"/>
            <p:nvPr/>
          </p:nvSpPr>
          <p:spPr>
            <a:xfrm>
              <a:off x="4286274" y="67694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</a:t>
              </a:r>
            </a:p>
          </p:txBody>
        </p:sp>
        <p:sp>
          <p:nvSpPr>
            <p:cNvPr id="285" name="TextBox 285"/>
            <p:cNvSpPr txBox="1"/>
            <p:nvPr/>
          </p:nvSpPr>
          <p:spPr>
            <a:xfrm>
              <a:off x="4535805" y="6750368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echo</a:t>
              </a:r>
            </a:p>
          </p:txBody>
        </p:sp>
        <p:sp>
          <p:nvSpPr>
            <p:cNvPr id="286" name="TextBox 286"/>
            <p:cNvSpPr txBox="1"/>
            <p:nvPr/>
          </p:nvSpPr>
          <p:spPr>
            <a:xfrm>
              <a:off x="4411147" y="7398068"/>
              <a:ext cx="169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</a:t>
              </a:r>
            </a:p>
          </p:txBody>
        </p:sp>
        <p:sp>
          <p:nvSpPr>
            <p:cNvPr id="287" name="TextBox 287"/>
            <p:cNvSpPr txBox="1"/>
            <p:nvPr/>
          </p:nvSpPr>
          <p:spPr>
            <a:xfrm>
              <a:off x="4678680" y="7379018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done</a:t>
              </a:r>
            </a:p>
          </p:txBody>
        </p:sp>
        <p:sp>
          <p:nvSpPr>
            <p:cNvPr id="288" name="TextBox 288"/>
            <p:cNvSpPr txBox="1"/>
            <p:nvPr/>
          </p:nvSpPr>
          <p:spPr>
            <a:xfrm>
              <a:off x="847749" y="89030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K</a:t>
              </a:r>
            </a:p>
          </p:txBody>
        </p:sp>
        <p:sp>
          <p:nvSpPr>
            <p:cNvPr id="289" name="TextBox 289"/>
            <p:cNvSpPr txBox="1"/>
            <p:nvPr/>
          </p:nvSpPr>
          <p:spPr>
            <a:xfrm>
              <a:off x="1113472" y="8859679"/>
              <a:ext cx="57557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+ list</a:t>
              </a:r>
            </a:p>
          </p:txBody>
        </p:sp>
        <p:sp>
          <p:nvSpPr>
            <p:cNvPr id="290" name="TextBox 290"/>
            <p:cNvSpPr txBox="1"/>
            <p:nvPr/>
          </p:nvSpPr>
          <p:spPr>
            <a:xfrm>
              <a:off x="1782247" y="8903018"/>
              <a:ext cx="169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</a:t>
              </a:r>
            </a:p>
          </p:txBody>
        </p:sp>
        <p:sp>
          <p:nvSpPr>
            <p:cNvPr id="291" name="TextBox 291"/>
            <p:cNvSpPr txBox="1"/>
            <p:nvPr/>
          </p:nvSpPr>
          <p:spPr>
            <a:xfrm>
              <a:off x="2065972" y="8859679"/>
              <a:ext cx="7961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+ *.txt</a:t>
              </a:r>
            </a:p>
          </p:txBody>
        </p:sp>
        <p:sp>
          <p:nvSpPr>
            <p:cNvPr id="292" name="TextBox 292"/>
            <p:cNvSpPr txBox="1"/>
            <p:nvPr/>
          </p:nvSpPr>
          <p:spPr>
            <a:xfrm>
              <a:off x="2925247" y="8903018"/>
              <a:ext cx="169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</a:t>
              </a:r>
            </a:p>
          </p:txBody>
        </p:sp>
        <p:sp>
          <p:nvSpPr>
            <p:cNvPr id="293" name="TextBox 293"/>
            <p:cNvSpPr txBox="1"/>
            <p:nvPr/>
          </p:nvSpPr>
          <p:spPr>
            <a:xfrm>
              <a:off x="3208972" y="8859679"/>
              <a:ext cx="6805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+ done</a:t>
              </a:r>
            </a:p>
          </p:txBody>
        </p:sp>
        <p:sp>
          <p:nvSpPr>
            <p:cNvPr id="294" name="TextBox 294"/>
            <p:cNvSpPr txBox="1"/>
            <p:nvPr/>
          </p:nvSpPr>
          <p:spPr>
            <a:xfrm>
              <a:off x="4010049" y="89030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</a:t>
              </a:r>
            </a:p>
          </p:txBody>
        </p:sp>
        <p:sp>
          <p:nvSpPr>
            <p:cNvPr id="295" name="TextBox 295"/>
            <p:cNvSpPr txBox="1"/>
            <p:nvPr/>
          </p:nvSpPr>
          <p:spPr>
            <a:xfrm>
              <a:off x="4275772" y="8859679"/>
              <a:ext cx="6805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+ echo</a:t>
              </a:r>
            </a:p>
          </p:txBody>
        </p:sp>
        <p:sp>
          <p:nvSpPr>
            <p:cNvPr id="296" name="TextBox 296"/>
            <p:cNvSpPr txBox="1"/>
            <p:nvPr/>
          </p:nvSpPr>
          <p:spPr>
            <a:xfrm>
              <a:off x="942999" y="101793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</a:t>
              </a:r>
            </a:p>
          </p:txBody>
        </p:sp>
        <p:sp>
          <p:nvSpPr>
            <p:cNvPr id="297" name="TextBox 297"/>
            <p:cNvSpPr txBox="1"/>
            <p:nvPr/>
          </p:nvSpPr>
          <p:spPr>
            <a:xfrm>
              <a:off x="1211580" y="10188892"/>
              <a:ext cx="5833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= verb</a:t>
              </a:r>
            </a:p>
          </p:txBody>
        </p:sp>
        <p:sp>
          <p:nvSpPr>
            <p:cNvPr id="298" name="TextBox 298"/>
            <p:cNvSpPr txBox="1"/>
            <p:nvPr/>
          </p:nvSpPr>
          <p:spPr>
            <a:xfrm>
              <a:off x="2257449" y="101793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K</a:t>
              </a:r>
            </a:p>
          </p:txBody>
        </p:sp>
        <p:sp>
          <p:nvSpPr>
            <p:cNvPr id="299" name="TextBox 299"/>
            <p:cNvSpPr txBox="1"/>
            <p:nvPr/>
          </p:nvSpPr>
          <p:spPr>
            <a:xfrm>
              <a:off x="2526030" y="10188892"/>
              <a:ext cx="5383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= kind</a:t>
              </a:r>
            </a:p>
          </p:txBody>
        </p:sp>
        <p:sp>
          <p:nvSpPr>
            <p:cNvPr id="300" name="TextBox 300"/>
            <p:cNvSpPr txBox="1"/>
            <p:nvPr/>
          </p:nvSpPr>
          <p:spPr>
            <a:xfrm>
              <a:off x="3534847" y="10179368"/>
              <a:ext cx="169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</a:t>
              </a:r>
            </a:p>
          </p:txBody>
        </p:sp>
        <p:sp>
          <p:nvSpPr>
            <p:cNvPr id="301" name="TextBox 301"/>
            <p:cNvSpPr txBox="1"/>
            <p:nvPr/>
          </p:nvSpPr>
          <p:spPr>
            <a:xfrm>
              <a:off x="3821430" y="10188892"/>
              <a:ext cx="16724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= argument/literal</a:t>
              </a:r>
            </a:p>
          </p:txBody>
        </p:sp>
        <p:sp>
          <p:nvSpPr>
            <p:cNvPr id="302" name="TextBox 302"/>
            <p:cNvSpPr txBox="1"/>
            <p:nvPr/>
          </p:nvSpPr>
          <p:spPr>
            <a:xfrm>
              <a:off x="6163628" y="336709"/>
              <a:ext cx="118638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- Reveal</a:t>
              </a:r>
            </a:p>
          </p:txBody>
        </p:sp>
        <p:sp>
          <p:nvSpPr>
            <p:cNvPr id="303" name="TextBox 303"/>
            <p:cNvSpPr txBox="1"/>
            <p:nvPr/>
          </p:nvSpPr>
          <p:spPr>
            <a:xfrm>
              <a:off x="7720012" y="550069"/>
              <a:ext cx="198536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score each node</a:t>
              </a:r>
            </a:p>
          </p:txBody>
        </p:sp>
        <p:sp>
          <p:nvSpPr>
            <p:cNvPr id="304" name="TextBox 304"/>
            <p:cNvSpPr txBox="1"/>
            <p:nvPr/>
          </p:nvSpPr>
          <p:spPr>
            <a:xfrm>
              <a:off x="10339388" y="550069"/>
              <a:ext cx="163532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token budget</a:t>
              </a:r>
            </a:p>
          </p:txBody>
        </p:sp>
        <p:sp>
          <p:nvSpPr>
            <p:cNvPr id="305" name="TextBox 305"/>
            <p:cNvSpPr txBox="1"/>
            <p:nvPr/>
          </p:nvSpPr>
          <p:spPr>
            <a:xfrm>
              <a:off x="6035659" y="2109311"/>
              <a:ext cx="137798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repository-</a:t>
              </a:r>
            </a:p>
          </p:txBody>
        </p:sp>
        <p:sp>
          <p:nvSpPr>
            <p:cNvPr id="306" name="TextBox 306"/>
            <p:cNvSpPr txBox="1"/>
            <p:nvPr/>
          </p:nvSpPr>
          <p:spPr>
            <a:xfrm>
              <a:off x="6415207" y="2383155"/>
              <a:ext cx="61888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scale</a:t>
              </a:r>
            </a:p>
          </p:txBody>
        </p:sp>
        <p:sp>
          <p:nvSpPr>
            <p:cNvPr id="307" name="TextBox 307"/>
            <p:cNvSpPr txBox="1"/>
            <p:nvPr/>
          </p:nvSpPr>
          <p:spPr>
            <a:xfrm>
              <a:off x="6047161" y="2656999"/>
              <a:ext cx="135497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workspaces</a:t>
              </a:r>
            </a:p>
          </p:txBody>
        </p:sp>
        <p:sp>
          <p:nvSpPr>
            <p:cNvPr id="308" name="TextBox 308"/>
            <p:cNvSpPr txBox="1"/>
            <p:nvPr/>
          </p:nvSpPr>
          <p:spPr>
            <a:xfrm>
              <a:off x="8136255" y="1035368"/>
              <a:ext cx="1051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name match</a:t>
              </a:r>
            </a:p>
          </p:txBody>
        </p:sp>
        <p:sp>
          <p:nvSpPr>
            <p:cNvPr id="309" name="TextBox 309"/>
            <p:cNvSpPr txBox="1"/>
            <p:nvPr/>
          </p:nvSpPr>
          <p:spPr>
            <a:xfrm>
              <a:off x="7585710" y="13373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lock_type.tsv</a:t>
              </a:r>
            </a:p>
          </p:txBody>
        </p:sp>
        <p:sp>
          <p:nvSpPr>
            <p:cNvPr id="310" name="TextBox 310"/>
            <p:cNvSpPr txBox="1"/>
            <p:nvPr/>
          </p:nvSpPr>
          <p:spPr>
            <a:xfrm>
              <a:off x="7861935" y="1565910"/>
              <a:ext cx="7825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deploy.sh</a:t>
              </a:r>
            </a:p>
          </p:txBody>
        </p:sp>
        <p:sp>
          <p:nvSpPr>
            <p:cNvPr id="311" name="TextBox 311"/>
            <p:cNvSpPr txBox="1"/>
            <p:nvPr/>
          </p:nvSpPr>
          <p:spPr>
            <a:xfrm>
              <a:off x="7833360" y="1784985"/>
              <a:ext cx="8225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parser.sh</a:t>
              </a:r>
            </a:p>
          </p:txBody>
        </p:sp>
        <p:sp>
          <p:nvSpPr>
            <p:cNvPr id="312" name="TextBox 312"/>
            <p:cNvSpPr txBox="1"/>
            <p:nvPr/>
          </p:nvSpPr>
          <p:spPr>
            <a:xfrm>
              <a:off x="8096250" y="2219325"/>
              <a:ext cx="11482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depth prior</a:t>
              </a:r>
            </a:p>
          </p:txBody>
        </p:sp>
        <p:sp>
          <p:nvSpPr>
            <p:cNvPr id="313" name="TextBox 313"/>
            <p:cNvSpPr txBox="1"/>
            <p:nvPr/>
          </p:nvSpPr>
          <p:spPr>
            <a:xfrm>
              <a:off x="7890510" y="248031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depth 3</a:t>
              </a:r>
            </a:p>
          </p:txBody>
        </p:sp>
        <p:sp>
          <p:nvSpPr>
            <p:cNvPr id="314" name="TextBox 314"/>
            <p:cNvSpPr txBox="1"/>
            <p:nvPr/>
          </p:nvSpPr>
          <p:spPr>
            <a:xfrm>
              <a:off x="7890510" y="268986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depth 2</a:t>
              </a:r>
            </a:p>
          </p:txBody>
        </p:sp>
        <p:sp>
          <p:nvSpPr>
            <p:cNvPr id="315" name="TextBox 315"/>
            <p:cNvSpPr txBox="1"/>
            <p:nvPr/>
          </p:nvSpPr>
          <p:spPr>
            <a:xfrm>
              <a:off x="7783830" y="3202305"/>
              <a:ext cx="14725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PDF</a:t>
              </a:r>
            </a:p>
          </p:txBody>
        </p:sp>
        <p:sp>
          <p:nvSpPr>
            <p:cNvPr id="316" name="TextBox 316"/>
            <p:cNvSpPr txBox="1"/>
            <p:nvPr/>
          </p:nvSpPr>
          <p:spPr>
            <a:xfrm>
              <a:off x="8039100" y="3133725"/>
              <a:ext cx="15382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extension prior</a:t>
              </a:r>
            </a:p>
          </p:txBody>
        </p:sp>
        <p:sp>
          <p:nvSpPr>
            <p:cNvPr id="317" name="TextBox 317"/>
            <p:cNvSpPr txBox="1"/>
            <p:nvPr/>
          </p:nvSpPr>
          <p:spPr>
            <a:xfrm>
              <a:off x="7938135" y="3442335"/>
              <a:ext cx="3265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.md</a:t>
              </a:r>
            </a:p>
          </p:txBody>
        </p:sp>
        <p:sp>
          <p:nvSpPr>
            <p:cNvPr id="318" name="TextBox 318"/>
            <p:cNvSpPr txBox="1"/>
            <p:nvPr/>
          </p:nvSpPr>
          <p:spPr>
            <a:xfrm>
              <a:off x="7938135" y="3670935"/>
              <a:ext cx="2945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.sh</a:t>
              </a:r>
            </a:p>
          </p:txBody>
        </p:sp>
        <p:sp>
          <p:nvSpPr>
            <p:cNvPr id="319" name="TextBox 319"/>
            <p:cNvSpPr txBox="1"/>
            <p:nvPr/>
          </p:nvSpPr>
          <p:spPr>
            <a:xfrm>
              <a:off x="10176510" y="927735"/>
              <a:ext cx="14146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/workspace_meta</a:t>
              </a:r>
            </a:p>
          </p:txBody>
        </p:sp>
        <p:sp>
          <p:nvSpPr>
            <p:cNvPr id="320" name="TextBox 320"/>
            <p:cNvSpPr txBox="1"/>
            <p:nvPr/>
          </p:nvSpPr>
          <p:spPr>
            <a:xfrm>
              <a:off x="10384155" y="1273492"/>
              <a:ext cx="4393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/init</a:t>
              </a:r>
            </a:p>
          </p:txBody>
        </p:sp>
        <p:sp>
          <p:nvSpPr>
            <p:cNvPr id="321" name="TextBox 321"/>
            <p:cNvSpPr txBox="1"/>
            <p:nvPr/>
          </p:nvSpPr>
          <p:spPr>
            <a:xfrm>
              <a:off x="10633710" y="1632585"/>
              <a:ext cx="16466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note_2024_06_08.md</a:t>
              </a:r>
            </a:p>
          </p:txBody>
        </p:sp>
        <p:sp>
          <p:nvSpPr>
            <p:cNvPr id="322" name="TextBox 322"/>
            <p:cNvSpPr txBox="1"/>
            <p:nvPr/>
          </p:nvSpPr>
          <p:spPr>
            <a:xfrm>
              <a:off x="10633710" y="19754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lock_type.tsv</a:t>
              </a:r>
            </a:p>
          </p:txBody>
        </p:sp>
        <p:sp>
          <p:nvSpPr>
            <p:cNvPr id="323" name="TextBox 323"/>
            <p:cNvSpPr txBox="1"/>
            <p:nvPr/>
          </p:nvSpPr>
          <p:spPr>
            <a:xfrm>
              <a:off x="10633710" y="2318385"/>
              <a:ext cx="16226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lock_candidates.tsv</a:t>
              </a:r>
            </a:p>
          </p:txBody>
        </p:sp>
        <p:sp>
          <p:nvSpPr>
            <p:cNvPr id="324" name="TextBox 324"/>
            <p:cNvSpPr txBox="1"/>
            <p:nvPr/>
          </p:nvSpPr>
          <p:spPr>
            <a:xfrm>
              <a:off x="10365105" y="2616518"/>
              <a:ext cx="7813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/scripts</a:t>
              </a:r>
            </a:p>
          </p:txBody>
        </p:sp>
        <p:sp>
          <p:nvSpPr>
            <p:cNvPr id="325" name="TextBox 325"/>
            <p:cNvSpPr txBox="1"/>
            <p:nvPr/>
          </p:nvSpPr>
          <p:spPr>
            <a:xfrm>
              <a:off x="10633710" y="2975610"/>
              <a:ext cx="7825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deploy.sh</a:t>
              </a:r>
            </a:p>
          </p:txBody>
        </p:sp>
        <p:sp>
          <p:nvSpPr>
            <p:cNvPr id="326" name="TextBox 326"/>
            <p:cNvSpPr txBox="1"/>
            <p:nvPr/>
          </p:nvSpPr>
          <p:spPr>
            <a:xfrm>
              <a:off x="10365105" y="3321368"/>
              <a:ext cx="7813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/configs</a:t>
              </a:r>
            </a:p>
          </p:txBody>
        </p:sp>
        <p:sp>
          <p:nvSpPr>
            <p:cNvPr id="327" name="TextBox 327"/>
            <p:cNvSpPr txBox="1"/>
            <p:nvPr/>
          </p:nvSpPr>
          <p:spPr>
            <a:xfrm>
              <a:off x="10633710" y="3670935"/>
              <a:ext cx="8225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parser.sh</a:t>
              </a:r>
            </a:p>
          </p:txBody>
        </p:sp>
        <p:sp>
          <p:nvSpPr>
            <p:cNvPr id="328" name="TextBox 328"/>
            <p:cNvSpPr txBox="1"/>
            <p:nvPr/>
          </p:nvSpPr>
          <p:spPr>
            <a:xfrm>
              <a:off x="12284631" y="1428750"/>
              <a:ext cx="11482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render into</a:t>
              </a:r>
            </a:p>
          </p:txBody>
        </p:sp>
        <p:sp>
          <p:nvSpPr>
            <p:cNvPr id="329" name="TextBox 329"/>
            <p:cNvSpPr txBox="1"/>
            <p:nvPr/>
          </p:nvSpPr>
          <p:spPr>
            <a:xfrm>
              <a:off x="12489656" y="1666875"/>
              <a:ext cx="7381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prompt</a:t>
              </a:r>
            </a:p>
          </p:txBody>
        </p:sp>
        <p:sp>
          <p:nvSpPr>
            <p:cNvPr id="330" name="TextBox 330"/>
            <p:cNvSpPr txBox="1"/>
            <p:nvPr/>
          </p:nvSpPr>
          <p:spPr>
            <a:xfrm>
              <a:off x="13960792" y="775811"/>
              <a:ext cx="367826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Static initial-workspace layout:</a:t>
              </a:r>
            </a:p>
          </p:txBody>
        </p:sp>
        <p:sp>
          <p:nvSpPr>
            <p:cNvPr id="331" name="TextBox 331"/>
            <p:cNvSpPr txBox="1"/>
            <p:nvPr/>
          </p:nvSpPr>
          <p:spPr>
            <a:xfrm>
              <a:off x="13960792" y="1049655"/>
              <a:ext cx="404631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[sigma_reveal_rd B=2400ch |T*|=4/4</a:t>
              </a:r>
            </a:p>
          </p:txBody>
        </p:sp>
        <p:sp>
          <p:nvSpPr>
            <p:cNvPr id="332" name="TextBox 332"/>
            <p:cNvSpPr txBox="1"/>
            <p:nvPr/>
          </p:nvSpPr>
          <p:spPr>
            <a:xfrm>
              <a:off x="13960792" y="1323499"/>
              <a:ext cx="311469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w_data=0.50 w_code=0.50]</a:t>
              </a:r>
            </a:p>
          </p:txBody>
        </p:sp>
        <p:sp>
          <p:nvSpPr>
            <p:cNvPr id="333" name="TextBox 333"/>
            <p:cNvSpPr txBox="1"/>
            <p:nvPr/>
          </p:nvSpPr>
          <p:spPr>
            <a:xfrm>
              <a:off x="13960792" y="1597342"/>
              <a:ext cx="56138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init/</a:t>
              </a:r>
            </a:p>
          </p:txBody>
        </p:sp>
        <p:sp>
          <p:nvSpPr>
            <p:cNvPr id="334" name="TextBox 334"/>
            <p:cNvSpPr txBox="1"/>
            <p:nvPr/>
          </p:nvSpPr>
          <p:spPr>
            <a:xfrm>
              <a:off x="13960792" y="1871186"/>
              <a:ext cx="320671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note_2024_06_08.md (186 B)</a:t>
              </a:r>
            </a:p>
          </p:txBody>
        </p:sp>
        <p:sp>
          <p:nvSpPr>
            <p:cNvPr id="335" name="TextBox 335"/>
            <p:cNvSpPr txBox="1"/>
            <p:nvPr/>
          </p:nvSpPr>
          <p:spPr>
            <a:xfrm>
              <a:off x="13960792" y="2145030"/>
              <a:ext cx="541498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'# Storage audit notes, ... after nightly scan'</a:t>
              </a:r>
            </a:p>
          </p:txBody>
        </p:sp>
        <p:sp>
          <p:nvSpPr>
            <p:cNvPr id="336" name="TextBox 336"/>
            <p:cNvSpPr txBox="1"/>
            <p:nvPr/>
          </p:nvSpPr>
          <p:spPr>
            <a:xfrm>
              <a:off x="13960792" y="2418874"/>
              <a:ext cx="240161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lock_type.tsv (72 B)</a:t>
              </a:r>
            </a:p>
          </p:txBody>
        </p:sp>
        <p:sp>
          <p:nvSpPr>
            <p:cNvPr id="337" name="TextBox 337"/>
            <p:cNvSpPr txBox="1"/>
            <p:nvPr/>
          </p:nvSpPr>
          <p:spPr>
            <a:xfrm>
              <a:off x="13960792" y="2692718"/>
              <a:ext cx="164251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'lock_id type'</a:t>
              </a:r>
            </a:p>
          </p:txBody>
        </p:sp>
        <p:sp>
          <p:nvSpPr>
            <p:cNvPr id="338" name="TextBox 338"/>
            <p:cNvSpPr txBox="1"/>
            <p:nvPr/>
          </p:nvSpPr>
          <p:spPr>
            <a:xfrm>
              <a:off x="13960792" y="2966561"/>
              <a:ext cx="31722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lock_candidates.tsv (128 B)</a:t>
              </a:r>
            </a:p>
          </p:txBody>
        </p:sp>
        <p:sp>
          <p:nvSpPr>
            <p:cNvPr id="339" name="TextBox 339"/>
            <p:cNvSpPr txBox="1"/>
            <p:nvPr/>
          </p:nvSpPr>
          <p:spPr>
            <a:xfrm>
              <a:off x="13960792" y="3240405"/>
              <a:ext cx="264314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'lock_id status owner'</a:t>
              </a:r>
            </a:p>
          </p:txBody>
        </p:sp>
        <p:sp>
          <p:nvSpPr>
            <p:cNvPr id="340" name="TextBox 340"/>
            <p:cNvSpPr txBox="1"/>
            <p:nvPr/>
          </p:nvSpPr>
          <p:spPr>
            <a:xfrm>
              <a:off x="13960792" y="3514249"/>
              <a:ext cx="457538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[end of static initial-workspace layout]</a:t>
              </a:r>
            </a:p>
          </p:txBody>
        </p:sp>
        <p:sp>
          <p:nvSpPr>
            <p:cNvPr id="341" name="TextBox 341"/>
            <p:cNvSpPr txBox="1"/>
            <p:nvPr/>
          </p:nvSpPr>
          <p:spPr>
            <a:xfrm>
              <a:off x="11711559" y="2960370"/>
              <a:ext cx="2369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.</a:t>
              </a:r>
            </a:p>
          </p:txBody>
        </p:sp>
        <p:sp>
          <p:nvSpPr>
            <p:cNvPr id="342" name="TextBox 342"/>
            <p:cNvSpPr txBox="1"/>
            <p:nvPr/>
          </p:nvSpPr>
          <p:spPr>
            <a:xfrm>
              <a:off x="11883009" y="2960370"/>
              <a:ext cx="2369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.</a:t>
              </a:r>
            </a:p>
          </p:txBody>
        </p:sp>
        <p:sp>
          <p:nvSpPr>
            <p:cNvPr id="343" name="TextBox 343"/>
            <p:cNvSpPr txBox="1"/>
            <p:nvPr/>
          </p:nvSpPr>
          <p:spPr>
            <a:xfrm>
              <a:off x="12064365" y="2914650"/>
              <a:ext cx="17983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partial workspace</a:t>
              </a:r>
            </a:p>
          </p:txBody>
        </p:sp>
        <p:sp>
          <p:nvSpPr>
            <p:cNvPr id="344" name="TextBox 344"/>
            <p:cNvSpPr txBox="1"/>
            <p:nvPr/>
          </p:nvSpPr>
          <p:spPr>
            <a:xfrm>
              <a:off x="12694444" y="3152775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gains</a:t>
              </a:r>
            </a:p>
          </p:txBody>
        </p:sp>
        <p:sp>
          <p:nvSpPr>
            <p:cNvPr id="345" name="TextBox 345"/>
            <p:cNvSpPr txBox="1"/>
            <p:nvPr/>
          </p:nvSpPr>
          <p:spPr>
            <a:xfrm>
              <a:off x="5845492" y="4228624"/>
              <a:ext cx="3181755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episode-level scope</a:t>
              </a:r>
            </a:p>
          </p:txBody>
        </p:sp>
        <p:sp>
          <p:nvSpPr>
            <p:cNvPr id="346" name="TextBox 346"/>
            <p:cNvSpPr txBox="1"/>
            <p:nvPr/>
          </p:nvSpPr>
          <p:spPr>
            <a:xfrm>
              <a:off x="10369868" y="4604861"/>
              <a:ext cx="79140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median</a:t>
              </a:r>
            </a:p>
          </p:txBody>
        </p:sp>
        <p:sp>
          <p:nvSpPr>
            <p:cNvPr id="347" name="TextBox 347"/>
            <p:cNvSpPr txBox="1"/>
            <p:nvPr/>
          </p:nvSpPr>
          <p:spPr>
            <a:xfrm>
              <a:off x="7171372" y="5573554"/>
              <a:ext cx="55456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low R</a:t>
              </a:r>
            </a:p>
          </p:txBody>
        </p:sp>
        <p:sp>
          <p:nvSpPr>
            <p:cNvPr id="348" name="TextBox 348"/>
            <p:cNvSpPr txBox="1"/>
            <p:nvPr/>
          </p:nvSpPr>
          <p:spPr>
            <a:xfrm>
              <a:off x="14153198" y="5573554"/>
              <a:ext cx="62807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high R</a:t>
              </a:r>
            </a:p>
          </p:txBody>
        </p:sp>
        <p:sp>
          <p:nvSpPr>
            <p:cNvPr id="349" name="TextBox 349"/>
            <p:cNvSpPr txBox="1"/>
            <p:nvPr/>
          </p:nvSpPr>
          <p:spPr>
            <a:xfrm>
              <a:off x="12483465" y="5930265"/>
              <a:ext cx="23140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episode return axis</a:t>
              </a:r>
            </a:p>
          </p:txBody>
        </p:sp>
        <p:sp>
          <p:nvSpPr>
            <p:cNvPr id="350" name="TextBox 350"/>
            <p:cNvSpPr txBox="1"/>
            <p:nvPr/>
          </p:nvSpPr>
          <p:spPr>
            <a:xfrm>
              <a:off x="5913120" y="6055995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turn-level scope</a:t>
              </a:r>
            </a:p>
          </p:txBody>
        </p:sp>
        <p:sp>
          <p:nvSpPr>
            <p:cNvPr id="351" name="TextBox 351"/>
            <p:cNvSpPr txBox="1"/>
            <p:nvPr/>
          </p:nvSpPr>
          <p:spPr>
            <a:xfrm>
              <a:off x="6077902" y="7342346"/>
              <a:ext cx="164189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0 1 ... k-1 k ... K</a:t>
              </a:r>
            </a:p>
          </p:txBody>
        </p:sp>
        <p:sp>
          <p:nvSpPr>
            <p:cNvPr id="352" name="TextBox 352"/>
            <p:cNvSpPr txBox="1"/>
            <p:nvPr/>
          </p:nvSpPr>
          <p:spPr>
            <a:xfrm>
              <a:off x="6077902" y="811387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0 1 ... k-1 k ... K'</a:t>
              </a:r>
            </a:p>
          </p:txBody>
        </p:sp>
        <p:sp>
          <p:nvSpPr>
            <p:cNvPr id="353" name="TextBox 353"/>
            <p:cNvSpPr txBox="1"/>
            <p:nvPr/>
          </p:nvSpPr>
          <p:spPr>
            <a:xfrm>
              <a:off x="8132445" y="6575108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l-window snippets AST</a:t>
              </a:r>
            </a:p>
          </p:txBody>
        </p:sp>
        <p:sp>
          <p:nvSpPr>
            <p:cNvPr id="354" name="TextBox 354"/>
            <p:cNvSpPr txBox="1"/>
            <p:nvPr/>
          </p:nvSpPr>
          <p:spPr>
            <a:xfrm>
              <a:off x="8686276" y="7317105"/>
              <a:ext cx="51539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355" name="TextBox 355"/>
            <p:cNvSpPr txBox="1"/>
            <p:nvPr/>
          </p:nvSpPr>
          <p:spPr>
            <a:xfrm>
              <a:off x="10219801" y="7317105"/>
              <a:ext cx="51539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356" name="TextBox 356"/>
            <p:cNvSpPr txBox="1"/>
            <p:nvPr/>
          </p:nvSpPr>
          <p:spPr>
            <a:xfrm>
              <a:off x="11629501" y="7317105"/>
              <a:ext cx="51539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357" name="TextBox 357"/>
            <p:cNvSpPr txBox="1"/>
            <p:nvPr/>
          </p:nvSpPr>
          <p:spPr>
            <a:xfrm>
              <a:off x="5873115" y="8573452"/>
              <a:ext cx="2802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tree-level scope</a:t>
              </a:r>
            </a:p>
          </p:txBody>
        </p:sp>
        <p:sp>
          <p:nvSpPr>
            <p:cNvPr id="358" name="TextBox 358"/>
            <p:cNvSpPr txBox="1"/>
            <p:nvPr/>
          </p:nvSpPr>
          <p:spPr>
            <a:xfrm>
              <a:off x="10857333" y="9685972"/>
              <a:ext cx="4785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359" name="TextBox 359"/>
            <p:cNvSpPr txBox="1"/>
            <p:nvPr/>
          </p:nvSpPr>
          <p:spPr>
            <a:xfrm>
              <a:off x="11455718" y="10300811"/>
              <a:ext cx="84891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prompt</a:t>
              </a:r>
            </a:p>
          </p:txBody>
        </p:sp>
        <p:sp>
          <p:nvSpPr>
            <p:cNvPr id="360" name="TextBox 360"/>
            <p:cNvSpPr txBox="1"/>
            <p:nvPr/>
          </p:nvSpPr>
          <p:spPr>
            <a:xfrm>
              <a:off x="13055918" y="10300811"/>
              <a:ext cx="175752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abstract state</a:t>
              </a:r>
            </a:p>
          </p:txBody>
        </p:sp>
        <p:sp>
          <p:nvSpPr>
            <p:cNvPr id="361" name="TextBox 361"/>
            <p:cNvSpPr txBox="1"/>
            <p:nvPr/>
          </p:nvSpPr>
          <p:spPr>
            <a:xfrm>
              <a:off x="15370492" y="10300811"/>
              <a:ext cx="144699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action group</a:t>
              </a:r>
            </a:p>
          </p:txBody>
        </p:sp>
        <p:sp>
          <p:nvSpPr>
            <p:cNvPr id="362" name="TextBox 362"/>
            <p:cNvSpPr txBox="1"/>
            <p:nvPr/>
          </p:nvSpPr>
          <p:spPr>
            <a:xfrm>
              <a:off x="17740884" y="4360545"/>
              <a:ext cx="10370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fusion</a:t>
              </a:r>
            </a:p>
          </p:txBody>
        </p:sp>
        <p:sp>
          <p:nvSpPr>
            <p:cNvPr id="363" name="TextBox 363"/>
            <p:cNvSpPr txBox="1"/>
            <p:nvPr/>
          </p:nvSpPr>
          <p:spPr>
            <a:xfrm>
              <a:off x="18074259" y="5455920"/>
              <a:ext cx="2369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+</a:t>
              </a:r>
            </a:p>
          </p:txBody>
        </p:sp>
        <p:sp>
          <p:nvSpPr>
            <p:cNvPr id="364" name="TextBox 364"/>
            <p:cNvSpPr txBox="1"/>
            <p:nvPr/>
          </p:nvSpPr>
          <p:spPr>
            <a:xfrm>
              <a:off x="18074259" y="6484620"/>
              <a:ext cx="2369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+</a:t>
              </a:r>
            </a:p>
          </p:txBody>
        </p:sp>
        <p:sp>
          <p:nvSpPr>
            <p:cNvPr id="365" name="TextBox 365"/>
            <p:cNvSpPr txBox="1"/>
            <p:nvPr/>
          </p:nvSpPr>
          <p:spPr>
            <a:xfrm>
              <a:off x="17586008" y="7896701"/>
              <a:ext cx="123958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per-turn</a:t>
              </a:r>
            </a:p>
          </p:txBody>
        </p:sp>
        <p:sp>
          <p:nvSpPr>
            <p:cNvPr id="366" name="TextBox 366"/>
            <p:cNvSpPr txBox="1"/>
            <p:nvPr/>
          </p:nvSpPr>
          <p:spPr>
            <a:xfrm>
              <a:off x="17586008" y="8218170"/>
              <a:ext cx="138810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advantage</a:t>
              </a:r>
            </a:p>
          </p:txBody>
        </p:sp>
        <p:sp>
          <p:nvSpPr>
            <p:cNvPr id="367" name="TextBox 367"/>
            <p:cNvSpPr txBox="1"/>
            <p:nvPr/>
          </p:nvSpPr>
          <p:spPr>
            <a:xfrm>
              <a:off x="17404080" y="9279255"/>
              <a:ext cx="19155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gradient step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69" name="Editable Equation math-m-sibling"/>
              <p:cNvSpPr txBox="1"/>
              <p:nvPr/>
            </p:nvSpPr>
            <p:spPr>
              <a:xfrm>
                <a:off x="342900" y="1440180"/>
                <a:ext cx="53340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100"/>
                </a:pPr>
                <a:r>
                  <a:rPr lang="en-US" sz="21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21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69" name="Editable Equation math-m-sibling Fallback"/>
              <p:cNvSpPr txBox="1"/>
              <p:nvPr/>
            </p:nvSpPr>
            <p:spPr>
              <a:xfrm>
                <a:off x="342900" y="1440180"/>
                <a:ext cx="53340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100"/>
                </a:pPr>
                <a:r>
                  <a:rPr lang="en-US" sz="21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M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0" name="Editable Equation math-window-set"/>
              <p:cNvSpPr txBox="1"/>
              <p:nvPr/>
            </p:nvSpPr>
            <p:spPr>
              <a:xfrm>
                <a:off x="676275" y="3143250"/>
                <a:ext cx="1695450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Sup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</m:t>
                          </m:r>
                          <m:sSubSup>
                            <m:e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k−ℓ+1:k</m:t>
                              </m:r>
                            </m:sub>
                            <m:sup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(m)</m:t>
                              </m:r>
                            </m:sup>
                          </m:sSubSup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}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m=1</m:t>
                          </m:r>
                        </m:sub>
                        <m:sup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370" name="Editable Equation math-window-set Fallback"/>
              <p:cNvSpPr txBox="1"/>
              <p:nvPr/>
            </p:nvSpPr>
            <p:spPr>
              <a:xfrm>
                <a:off x="676275" y="3143250"/>
                <a:ext cx="1695450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\left\{a^{(m)}_{k-\ell+1:k}\right\}^{M}_{m=1}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1" name="Editable Equation math-l-range"/>
              <p:cNvSpPr txBox="1"/>
              <p:nvPr/>
            </p:nvSpPr>
            <p:spPr>
              <a:xfrm>
                <a:off x="628650" y="3886200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5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ℓ=1,2,3,…,K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71" name="Editable Equation math-l-range Fallback"/>
              <p:cNvSpPr txBox="1"/>
              <p:nvPr/>
            </p:nvSpPr>
            <p:spPr>
              <a:xfrm>
                <a:off x="628650" y="3886200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\ell=1,2,3,\ldots,K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2" name="Editable Equation math-ai-aj-set"/>
              <p:cNvSpPr txBox="1"/>
              <p:nvPr/>
            </p:nvSpPr>
            <p:spPr>
              <a:xfrm>
                <a:off x="2952750" y="2133600"/>
                <a:ext cx="2286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en-US" sz="15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e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a:rPr lang="en-US" sz="15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sSubSup>
                        <m:e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</m:t>
                          </m:r>
                          <m:sSubSup>
                            <m:e>
                              <m:r>
                                <a:rPr lang="en-US" sz="15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5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k−ℓ+1:k</m:t>
                              </m:r>
                            </m:sub>
                            <m:sup>
                              <m:r>
                                <a:rPr lang="en-US" sz="15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(m)</m:t>
                              </m:r>
                            </m:sup>
                          </m:sSubSup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}</m:t>
                          </m:r>
                        </m:e>
                        <m:sub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m=1</m:t>
                          </m:r>
                        </m:sub>
                        <m:sup>
                          <m:r>
                            <a:rPr lang="en-US" sz="15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372" name="Editable Equation math-ai-aj-set Fallback"/>
              <p:cNvSpPr txBox="1"/>
              <p:nvPr/>
            </p:nvSpPr>
            <p:spPr>
              <a:xfrm>
                <a:off x="2952750" y="2133600"/>
                <a:ext cx="2286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a_i,a_j\in\left\{a^{(m)}_{k-\ell+1:k}\right\}^{M}_{m=1}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3" name="Editable Equation math-i-not-j"/>
              <p:cNvSpPr txBox="1"/>
              <p:nvPr/>
            </p:nvSpPr>
            <p:spPr>
              <a:xfrm>
                <a:off x="3724275" y="2642235"/>
                <a:ext cx="666750" cy="240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5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i≠j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73" name="Editable Equation math-i-not-j Fallback"/>
              <p:cNvSpPr txBox="1"/>
              <p:nvPr/>
            </p:nvSpPr>
            <p:spPr>
              <a:xfrm>
                <a:off x="3724275" y="2642235"/>
                <a:ext cx="666750" cy="240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i\neq j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4" name="Editable Equation math-ai-label"/>
              <p:cNvSpPr txBox="1"/>
              <p:nvPr/>
            </p:nvSpPr>
            <p:spPr>
              <a:xfrm>
                <a:off x="971550" y="5286375"/>
                <a:ext cx="666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en-US" sz="18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74" name="Editable Equation math-ai-label Fallback"/>
              <p:cNvSpPr txBox="1"/>
              <p:nvPr/>
            </p:nvSpPr>
            <p:spPr>
              <a:xfrm>
                <a:off x="971550" y="5286375"/>
                <a:ext cx="666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a_i: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5" name="Editable Equation math-aj-label"/>
              <p:cNvSpPr txBox="1"/>
              <p:nvPr/>
            </p:nvSpPr>
            <p:spPr>
              <a:xfrm>
                <a:off x="3619500" y="5114925"/>
                <a:ext cx="666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a:rPr lang="en-US" sz="18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75" name="Editable Equation math-aj-label Fallback"/>
              <p:cNvSpPr txBox="1"/>
              <p:nvPr/>
            </p:nvSpPr>
            <p:spPr>
              <a:xfrm>
                <a:off x="3619500" y="5114925"/>
                <a:ext cx="666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a_j: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6" name="Editable Equation math-dist-formula"/>
              <p:cNvSpPr txBox="1"/>
              <p:nvPr/>
            </p:nvSpPr>
            <p:spPr>
              <a:xfrm>
                <a:off x="1028700" y="9401175"/>
                <a:ext cx="352425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8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d(</m:t>
                      </m:r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en-US" sz="18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a:rPr lang="en-US" sz="18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Lev</m:t>
                          </m:r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(σ(</m:t>
                          </m:r>
                          <m:sSub>
                            <m:e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),σ(</m:t>
                          </m:r>
                          <m:sSub>
                            <m:e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))</m:t>
                          </m:r>
                        </m:num>
                        <m:den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max(|σ(</m:t>
                          </m:r>
                          <m:sSub>
                            <m:e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)|,|σ(</m:t>
                          </m:r>
                          <m:sSub>
                            <m:e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875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)|)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76" name="Editable Equation math-dist-formula Fallback"/>
              <p:cNvSpPr txBox="1"/>
              <p:nvPr/>
            </p:nvSpPr>
            <p:spPr>
              <a:xfrm>
                <a:off x="1028700" y="9401175"/>
                <a:ext cx="352425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d(a_i,a_j)=\frac{\mathrm{Lev}(\sigma(a_i),\sigma(a_j))}{\max(|\sigma(a_i)|,|\sigma(a_j)|)}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7" name="Editable Equation math-sigma-title"/>
              <p:cNvSpPr txBox="1"/>
              <p:nvPr/>
            </p:nvSpPr>
            <p:spPr>
              <a:xfrm>
                <a:off x="5867400" y="323850"/>
                <a:ext cx="571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22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77" name="Editable Equation math-sigma-title Fallback"/>
              <p:cNvSpPr txBox="1"/>
              <p:nvPr/>
            </p:nvSpPr>
            <p:spPr>
              <a:xfrm>
                <a:off x="5867400" y="323850"/>
                <a:ext cx="571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\sigma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8" name="Editable Equation episode-header-math"/>
              <p:cNvSpPr txBox="1"/>
              <p:nvPr/>
            </p:nvSpPr>
            <p:spPr>
              <a:xfrm>
                <a:off x="8562975" y="4267200"/>
                <a:ext cx="5905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ep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78" name="Editable Equation episode-header-math Fallback"/>
              <p:cNvSpPr txBox="1"/>
              <p:nvPr/>
            </p:nvSpPr>
            <p:spPr>
              <a:xfrm>
                <a:off x="8562975" y="4267200"/>
                <a:ext cx="5905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A^{\mathrm{ep}}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79" name="Editable Equation episode-map"/>
              <p:cNvSpPr txBox="1"/>
              <p:nvPr/>
            </p:nvSpPr>
            <p:spPr>
              <a:xfrm>
                <a:off x="5981700" y="5114925"/>
                <a:ext cx="1524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τ</m:t>
                          </m:r>
                        </m:e>
                        <m:sup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(m)</m:t>
                          </m:r>
                        </m:sup>
                      </m:sSup>
                      <m:r>
                        <a:rPr lang="en-US" sz="18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↦</m:t>
                      </m:r>
                      <m:sSup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(m)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79" name="Editable Equation episode-map Fallback"/>
              <p:cNvSpPr txBox="1"/>
              <p:nvPr/>
            </p:nvSpPr>
            <p:spPr>
              <a:xfrm>
                <a:off x="5981700" y="5114925"/>
                <a:ext cx="1524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\tau^{(m)}\mapsto R^{(m)}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0" name="Editable Equation median-ru"/>
              <p:cNvSpPr txBox="1"/>
              <p:nvPr/>
            </p:nvSpPr>
            <p:spPr>
              <a:xfrm>
                <a:off x="11163300" y="4638675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80" name="Editable Equation median-ru Fallback"/>
              <p:cNvSpPr txBox="1"/>
              <p:nvPr/>
            </p:nvSpPr>
            <p:spPr>
              <a:xfrm>
                <a:off x="11163300" y="4638675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(R_u)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1" name="Editable Equation episode-r1-label"/>
              <p:cNvSpPr txBox="1"/>
              <p:nvPr/>
            </p:nvSpPr>
            <p:spPr>
              <a:xfrm>
                <a:off x="819150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81" name="Editable Equation episode-r1-label Fallback"/>
              <p:cNvSpPr txBox="1"/>
              <p:nvPr/>
            </p:nvSpPr>
            <p:spPr>
              <a:xfrm>
                <a:off x="819150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R^{(1)}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2" name="Editable Equation episode-r2-label"/>
              <p:cNvSpPr txBox="1"/>
              <p:nvPr/>
            </p:nvSpPr>
            <p:spPr>
              <a:xfrm>
                <a:off x="979170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82" name="Editable Equation episode-r2-label Fallback"/>
              <p:cNvSpPr txBox="1"/>
              <p:nvPr/>
            </p:nvSpPr>
            <p:spPr>
              <a:xfrm>
                <a:off x="979170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R^{(2)}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3" name="Editable Equation episode-r3-label"/>
              <p:cNvSpPr txBox="1"/>
              <p:nvPr/>
            </p:nvSpPr>
            <p:spPr>
              <a:xfrm>
                <a:off x="1194435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83" name="Editable Equation episode-r3-label Fallback"/>
              <p:cNvSpPr txBox="1"/>
              <p:nvPr/>
            </p:nvSpPr>
            <p:spPr>
              <a:xfrm>
                <a:off x="1194435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R^{(3)}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4" name="Editable Equation episode-r4-label"/>
              <p:cNvSpPr txBox="1"/>
              <p:nvPr/>
            </p:nvSpPr>
            <p:spPr>
              <a:xfrm>
                <a:off x="1341120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4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84" name="Editable Equation episode-r4-label Fallback"/>
              <p:cNvSpPr txBox="1"/>
              <p:nvPr/>
            </p:nvSpPr>
            <p:spPr>
              <a:xfrm>
                <a:off x="13411200" y="5629275"/>
                <a:ext cx="6191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425"/>
                </a:pPr>
                <a:r>
                  <a:rPr lang="en-US" sz="14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R^{(4)}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5" name="Editable Equation episode-low-cond"/>
              <p:cNvSpPr txBox="1"/>
              <p:nvPr/>
            </p:nvSpPr>
            <p:spPr>
              <a:xfrm>
                <a:off x="8001000" y="4914900"/>
                <a:ext cx="17621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(m)</m:t>
                          </m:r>
                        </m:sup>
                      </m:sSup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median</m:t>
                      </m:r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85" name="Editable Equation episode-low-cond Fallback"/>
              <p:cNvSpPr txBox="1"/>
              <p:nvPr/>
            </p:nvSpPr>
            <p:spPr>
              <a:xfrm>
                <a:off x="8001000" y="4914900"/>
                <a:ext cx="17621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R^{(m)}&lt;\mathrm{median}(R_u)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6" name="Editable Equation episode-high-cond"/>
              <p:cNvSpPr txBox="1"/>
              <p:nvPr/>
            </p:nvSpPr>
            <p:spPr>
              <a:xfrm>
                <a:off x="11963400" y="4914900"/>
                <a:ext cx="17907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(m)</m:t>
                          </m:r>
                        </m:sup>
                      </m:sSup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median</m:t>
                      </m:r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86" name="Editable Equation episode-high-cond Fallback"/>
              <p:cNvSpPr txBox="1"/>
              <p:nvPr/>
            </p:nvSpPr>
            <p:spPr>
              <a:xfrm>
                <a:off x="11963400" y="4914900"/>
                <a:ext cx="17907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R^{(m)}&gt;\mathrm{median}(R_u)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7" name="Editable Equation episode-mad"/>
              <p:cNvSpPr txBox="1"/>
              <p:nvPr/>
            </p:nvSpPr>
            <p:spPr>
              <a:xfrm>
                <a:off x="10306050" y="5943600"/>
                <a:ext cx="13335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MAD</m:t>
                      </m:r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87" name="Editable Equation episode-mad Fallback"/>
              <p:cNvSpPr txBox="1"/>
              <p:nvPr/>
            </p:nvSpPr>
            <p:spPr>
              <a:xfrm>
                <a:off x="10306050" y="5943600"/>
                <a:ext cx="13335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\pm\mathrm{MAD}(R_u)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8" name="Editable Equation episode-adv-formula"/>
              <p:cNvSpPr txBox="1"/>
              <p:nvPr/>
            </p:nvSpPr>
            <p:spPr>
              <a:xfrm>
                <a:off x="13830300" y="4467225"/>
                <a:ext cx="300037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Sup>
                        <m:e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u,n,k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ep</m:t>
                          </m:r>
                        </m:sup>
                      </m:sSubSup>
                      <m:r>
                        <a:rPr lang="en-US" sz="19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median</m:t>
                          </m:r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sub>
                          </m:s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MAD</m:t>
                          </m:r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sub>
                          </m:s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)+ϵ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88" name="Editable Equation episode-adv-formula Fallback"/>
              <p:cNvSpPr txBox="1"/>
              <p:nvPr/>
            </p:nvSpPr>
            <p:spPr>
              <a:xfrm>
                <a:off x="13830300" y="4467225"/>
                <a:ext cx="300037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A^{\mathrm{ep}}_{u,n,k}=\frac{R_n-\mathrm{median}(R_u)}{\mathrm{MAD}(R_u)+\epsilon}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89" name="Editable Equation turn-header-math"/>
              <p:cNvSpPr txBox="1"/>
              <p:nvPr/>
            </p:nvSpPr>
            <p:spPr>
              <a:xfrm>
                <a:off x="8153400" y="6096000"/>
                <a:ext cx="838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intent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89" name="Editable Equation turn-header-math Fallback"/>
              <p:cNvSpPr txBox="1"/>
              <p:nvPr/>
            </p:nvSpPr>
            <p:spPr>
              <a:xfrm>
                <a:off x="8153400" y="6096000"/>
                <a:ext cx="838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A^{\mathrm{intent}}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0" name="Editable Equation turn-l-full"/>
              <p:cNvSpPr txBox="1"/>
              <p:nvPr/>
            </p:nvSpPr>
            <p:spPr>
              <a:xfrm>
                <a:off x="5834062" y="6677025"/>
                <a:ext cx="904875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2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ℓ=</m:t>
                      </m:r>
                      <m:r>
                        <m:rPr>
                          <m:sty m:val="p"/>
                        </m:rPr>
                        <a:rPr lang="en-US" sz="12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full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0" name="Editable Equation turn-l-full Fallback"/>
              <p:cNvSpPr txBox="1"/>
              <p:nvPr/>
            </p:nvSpPr>
            <p:spPr>
              <a:xfrm>
                <a:off x="5834062" y="6677025"/>
                <a:ext cx="904875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\ell=\mathrm{full}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1" name="Editable Equation turn-l-one"/>
              <p:cNvSpPr txBox="1"/>
              <p:nvPr/>
            </p:nvSpPr>
            <p:spPr>
              <a:xfrm>
                <a:off x="6405562" y="6915150"/>
                <a:ext cx="523875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2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ℓ=1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1" name="Editable Equation turn-l-one Fallback"/>
              <p:cNvSpPr txBox="1"/>
              <p:nvPr/>
            </p:nvSpPr>
            <p:spPr>
              <a:xfrm>
                <a:off x="6405562" y="6915150"/>
                <a:ext cx="523875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\ell=1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2" name="Editable Equation turn-d-label"/>
              <p:cNvSpPr txBox="1"/>
              <p:nvPr/>
            </p:nvSpPr>
            <p:spPr>
              <a:xfrm>
                <a:off x="9939338" y="6596062"/>
                <a:ext cx="714375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3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d(a,</m:t>
                      </m:r>
                      <m:sSup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13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2" name="Editable Equation turn-d-label Fallback"/>
              <p:cNvSpPr txBox="1"/>
              <p:nvPr/>
            </p:nvSpPr>
            <p:spPr>
              <a:xfrm>
                <a:off x="9939338" y="6596062"/>
                <a:ext cx="714375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d(a,a')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3" name="Editable Equation turn-c-label"/>
              <p:cNvSpPr txBox="1"/>
              <p:nvPr/>
            </p:nvSpPr>
            <p:spPr>
              <a:xfrm>
                <a:off x="12944475" y="6810375"/>
                <a:ext cx="523875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c(i,ℓ)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3" name="Editable Equation turn-c-label Fallback"/>
              <p:cNvSpPr txBox="1"/>
              <p:nvPr/>
            </p:nvSpPr>
            <p:spPr>
              <a:xfrm>
                <a:off x="12944475" y="6810375"/>
                <a:ext cx="523875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c(i,\ell)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4" name="Editable Equation turn-loo-label"/>
              <p:cNvSpPr txBox="1"/>
              <p:nvPr/>
            </p:nvSpPr>
            <p:spPr>
              <a:xfrm>
                <a:off x="13716000" y="6781800"/>
                <a:ext cx="25241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m:rPr>
                          <m:sty m:val="p"/>
                        </m:rP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LOO</m:t>
                      </m:r>
                      <m:r>
                        <m:rPr>
                          <m:nor/>
                        </m:rP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r>
                        <m:rPr>
                          <m:sty m:val="p"/>
                        </m:rP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peers:</m:t>
                      </m:r>
                      <m:r>
                        <m:rPr>
                          <m:nor/>
                        </m:rP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r>
                        <a:rPr lang="en-US" sz="15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c(i,ℓ)⧵{i}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4" name="Editable Equation turn-loo-label Fallback"/>
              <p:cNvSpPr txBox="1"/>
              <p:nvPr/>
            </p:nvSpPr>
            <p:spPr>
              <a:xfrm>
                <a:off x="13716000" y="6781800"/>
                <a:ext cx="25241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\mathrm{LOO\ peers:}\ c(i,\ell)\setminus\{i\}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5" name="Editable Equation turn-intent-formula"/>
              <p:cNvSpPr txBox="1"/>
              <p:nvPr/>
            </p:nvSpPr>
            <p:spPr>
              <a:xfrm>
                <a:off x="12496800" y="7429500"/>
                <a:ext cx="4381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Sup>
                        <m:e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intent</m:t>
                          </m:r>
                        </m:sup>
                      </m:sSubSup>
                      <m:r>
                        <a:rPr lang="en-US" sz="19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ℓ=1</m:t>
                          </m:r>
                        </m:sub>
                        <m:sup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sup>
                        <m:e/>
                      </m:nary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ℓ</m:t>
                          </m:r>
                        </m:sub>
                      </m:sSub>
                      <m:r>
                        <a:rPr lang="en-US" sz="19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a:rPr lang="en-US" sz="19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Sup>
                        <m:e>
                          <m:bar>
                            <m:barPr>
                              <m:pos m:val="top"/>
                            </m:barPr>
                            <m:e>
                              <m:r>
                                <a:rPr lang="en-US" sz="1950" dirty="0" smtClean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bar>
                        </m:e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u,k,ℓ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LOO</m:t>
                          </m:r>
                        </m:sup>
                      </m:sSubSup>
                      <m:r>
                        <a:rPr lang="en-US" sz="19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(n))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5" name="Editable Equation turn-intent-formula Fallback"/>
              <p:cNvSpPr txBox="1"/>
              <p:nvPr/>
            </p:nvSpPr>
            <p:spPr>
              <a:xfrm>
                <a:off x="12496800" y="7429500"/>
                <a:ext cx="4381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A^{\mathrm{intent}}_i=\sum_{\ell=1}^{G}\hat{w}_{\ell}\left(R_n-\bar{R}^{\mathrm{LOO}}_{u,k,\ell}(n)\right)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6" name="Editable Equation tree-header-math"/>
              <p:cNvSpPr txBox="1"/>
              <p:nvPr/>
            </p:nvSpPr>
            <p:spPr>
              <a:xfrm>
                <a:off x="8162925" y="8614410"/>
                <a:ext cx="819150" cy="354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325"/>
                </a:pPr>
                <a:r>
                  <a:rPr lang="en-US" sz="23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23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tree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96" name="Editable Equation tree-header-math Fallback"/>
              <p:cNvSpPr txBox="1"/>
              <p:nvPr/>
            </p:nvSpPr>
            <p:spPr>
              <a:xfrm>
                <a:off x="8162925" y="8614410"/>
                <a:ext cx="819150" cy="354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325"/>
                </a:pPr>
                <a:r>
                  <a:rPr lang="en-US" sz="23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A^{\mathrm{tree}}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7" name="Editable Equation tree-u-math"/>
              <p:cNvSpPr txBox="1"/>
              <p:nvPr/>
            </p:nvSpPr>
            <p:spPr>
              <a:xfrm>
                <a:off x="6438900" y="93916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7" name="Editable Equation tree-u-math Fallback"/>
              <p:cNvSpPr txBox="1"/>
              <p:nvPr/>
            </p:nvSpPr>
            <p:spPr>
              <a:xfrm>
                <a:off x="6438900" y="93916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u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8" name="Editable Equation tree-k1-math"/>
              <p:cNvSpPr txBox="1"/>
              <p:nvPr/>
            </p:nvSpPr>
            <p:spPr>
              <a:xfrm>
                <a:off x="7486650" y="9267825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κ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98" name="Editable Equation tree-k1-math Fallback"/>
              <p:cNvSpPr txBox="1"/>
              <p:nvPr/>
            </p:nvSpPr>
            <p:spPr>
              <a:xfrm>
                <a:off x="7486650" y="9267825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\kappa_1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99" name="Editable Equation tree-k2-math"/>
              <p:cNvSpPr txBox="1"/>
              <p:nvPr/>
            </p:nvSpPr>
            <p:spPr>
              <a:xfrm>
                <a:off x="7200900" y="9744075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κ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99" name="Editable Equation tree-k2-math Fallback"/>
              <p:cNvSpPr txBox="1"/>
              <p:nvPr/>
            </p:nvSpPr>
            <p:spPr>
              <a:xfrm>
                <a:off x="7200900" y="9744075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\kappa_2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0" name="Editable Equation tree-s1-math"/>
              <p:cNvSpPr txBox="1"/>
              <p:nvPr/>
            </p:nvSpPr>
            <p:spPr>
              <a:xfrm>
                <a:off x="8382000" y="929640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0" name="Editable Equation tree-s1-math Fallback"/>
              <p:cNvSpPr txBox="1"/>
              <p:nvPr/>
            </p:nvSpPr>
            <p:spPr>
              <a:xfrm>
                <a:off x="8382000" y="929640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s_1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1" name="Editable Equation tree-s2-math"/>
              <p:cNvSpPr txBox="1"/>
              <p:nvPr/>
            </p:nvSpPr>
            <p:spPr>
              <a:xfrm>
                <a:off x="7800975" y="1026795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1" name="Editable Equation tree-s2-math Fallback"/>
              <p:cNvSpPr txBox="1"/>
              <p:nvPr/>
            </p:nvSpPr>
            <p:spPr>
              <a:xfrm>
                <a:off x="7800975" y="1026795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s_2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2" name="Editable Equation tree-k3-math"/>
              <p:cNvSpPr txBox="1"/>
              <p:nvPr/>
            </p:nvSpPr>
            <p:spPr>
              <a:xfrm>
                <a:off x="9239250" y="9115425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κ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2" name="Editable Equation tree-k3-math Fallback"/>
              <p:cNvSpPr txBox="1"/>
              <p:nvPr/>
            </p:nvSpPr>
            <p:spPr>
              <a:xfrm>
                <a:off x="9239250" y="9115425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\kappa_3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3" name="Editable Equation tree-k4-math"/>
              <p:cNvSpPr txBox="1"/>
              <p:nvPr/>
            </p:nvSpPr>
            <p:spPr>
              <a:xfrm>
                <a:off x="9305925" y="963930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κ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3" name="Editable Equation tree-k4-math Fallback"/>
              <p:cNvSpPr txBox="1"/>
              <p:nvPr/>
            </p:nvSpPr>
            <p:spPr>
              <a:xfrm>
                <a:off x="9305925" y="963930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\kappa_4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4" name="Editable Equation tree-s3-math"/>
              <p:cNvSpPr txBox="1"/>
              <p:nvPr/>
            </p:nvSpPr>
            <p:spPr>
              <a:xfrm>
                <a:off x="10172700" y="912495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4" name="Editable Equation tree-s3-math Fallback"/>
              <p:cNvSpPr txBox="1"/>
              <p:nvPr/>
            </p:nvSpPr>
            <p:spPr>
              <a:xfrm>
                <a:off x="10172700" y="912495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s_3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5" name="Editable Equation tree-s4-math"/>
              <p:cNvSpPr txBox="1"/>
              <p:nvPr/>
            </p:nvSpPr>
            <p:spPr>
              <a:xfrm>
                <a:off x="10172700" y="973455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5" name="Editable Equation tree-s4-math Fallback"/>
              <p:cNvSpPr txBox="1"/>
              <p:nvPr/>
            </p:nvSpPr>
            <p:spPr>
              <a:xfrm>
                <a:off x="10172700" y="9734550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s_4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6" name="Editable Equation tree-si-math"/>
              <p:cNvSpPr txBox="1"/>
              <p:nvPr/>
            </p:nvSpPr>
            <p:spPr>
              <a:xfrm>
                <a:off x="11801475" y="9734550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00"/>
                </a:pPr>
                <a:r>
                  <a:rPr lang="en-US" sz="12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2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2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i+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6" name="Editable Equation tree-si-math Fallback"/>
              <p:cNvSpPr txBox="1"/>
              <p:nvPr/>
            </p:nvSpPr>
            <p:spPr>
              <a:xfrm>
                <a:off x="11801475" y="9734550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00"/>
                </a:pPr>
                <a:r>
                  <a:rPr lang="en-US" sz="12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s_{i+}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7" name="Editable Equation tree-ki-math"/>
              <p:cNvSpPr txBox="1"/>
              <p:nvPr/>
            </p:nvSpPr>
            <p:spPr>
              <a:xfrm>
                <a:off x="12715875" y="9734550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00"/>
                </a:pPr>
                <a:r>
                  <a:rPr lang="en-US" sz="12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2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κ</m:t>
                          </m:r>
                        </m:e>
                        <m:sub>
                          <m:r>
                            <a:rPr lang="en-US" sz="12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i+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7" name="Editable Equation tree-ki-math Fallback"/>
              <p:cNvSpPr txBox="1"/>
              <p:nvPr/>
            </p:nvSpPr>
            <p:spPr>
              <a:xfrm>
                <a:off x="12715875" y="9734550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00"/>
                </a:pPr>
                <a:r>
                  <a:rPr lang="en-US" sz="12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\kappa_{i+}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8" name="Editable Equation tree-index"/>
              <p:cNvSpPr txBox="1"/>
              <p:nvPr/>
            </p:nvSpPr>
            <p:spPr>
              <a:xfrm>
                <a:off x="8191500" y="9829800"/>
                <a:ext cx="952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2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i=(u,n,k)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08" name="Editable Equation tree-index Fallback"/>
              <p:cNvSpPr txBox="1"/>
              <p:nvPr/>
            </p:nvSpPr>
            <p:spPr>
              <a:xfrm>
                <a:off x="8191500" y="9829800"/>
                <a:ext cx="952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i=(u,n,k)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09" name="Editable Equation tree-delta"/>
              <p:cNvSpPr txBox="1"/>
              <p:nvPr/>
            </p:nvSpPr>
            <p:spPr>
              <a:xfrm>
                <a:off x="8591550" y="10148888"/>
                <a:ext cx="19526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=V(</m:t>
                      </m:r>
                      <m:sSub>
                        <m:e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κ</m:t>
                          </m:r>
                        </m:e>
                        <m:sub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)−V(</m:t>
                      </m:r>
                      <m:sSub>
                        <m:e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09" name="Editable Equation tree-delta Fallback"/>
              <p:cNvSpPr txBox="1"/>
              <p:nvPr/>
            </p:nvSpPr>
            <p:spPr>
              <a:xfrm>
                <a:off x="8591550" y="10148888"/>
                <a:ext cx="19526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\delta_i=V(\kappa_4)-V(s_1)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0" name="Editable Equation tree-formula"/>
              <p:cNvSpPr txBox="1"/>
              <p:nvPr/>
            </p:nvSpPr>
            <p:spPr>
              <a:xfrm>
                <a:off x="14230350" y="9067800"/>
                <a:ext cx="24765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100"/>
                </a:pPr>
                <a:r>
                  <a:rPr lang="en-US" sz="21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Sup>
                        <m:e>
                          <m: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tree</m:t>
                          </m:r>
                        </m:sup>
                      </m:sSubSup>
                      <m:r>
                        <a:rPr lang="en-US" sz="21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en-US" sz="21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+γ</m:t>
                      </m:r>
                      <m:sSubSup>
                        <m:e>
                          <m: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i+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1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tree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410" name="Editable Equation tree-formula Fallback"/>
              <p:cNvSpPr txBox="1"/>
              <p:nvPr/>
            </p:nvSpPr>
            <p:spPr>
              <a:xfrm>
                <a:off x="14230350" y="9067800"/>
                <a:ext cx="24765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100"/>
                </a:pPr>
                <a:r>
                  <a:rPr lang="en-US" sz="21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A^{\mathrm{tree}}_i=\delta_i+\gamma A^{\mathrm{tree}}_{i+}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1" name="Editable Equation legend-u-math"/>
              <p:cNvSpPr txBox="1"/>
              <p:nvPr/>
            </p:nvSpPr>
            <p:spPr>
              <a:xfrm>
                <a:off x="10906125" y="102679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1" name="Editable Equation legend-u-math Fallback"/>
              <p:cNvSpPr txBox="1"/>
              <p:nvPr/>
            </p:nvSpPr>
            <p:spPr>
              <a:xfrm>
                <a:off x="10906125" y="102679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u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2" name="Editable Equation legend-s-math"/>
              <p:cNvSpPr txBox="1"/>
              <p:nvPr/>
            </p:nvSpPr>
            <p:spPr>
              <a:xfrm>
                <a:off x="12506325" y="102679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2" name="Editable Equation legend-s-math Fallback"/>
              <p:cNvSpPr txBox="1"/>
              <p:nvPr/>
            </p:nvSpPr>
            <p:spPr>
              <a:xfrm>
                <a:off x="12506325" y="102679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3" name="Editable Equation legend-kappa-math"/>
              <p:cNvSpPr txBox="1"/>
              <p:nvPr/>
            </p:nvSpPr>
            <p:spPr>
              <a:xfrm>
                <a:off x="14820900" y="102679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κ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3" name="Editable Equation legend-kappa-math Fallback"/>
              <p:cNvSpPr txBox="1"/>
              <p:nvPr/>
            </p:nvSpPr>
            <p:spPr>
              <a:xfrm>
                <a:off x="14820900" y="1026795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\kappa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4" name="Editable Equation fusion-ep-math"/>
              <p:cNvSpPr txBox="1"/>
              <p:nvPr/>
            </p:nvSpPr>
            <p:spPr>
              <a:xfrm>
                <a:off x="17859375" y="4919662"/>
                <a:ext cx="6667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Sup>
                        <m:e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ep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414" name="Editable Equation fusion-ep-math Fallback"/>
              <p:cNvSpPr txBox="1"/>
              <p:nvPr/>
            </p:nvSpPr>
            <p:spPr>
              <a:xfrm>
                <a:off x="17859375" y="4919662"/>
                <a:ext cx="6667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A^{\mathrm{ep}}_i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5" name="Editable Equation fusion-intent-math"/>
              <p:cNvSpPr txBox="1"/>
              <p:nvPr/>
            </p:nvSpPr>
            <p:spPr>
              <a:xfrm>
                <a:off x="17773650" y="5967412"/>
                <a:ext cx="6667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Sup>
                        <m:e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intent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415" name="Editable Equation fusion-intent-math Fallback"/>
              <p:cNvSpPr txBox="1"/>
              <p:nvPr/>
            </p:nvSpPr>
            <p:spPr>
              <a:xfrm>
                <a:off x="17773650" y="5967412"/>
                <a:ext cx="6667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A^{\mathrm{intent}}_i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6" name="Editable Equation fusion-tree-math"/>
              <p:cNvSpPr txBox="1"/>
              <p:nvPr/>
            </p:nvSpPr>
            <p:spPr>
              <a:xfrm>
                <a:off x="17811750" y="7015162"/>
                <a:ext cx="6667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Sup>
                        <m:e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tree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416" name="Editable Equation fusion-tree-math Fallback"/>
              <p:cNvSpPr txBox="1"/>
              <p:nvPr/>
            </p:nvSpPr>
            <p:spPr>
              <a:xfrm>
                <a:off x="17811750" y="7015162"/>
                <a:ext cx="6667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250"/>
                </a:pPr>
                <a:r>
                  <a:rPr lang="en-US" sz="22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A^{\mathrm{tree}}_i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7" name="Editable Equation fusion-ai"/>
              <p:cNvSpPr txBox="1"/>
              <p:nvPr/>
            </p:nvSpPr>
            <p:spPr>
              <a:xfrm>
                <a:off x="18840450" y="8096250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17" name="Editable Equation fusion-ai Fallback"/>
              <p:cNvSpPr txBox="1"/>
              <p:nvPr/>
            </p:nvSpPr>
            <p:spPr>
              <a:xfrm>
                <a:off x="18840450" y="8096250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A_i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18" name="Editable Equation fusion-pi"/>
              <p:cNvSpPr txBox="1"/>
              <p:nvPr/>
            </p:nvSpPr>
            <p:spPr>
              <a:xfrm>
                <a:off x="17964150" y="10201275"/>
                <a:ext cx="61912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0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0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18" name="Editable Equation fusion-pi Fallback"/>
              <p:cNvSpPr txBox="1"/>
              <p:nvPr/>
            </p:nvSpPr>
            <p:spPr>
              <a:xfrm>
                <a:off x="17964150" y="10201275"/>
                <a:ext cx="61912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\pi_{\theta}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