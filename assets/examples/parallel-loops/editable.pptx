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383000" cy="77914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6383000" cy="779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6675" y="504825"/>
            <a:ext cx="16230600" cy="7200900"/>
            <a:chOff x="66675" y="504825"/>
            <a:chExt cx="16230600" cy="7200900"/>
          </a:xfrm>
        </p:grpSpPr>
        <p:sp>
          <p:nvSpPr>
            <p:cNvPr id="3" name="Rectangle 3"/>
            <p:cNvSpPr/>
            <p:nvPr/>
          </p:nvSpPr>
          <p:spPr>
            <a:xfrm>
              <a:off x="66675" y="504825"/>
              <a:ext cx="4524375" cy="3609975"/>
            </a:xfrm>
            <a:prstGeom prst="roundRect">
              <a:avLst>
                <a:gd name="adj" fmla="val 5805"/>
              </a:avLst>
            </a:prstGeom>
            <a:solidFill>
              <a:srgbClr val="FDF1F3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6675" y="4267200"/>
              <a:ext cx="4524375" cy="3438525"/>
            </a:xfrm>
            <a:prstGeom prst="roundRect">
              <a:avLst>
                <a:gd name="adj" fmla="val 6094"/>
              </a:avLst>
            </a:prstGeom>
            <a:solidFill>
              <a:srgbClr val="F4FAF1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4829175" y="523875"/>
              <a:ext cx="3895725" cy="7181850"/>
            </a:xfrm>
            <a:prstGeom prst="roundRect">
              <a:avLst>
                <a:gd name="adj" fmla="val 5379"/>
              </a:avLst>
            </a:prstGeom>
            <a:solidFill>
              <a:srgbClr val="F3F6FC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8991600" y="533400"/>
              <a:ext cx="7305675" cy="7172325"/>
            </a:xfrm>
            <a:prstGeom prst="roundRect">
              <a:avLst>
                <a:gd name="adj" fmla="val 2922"/>
              </a:avLst>
            </a:prstGeom>
            <a:solidFill>
              <a:srgbClr val="FAF8ED"/>
            </a:solidFill>
            <a:ln>
              <a:noFill/>
            </a:ln>
          </p:spPr>
        </p:sp>
      </p:grpSp>
      <p:grpSp>
        <p:nvGrpSpPr>
          <p:cNvPr id="169" name="Group 169"/>
          <p:cNvGrpSpPr/>
          <p:nvPr/>
        </p:nvGrpSpPr>
        <p:grpSpPr>
          <a:xfrm>
            <a:off x="142875" y="666750"/>
            <a:ext cx="15963900" cy="6915150"/>
            <a:chOff x="142875" y="666750"/>
            <a:chExt cx="15963900" cy="6915150"/>
          </a:xfrm>
        </p:grpSpPr>
        <p:sp>
          <p:nvSpPr>
            <p:cNvPr id="8" name="Rectangle 8"/>
            <p:cNvSpPr/>
            <p:nvPr/>
          </p:nvSpPr>
          <p:spPr>
            <a:xfrm>
              <a:off x="1485900" y="1333500"/>
              <a:ext cx="257175" cy="228600"/>
            </a:xfrm>
            <a:prstGeom prst="rect">
              <a:avLst/>
            </a:prstGeom>
            <a:solidFill>
              <a:srgbClr val="E4F4E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762125" y="1333500"/>
              <a:ext cx="257175" cy="228600"/>
            </a:xfrm>
            <a:prstGeom prst="rect">
              <a:avLst/>
            </a:prstGeom>
            <a:solidFill>
              <a:srgbClr val="E4EFFC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038350" y="1333500"/>
              <a:ext cx="257175" cy="228600"/>
            </a:xfrm>
            <a:prstGeom prst="rect">
              <a:avLst/>
            </a:prstGeom>
            <a:solidFill>
              <a:srgbClr val="F1F1F1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314575" y="1333500"/>
              <a:ext cx="257175" cy="228600"/>
            </a:xfrm>
            <a:prstGeom prst="rect">
              <a:avLst/>
            </a:prstGeom>
            <a:solidFill>
              <a:srgbClr val="EEE7F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0075" y="1847850"/>
              <a:ext cx="1695450" cy="371475"/>
            </a:xfrm>
            <a:prstGeom prst="roundRect">
              <a:avLst>
                <a:gd name="adj" fmla="val 20513"/>
              </a:avLst>
            </a:prstGeom>
            <a:solidFill>
              <a:srgbClr val="FFFAF0"/>
            </a:solidFill>
            <a:ln w="19050">
              <a:solidFill>
                <a:srgbClr val="E4A51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0075" y="2505075"/>
              <a:ext cx="1695450" cy="371475"/>
            </a:xfrm>
            <a:prstGeom prst="roundRect">
              <a:avLst>
                <a:gd name="adj" fmla="val 20513"/>
              </a:avLst>
            </a:prstGeom>
            <a:solidFill>
              <a:srgbClr val="FFF8F8"/>
            </a:solidFill>
            <a:ln w="19050">
              <a:solidFill>
                <a:srgbClr val="DF7777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0075" y="3162300"/>
              <a:ext cx="1695450" cy="371475"/>
            </a:xfrm>
            <a:prstGeom prst="roundRect">
              <a:avLst>
                <a:gd name="adj" fmla="val 20513"/>
              </a:avLst>
            </a:prstGeom>
            <a:solidFill>
              <a:srgbClr val="FFF8F8"/>
            </a:solidFill>
            <a:ln w="19050">
              <a:solidFill>
                <a:srgbClr val="DF777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095625" y="2457450"/>
              <a:ext cx="152400" cy="114300"/>
            </a:xfrm>
            <a:prstGeom prst="rect">
              <a:avLst/>
            </a:prstGeom>
            <a:solidFill>
              <a:srgbClr val="F6B59B"/>
            </a:solidFill>
            <a:ln w="14288">
              <a:solidFill>
                <a:srgbClr val="B9303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343275" y="2314575"/>
              <a:ext cx="152400" cy="257175"/>
            </a:xfrm>
            <a:prstGeom prst="rect">
              <a:avLst/>
            </a:prstGeom>
            <a:solidFill>
              <a:srgbClr val="F6B59B"/>
            </a:solidFill>
            <a:ln w="14288">
              <a:solidFill>
                <a:srgbClr val="B9303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590925" y="2076450"/>
              <a:ext cx="152400" cy="495300"/>
            </a:xfrm>
            <a:prstGeom prst="rect">
              <a:avLst/>
            </a:prstGeom>
            <a:solidFill>
              <a:srgbClr val="CC5058"/>
            </a:solidFill>
            <a:ln w="14288">
              <a:solidFill>
                <a:srgbClr val="B93035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838575" y="1790700"/>
              <a:ext cx="152400" cy="781050"/>
            </a:xfrm>
            <a:prstGeom prst="rect">
              <a:avLst/>
            </a:prstGeom>
            <a:solidFill>
              <a:srgbClr val="CC5058"/>
            </a:solidFill>
            <a:ln w="14288">
              <a:solidFill>
                <a:srgbClr val="B9303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095625" y="3876675"/>
              <a:ext cx="152400" cy="114300"/>
            </a:xfrm>
            <a:prstGeom prst="rect">
              <a:avLst/>
            </a:prstGeom>
            <a:solidFill>
              <a:srgbClr val="F6B59B"/>
            </a:solidFill>
            <a:ln w="14288">
              <a:solidFill>
                <a:srgbClr val="B93035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343275" y="3733800"/>
              <a:ext cx="152400" cy="257175"/>
            </a:xfrm>
            <a:prstGeom prst="rect">
              <a:avLst/>
            </a:prstGeom>
            <a:solidFill>
              <a:srgbClr val="F6B59B"/>
            </a:solidFill>
            <a:ln w="14288">
              <a:solidFill>
                <a:srgbClr val="B9303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590925" y="3495675"/>
              <a:ext cx="152400" cy="495300"/>
            </a:xfrm>
            <a:prstGeom prst="rect">
              <a:avLst/>
            </a:prstGeom>
            <a:solidFill>
              <a:srgbClr val="CC5058"/>
            </a:solidFill>
            <a:ln w="14288">
              <a:solidFill>
                <a:srgbClr val="B93035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838575" y="3209925"/>
              <a:ext cx="152400" cy="781050"/>
            </a:xfrm>
            <a:prstGeom prst="rect">
              <a:avLst/>
            </a:prstGeom>
            <a:solidFill>
              <a:srgbClr val="CC5058"/>
            </a:solidFill>
            <a:ln w="14288">
              <a:solidFill>
                <a:srgbClr val="B9303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42875" y="4686300"/>
              <a:ext cx="257175" cy="228600"/>
            </a:xfrm>
            <a:prstGeom prst="rect">
              <a:avLst/>
            </a:prstGeom>
            <a:solidFill>
              <a:srgbClr val="E4F4E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19100" y="4686300"/>
              <a:ext cx="257175" cy="228600"/>
            </a:xfrm>
            <a:prstGeom prst="rect">
              <a:avLst/>
            </a:prstGeom>
            <a:solidFill>
              <a:srgbClr val="E4EF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95325" y="4686300"/>
              <a:ext cx="257175" cy="228600"/>
            </a:xfrm>
            <a:prstGeom prst="rect">
              <a:avLst/>
            </a:prstGeom>
            <a:solidFill>
              <a:srgbClr val="F1F1F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71550" y="4686300"/>
              <a:ext cx="257175" cy="228600"/>
            </a:xfrm>
            <a:prstGeom prst="rect">
              <a:avLst/>
            </a:prstGeom>
            <a:solidFill>
              <a:srgbClr val="EEE7F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47675" y="5314950"/>
              <a:ext cx="981075" cy="371475"/>
            </a:xfrm>
            <a:prstGeom prst="roundRect">
              <a:avLst>
                <a:gd name="adj" fmla="val 20513"/>
              </a:avLst>
            </a:prstGeom>
            <a:solidFill>
              <a:srgbClr val="FFFAF0"/>
            </a:solidFill>
            <a:ln w="19050">
              <a:solidFill>
                <a:srgbClr val="E6A51B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619250" y="5314950"/>
              <a:ext cx="981075" cy="371475"/>
            </a:xfrm>
            <a:prstGeom prst="roundRect">
              <a:avLst>
                <a:gd name="adj" fmla="val 20513"/>
              </a:avLst>
            </a:prstGeom>
            <a:solidFill>
              <a:srgbClr val="FFF8F8"/>
            </a:solidFill>
            <a:ln w="19050">
              <a:solidFill>
                <a:srgbClr val="DF7777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495675" y="5314950"/>
              <a:ext cx="981075" cy="371475"/>
            </a:xfrm>
            <a:prstGeom prst="roundRect">
              <a:avLst>
                <a:gd name="adj" fmla="val 20513"/>
              </a:avLst>
            </a:prstGeom>
            <a:solidFill>
              <a:srgbClr val="FFF8F8"/>
            </a:solidFill>
            <a:ln w="19050">
              <a:solidFill>
                <a:srgbClr val="DF7777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7200" y="5915025"/>
              <a:ext cx="4029075" cy="476250"/>
            </a:xfrm>
            <a:prstGeom prst="roundRect">
              <a:avLst>
                <a:gd name="adj" fmla="val 16000"/>
              </a:avLst>
            </a:prstGeom>
            <a:solidFill>
              <a:srgbClr val="EAF3FC"/>
            </a:solidFill>
            <a:ln w="23812">
              <a:solidFill>
                <a:srgbClr val="84AFD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80975" y="6619875"/>
              <a:ext cx="2066925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D7D9D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419350" y="6619875"/>
              <a:ext cx="2066925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D7D9D2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981575" y="4591050"/>
              <a:ext cx="1714500" cy="2990850"/>
            </a:xfrm>
            <a:prstGeom prst="roundRect">
              <a:avLst>
                <a:gd name="adj" fmla="val 7778"/>
              </a:avLst>
            </a:prstGeom>
            <a:solidFill>
              <a:srgbClr val="F7FBFF"/>
            </a:solidFill>
            <a:ln w="28575">
              <a:solidFill>
                <a:srgbClr val="C2D8EC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77050" y="4591050"/>
              <a:ext cx="1704975" cy="2990850"/>
            </a:xfrm>
            <a:prstGeom prst="roundRect">
              <a:avLst>
                <a:gd name="adj" fmla="val 7821"/>
              </a:avLst>
            </a:prstGeom>
            <a:solidFill>
              <a:srgbClr val="FFFAFA"/>
            </a:solidFill>
            <a:ln w="28575">
              <a:solidFill>
                <a:srgbClr val="EBC9C4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820400" y="666750"/>
              <a:ext cx="2562225" cy="638175"/>
            </a:xfrm>
            <a:prstGeom prst="roundRect">
              <a:avLst>
                <a:gd name="adj" fmla="val 16418"/>
              </a:avLst>
            </a:prstGeom>
            <a:solidFill>
              <a:srgbClr val="EEF7EA"/>
            </a:solidFill>
            <a:ln w="14288">
              <a:solidFill>
                <a:srgbClr val="C7D8C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3563600" y="666750"/>
              <a:ext cx="2543175" cy="638175"/>
            </a:xfrm>
            <a:prstGeom prst="roundRect">
              <a:avLst>
                <a:gd name="adj" fmla="val 16418"/>
              </a:avLst>
            </a:prstGeom>
            <a:solidFill>
              <a:srgbClr val="FFF0ED"/>
            </a:solidFill>
            <a:ln w="14288">
              <a:solidFill>
                <a:srgbClr val="E4C2B9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810875" y="1447800"/>
              <a:ext cx="2571750" cy="12382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D6D7D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3563600" y="1447800"/>
              <a:ext cx="2543175" cy="12382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D6D7D0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810875" y="2819400"/>
              <a:ext cx="2571750" cy="1562100"/>
            </a:xfrm>
            <a:prstGeom prst="roundRect">
              <a:avLst>
                <a:gd name="adj" fmla="val 6098"/>
              </a:avLst>
            </a:prstGeom>
            <a:solidFill>
              <a:srgbClr val="FFFFFF"/>
            </a:solidFill>
            <a:ln w="14288">
              <a:solidFill>
                <a:srgbClr val="D6D7D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3563600" y="2819400"/>
              <a:ext cx="2543175" cy="1562100"/>
            </a:xfrm>
            <a:prstGeom prst="roundRect">
              <a:avLst>
                <a:gd name="adj" fmla="val 6098"/>
              </a:avLst>
            </a:prstGeom>
            <a:solidFill>
              <a:srgbClr val="FFFFFF"/>
            </a:solidFill>
            <a:ln w="14288">
              <a:solidFill>
                <a:srgbClr val="D6D7D0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810875" y="4533900"/>
              <a:ext cx="2543175" cy="1457325"/>
            </a:xfrm>
            <a:prstGeom prst="roundRect">
              <a:avLst>
                <a:gd name="adj" fmla="val 6536"/>
              </a:avLst>
            </a:prstGeom>
            <a:solidFill>
              <a:srgbClr val="FFFFFF"/>
            </a:solidFill>
            <a:ln w="14288">
              <a:solidFill>
                <a:srgbClr val="D6D7D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3563600" y="4533900"/>
              <a:ext cx="2543175" cy="1457325"/>
            </a:xfrm>
            <a:prstGeom prst="roundRect">
              <a:avLst>
                <a:gd name="adj" fmla="val 6536"/>
              </a:avLst>
            </a:prstGeom>
            <a:solidFill>
              <a:srgbClr val="FFFFFF"/>
            </a:solidFill>
            <a:ln w="14288">
              <a:solidFill>
                <a:srgbClr val="D6D7D0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810875" y="6153150"/>
              <a:ext cx="2571750" cy="1390650"/>
            </a:xfrm>
            <a:prstGeom prst="roundRect">
              <a:avLst>
                <a:gd name="adj" fmla="val 6849"/>
              </a:avLst>
            </a:prstGeom>
            <a:solidFill>
              <a:srgbClr val="FFFFFF"/>
            </a:solidFill>
            <a:ln w="14288">
              <a:solidFill>
                <a:srgbClr val="D6D7D0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3563600" y="6153150"/>
              <a:ext cx="2543175" cy="1390650"/>
            </a:xfrm>
            <a:prstGeom prst="roundRect">
              <a:avLst>
                <a:gd name="adj" fmla="val 6849"/>
              </a:avLst>
            </a:prstGeom>
            <a:solidFill>
              <a:srgbClr val="FFFFFF"/>
            </a:solidFill>
            <a:ln w="14288">
              <a:solidFill>
                <a:srgbClr val="D6D7D0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1029950" y="3343275"/>
              <a:ext cx="152400" cy="152400"/>
            </a:xfrm>
            <a:prstGeom prst="rect">
              <a:avLst/>
            </a:prstGeom>
            <a:solidFill>
              <a:srgbClr val="F8D45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1182350" y="33432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1334750" y="3343275"/>
              <a:ext cx="152400" cy="152400"/>
            </a:xfrm>
            <a:prstGeom prst="rect">
              <a:avLst/>
            </a:prstGeom>
            <a:solidFill>
              <a:srgbClr val="ED7A63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1487150" y="3343275"/>
              <a:ext cx="152400" cy="152400"/>
            </a:xfrm>
            <a:prstGeom prst="rect">
              <a:avLst/>
            </a:prstGeom>
            <a:solidFill>
              <a:srgbClr val="8A2877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1639550" y="3343275"/>
              <a:ext cx="152400" cy="152400"/>
            </a:xfrm>
            <a:prstGeom prst="rect">
              <a:avLst/>
            </a:prstGeom>
            <a:solidFill>
              <a:srgbClr val="54206F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1029950" y="34956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1182350" y="3495675"/>
              <a:ext cx="152400" cy="152400"/>
            </a:xfrm>
            <a:prstGeom prst="rect">
              <a:avLst/>
            </a:prstGeom>
            <a:solidFill>
              <a:srgbClr val="F8D45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1334750" y="34956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1487150" y="3495675"/>
              <a:ext cx="152400" cy="152400"/>
            </a:xfrm>
            <a:prstGeom prst="rect">
              <a:avLst/>
            </a:prstGeom>
            <a:solidFill>
              <a:srgbClr val="CF4C7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1639550" y="3495675"/>
              <a:ext cx="152400" cy="152400"/>
            </a:xfrm>
            <a:prstGeom prst="rect">
              <a:avLst/>
            </a:prstGeom>
            <a:solidFill>
              <a:srgbClr val="54206F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1029950" y="3648075"/>
              <a:ext cx="152400" cy="152400"/>
            </a:xfrm>
            <a:prstGeom prst="rect">
              <a:avLst/>
            </a:prstGeom>
            <a:solidFill>
              <a:srgbClr val="ED7A63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1182350" y="36480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1334750" y="3648075"/>
              <a:ext cx="152400" cy="152400"/>
            </a:xfrm>
            <a:prstGeom prst="rect">
              <a:avLst/>
            </a:prstGeom>
            <a:solidFill>
              <a:srgbClr val="F8D45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1487150" y="3648075"/>
              <a:ext cx="152400" cy="152400"/>
            </a:xfrm>
            <a:prstGeom prst="rect">
              <a:avLst/>
            </a:prstGeom>
            <a:solidFill>
              <a:srgbClr val="ED7A63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1639550" y="3648075"/>
              <a:ext cx="152400" cy="152400"/>
            </a:xfrm>
            <a:prstGeom prst="rect">
              <a:avLst/>
            </a:prstGeom>
            <a:solidFill>
              <a:srgbClr val="8A2877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1029950" y="3800475"/>
              <a:ext cx="152400" cy="152400"/>
            </a:xfrm>
            <a:prstGeom prst="rect">
              <a:avLst/>
            </a:prstGeom>
            <a:solidFill>
              <a:srgbClr val="8A2877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1182350" y="3800475"/>
              <a:ext cx="152400" cy="152400"/>
            </a:xfrm>
            <a:prstGeom prst="rect">
              <a:avLst/>
            </a:prstGeom>
            <a:solidFill>
              <a:srgbClr val="CF4C70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11334750" y="3800475"/>
              <a:ext cx="152400" cy="152400"/>
            </a:xfrm>
            <a:prstGeom prst="rect">
              <a:avLst/>
            </a:prstGeom>
            <a:solidFill>
              <a:srgbClr val="ED7A63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1487150" y="38004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11639550" y="3800475"/>
              <a:ext cx="152400" cy="152400"/>
            </a:xfrm>
            <a:prstGeom prst="rect">
              <a:avLst/>
            </a:prstGeom>
            <a:solidFill>
              <a:srgbClr val="CF4C70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1029950" y="3952875"/>
              <a:ext cx="152400" cy="152400"/>
            </a:xfrm>
            <a:prstGeom prst="rect">
              <a:avLst/>
            </a:prstGeom>
            <a:solidFill>
              <a:srgbClr val="54206F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1182350" y="3952875"/>
              <a:ext cx="152400" cy="152400"/>
            </a:xfrm>
            <a:prstGeom prst="rect">
              <a:avLst/>
            </a:prstGeom>
            <a:solidFill>
              <a:srgbClr val="54206F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11334750" y="3952875"/>
              <a:ext cx="152400" cy="152400"/>
            </a:xfrm>
            <a:prstGeom prst="rect">
              <a:avLst/>
            </a:prstGeom>
            <a:solidFill>
              <a:srgbClr val="8A2877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11487150" y="3952875"/>
              <a:ext cx="152400" cy="152400"/>
            </a:xfrm>
            <a:prstGeom prst="rect">
              <a:avLst/>
            </a:prstGeom>
            <a:solidFill>
              <a:srgbClr val="CF4C70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11639550" y="3952875"/>
              <a:ext cx="152400" cy="152400"/>
            </a:xfrm>
            <a:prstGeom prst="rect">
              <a:avLst/>
            </a:prstGeom>
            <a:solidFill>
              <a:srgbClr val="54206F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12353925" y="3343275"/>
              <a:ext cx="152400" cy="152400"/>
            </a:xfrm>
            <a:prstGeom prst="rect">
              <a:avLst/>
            </a:prstGeom>
            <a:solidFill>
              <a:srgbClr val="F8D45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12506325" y="33432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12658725" y="3343275"/>
              <a:ext cx="152400" cy="152400"/>
            </a:xfrm>
            <a:prstGeom prst="rect">
              <a:avLst/>
            </a:prstGeom>
            <a:solidFill>
              <a:srgbClr val="ED7A63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12811125" y="3343275"/>
              <a:ext cx="152400" cy="152400"/>
            </a:xfrm>
            <a:prstGeom prst="rect">
              <a:avLst/>
            </a:prstGeom>
            <a:solidFill>
              <a:srgbClr val="CF4C70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12963525" y="3343275"/>
              <a:ext cx="152400" cy="152400"/>
            </a:xfrm>
            <a:prstGeom prst="rect">
              <a:avLst/>
            </a:prstGeom>
            <a:solidFill>
              <a:srgbClr val="8A2877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12353925" y="34956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12506325" y="3495675"/>
              <a:ext cx="152400" cy="152400"/>
            </a:xfrm>
            <a:prstGeom prst="rect">
              <a:avLst/>
            </a:prstGeom>
            <a:solidFill>
              <a:srgbClr val="F8D45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12658725" y="34956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12811125" y="3495675"/>
              <a:ext cx="152400" cy="152400"/>
            </a:xfrm>
            <a:prstGeom prst="rect">
              <a:avLst/>
            </a:prstGeom>
            <a:solidFill>
              <a:srgbClr val="ED7A63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12963525" y="3495675"/>
              <a:ext cx="152400" cy="152400"/>
            </a:xfrm>
            <a:prstGeom prst="rect">
              <a:avLst/>
            </a:prstGeom>
            <a:solidFill>
              <a:srgbClr val="CF4C70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12353925" y="3648075"/>
              <a:ext cx="152400" cy="152400"/>
            </a:xfrm>
            <a:prstGeom prst="rect">
              <a:avLst/>
            </a:prstGeom>
            <a:solidFill>
              <a:srgbClr val="ED7A63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12506325" y="36480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12658725" y="3648075"/>
              <a:ext cx="152400" cy="152400"/>
            </a:xfrm>
            <a:prstGeom prst="rect">
              <a:avLst/>
            </a:prstGeom>
            <a:solidFill>
              <a:srgbClr val="F8D45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12811125" y="36480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12963525" y="3648075"/>
              <a:ext cx="152400" cy="152400"/>
            </a:xfrm>
            <a:prstGeom prst="rect">
              <a:avLst/>
            </a:prstGeom>
            <a:solidFill>
              <a:srgbClr val="ED7A63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12353925" y="3800475"/>
              <a:ext cx="152400" cy="152400"/>
            </a:xfrm>
            <a:prstGeom prst="rect">
              <a:avLst/>
            </a:prstGeom>
            <a:solidFill>
              <a:srgbClr val="CF4C70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12506325" y="3800475"/>
              <a:ext cx="152400" cy="152400"/>
            </a:xfrm>
            <a:prstGeom prst="rect">
              <a:avLst/>
            </a:prstGeom>
            <a:solidFill>
              <a:srgbClr val="ED7A63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12658725" y="38004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12811125" y="3800475"/>
              <a:ext cx="152400" cy="152400"/>
            </a:xfrm>
            <a:prstGeom prst="rect">
              <a:avLst/>
            </a:prstGeom>
            <a:solidFill>
              <a:srgbClr val="F8D45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12963525" y="38004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12353925" y="3952875"/>
              <a:ext cx="152400" cy="152400"/>
            </a:xfrm>
            <a:prstGeom prst="rect">
              <a:avLst/>
            </a:prstGeom>
            <a:solidFill>
              <a:srgbClr val="8A2877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12506325" y="3952875"/>
              <a:ext cx="152400" cy="152400"/>
            </a:xfrm>
            <a:prstGeom prst="rect">
              <a:avLst/>
            </a:prstGeom>
            <a:solidFill>
              <a:srgbClr val="CF4C70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12658725" y="3952875"/>
              <a:ext cx="152400" cy="152400"/>
            </a:xfrm>
            <a:prstGeom prst="rect">
              <a:avLst/>
            </a:prstGeom>
            <a:solidFill>
              <a:srgbClr val="ED7A63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12811125" y="39528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12963525" y="3952875"/>
              <a:ext cx="152400" cy="152400"/>
            </a:xfrm>
            <a:prstGeom prst="rect">
              <a:avLst/>
            </a:prstGeom>
            <a:solidFill>
              <a:srgbClr val="F8D45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13773150" y="3343275"/>
              <a:ext cx="152400" cy="152400"/>
            </a:xfrm>
            <a:prstGeom prst="rect">
              <a:avLst/>
            </a:prstGeom>
            <a:solidFill>
              <a:srgbClr val="F8D45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13925550" y="33432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14077950" y="3343275"/>
              <a:ext cx="152400" cy="152400"/>
            </a:xfrm>
            <a:prstGeom prst="rect">
              <a:avLst/>
            </a:prstGeom>
            <a:solidFill>
              <a:srgbClr val="ED7A63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14230350" y="3343275"/>
              <a:ext cx="152400" cy="152400"/>
            </a:xfrm>
            <a:prstGeom prst="rect">
              <a:avLst/>
            </a:prstGeom>
            <a:solidFill>
              <a:srgbClr val="8A2877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14382750" y="3343275"/>
              <a:ext cx="152400" cy="152400"/>
            </a:xfrm>
            <a:prstGeom prst="rect">
              <a:avLst/>
            </a:prstGeom>
            <a:solidFill>
              <a:srgbClr val="54206F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13773150" y="34956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13925550" y="3495675"/>
              <a:ext cx="152400" cy="152400"/>
            </a:xfrm>
            <a:prstGeom prst="rect">
              <a:avLst/>
            </a:prstGeom>
            <a:solidFill>
              <a:srgbClr val="F8D45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14077950" y="34956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14230350" y="3495675"/>
              <a:ext cx="152400" cy="152400"/>
            </a:xfrm>
            <a:prstGeom prst="rect">
              <a:avLst/>
            </a:prstGeom>
            <a:solidFill>
              <a:srgbClr val="CF4C70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14382750" y="3495675"/>
              <a:ext cx="152400" cy="152400"/>
            </a:xfrm>
            <a:prstGeom prst="rect">
              <a:avLst/>
            </a:prstGeom>
            <a:solidFill>
              <a:srgbClr val="54206F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13773150" y="3648075"/>
              <a:ext cx="152400" cy="152400"/>
            </a:xfrm>
            <a:prstGeom prst="rect">
              <a:avLst/>
            </a:prstGeom>
            <a:solidFill>
              <a:srgbClr val="ED7A63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13925550" y="36480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14077950" y="3648075"/>
              <a:ext cx="152400" cy="152400"/>
            </a:xfrm>
            <a:prstGeom prst="rect">
              <a:avLst/>
            </a:prstGeom>
            <a:solidFill>
              <a:srgbClr val="F8D45A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14230350" y="3648075"/>
              <a:ext cx="152400" cy="152400"/>
            </a:xfrm>
            <a:prstGeom prst="rect">
              <a:avLst/>
            </a:prstGeom>
            <a:solidFill>
              <a:srgbClr val="ED7A63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14382750" y="3648075"/>
              <a:ext cx="152400" cy="152400"/>
            </a:xfrm>
            <a:prstGeom prst="rect">
              <a:avLst/>
            </a:prstGeom>
            <a:solidFill>
              <a:srgbClr val="8A2877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13773150" y="3800475"/>
              <a:ext cx="152400" cy="152400"/>
            </a:xfrm>
            <a:prstGeom prst="rect">
              <a:avLst/>
            </a:prstGeom>
            <a:solidFill>
              <a:srgbClr val="8A2877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13925550" y="3800475"/>
              <a:ext cx="152400" cy="152400"/>
            </a:xfrm>
            <a:prstGeom prst="rect">
              <a:avLst/>
            </a:prstGeom>
            <a:solidFill>
              <a:srgbClr val="CF4C70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14077950" y="3800475"/>
              <a:ext cx="152400" cy="152400"/>
            </a:xfrm>
            <a:prstGeom prst="rect">
              <a:avLst/>
            </a:prstGeom>
            <a:solidFill>
              <a:srgbClr val="ED7A63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14230350" y="38004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14382750" y="3800475"/>
              <a:ext cx="152400" cy="152400"/>
            </a:xfrm>
            <a:prstGeom prst="rect">
              <a:avLst/>
            </a:prstGeom>
            <a:solidFill>
              <a:srgbClr val="CF4C70"/>
            </a:solidFill>
            <a:ln>
              <a:noFill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13773150" y="3952875"/>
              <a:ext cx="152400" cy="152400"/>
            </a:xfrm>
            <a:prstGeom prst="rect">
              <a:avLst/>
            </a:prstGeom>
            <a:solidFill>
              <a:srgbClr val="54206F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13925550" y="3952875"/>
              <a:ext cx="152400" cy="152400"/>
            </a:xfrm>
            <a:prstGeom prst="rect">
              <a:avLst/>
            </a:prstGeom>
            <a:solidFill>
              <a:srgbClr val="54206F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14077950" y="3952875"/>
              <a:ext cx="152400" cy="152400"/>
            </a:xfrm>
            <a:prstGeom prst="rect">
              <a:avLst/>
            </a:prstGeom>
            <a:solidFill>
              <a:srgbClr val="8A2877"/>
            </a:solidFill>
            <a:ln>
              <a:noFill/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14230350" y="3952875"/>
              <a:ext cx="152400" cy="152400"/>
            </a:xfrm>
            <a:prstGeom prst="rect">
              <a:avLst/>
            </a:prstGeom>
            <a:solidFill>
              <a:srgbClr val="CF4C70"/>
            </a:solidFill>
            <a:ln>
              <a:noFill/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14382750" y="3952875"/>
              <a:ext cx="152400" cy="152400"/>
            </a:xfrm>
            <a:prstGeom prst="rect">
              <a:avLst/>
            </a:prstGeom>
            <a:solidFill>
              <a:srgbClr val="54206F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15049500" y="3343275"/>
              <a:ext cx="152400" cy="152400"/>
            </a:xfrm>
            <a:prstGeom prst="rect">
              <a:avLst/>
            </a:prstGeom>
            <a:solidFill>
              <a:srgbClr val="F8D45A"/>
            </a:solidFill>
            <a:ln>
              <a:noFill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15201900" y="33432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15354300" y="3343275"/>
              <a:ext cx="152400" cy="152400"/>
            </a:xfrm>
            <a:prstGeom prst="rect">
              <a:avLst/>
            </a:prstGeom>
            <a:solidFill>
              <a:srgbClr val="ED7A63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15506700" y="3343275"/>
              <a:ext cx="152400" cy="152400"/>
            </a:xfrm>
            <a:prstGeom prst="rect">
              <a:avLst/>
            </a:prstGeom>
            <a:solidFill>
              <a:srgbClr val="8A2877"/>
            </a:solidFill>
            <a:ln>
              <a:noFill/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15659100" y="3343275"/>
              <a:ext cx="152400" cy="152400"/>
            </a:xfrm>
            <a:prstGeom prst="rect">
              <a:avLst/>
            </a:prstGeom>
            <a:solidFill>
              <a:srgbClr val="54206F"/>
            </a:solidFill>
            <a:ln>
              <a:noFill/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15049500" y="34956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15201900" y="3495675"/>
              <a:ext cx="152400" cy="152400"/>
            </a:xfrm>
            <a:prstGeom prst="rect">
              <a:avLst/>
            </a:prstGeom>
            <a:solidFill>
              <a:srgbClr val="F8D45A"/>
            </a:solidFill>
            <a:ln>
              <a:noFill/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15354300" y="34956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15506700" y="3495675"/>
              <a:ext cx="152400" cy="152400"/>
            </a:xfrm>
            <a:prstGeom prst="rect">
              <a:avLst/>
            </a:prstGeom>
            <a:solidFill>
              <a:srgbClr val="CF4C70"/>
            </a:solidFill>
            <a:ln>
              <a:noFill/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15659100" y="3495675"/>
              <a:ext cx="152400" cy="152400"/>
            </a:xfrm>
            <a:prstGeom prst="rect">
              <a:avLst/>
            </a:prstGeom>
            <a:solidFill>
              <a:srgbClr val="54206F"/>
            </a:solidFill>
            <a:ln>
              <a:noFill/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15049500" y="3648075"/>
              <a:ext cx="152400" cy="152400"/>
            </a:xfrm>
            <a:prstGeom prst="rect">
              <a:avLst/>
            </a:prstGeom>
            <a:solidFill>
              <a:srgbClr val="ED7A63"/>
            </a:solidFill>
            <a:ln>
              <a:noFill/>
            </a:ln>
          </p:spPr>
        </p:sp>
        <p:sp>
          <p:nvSpPr>
            <p:cNvPr id="131" name="Rectangle 131"/>
            <p:cNvSpPr/>
            <p:nvPr/>
          </p:nvSpPr>
          <p:spPr>
            <a:xfrm>
              <a:off x="15201900" y="36480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15354300" y="3648075"/>
              <a:ext cx="152400" cy="152400"/>
            </a:xfrm>
            <a:prstGeom prst="rect">
              <a:avLst/>
            </a:prstGeom>
            <a:solidFill>
              <a:srgbClr val="F8D45A"/>
            </a:solidFill>
            <a:ln>
              <a:noFill/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15506700" y="3648075"/>
              <a:ext cx="152400" cy="152400"/>
            </a:xfrm>
            <a:prstGeom prst="rect">
              <a:avLst/>
            </a:prstGeom>
            <a:solidFill>
              <a:srgbClr val="ED7A63"/>
            </a:solidFill>
            <a:ln>
              <a:noFill/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15659100" y="3648075"/>
              <a:ext cx="152400" cy="152400"/>
            </a:xfrm>
            <a:prstGeom prst="rect">
              <a:avLst/>
            </a:prstGeom>
            <a:solidFill>
              <a:srgbClr val="8A2877"/>
            </a:solidFill>
            <a:ln>
              <a:noFill/>
            </a:ln>
          </p:spPr>
        </p:sp>
        <p:sp>
          <p:nvSpPr>
            <p:cNvPr id="135" name="Rectangle 135"/>
            <p:cNvSpPr/>
            <p:nvPr/>
          </p:nvSpPr>
          <p:spPr>
            <a:xfrm>
              <a:off x="15049500" y="3800475"/>
              <a:ext cx="152400" cy="152400"/>
            </a:xfrm>
            <a:prstGeom prst="rect">
              <a:avLst/>
            </a:prstGeom>
            <a:solidFill>
              <a:srgbClr val="8A2877"/>
            </a:solidFill>
            <a:ln>
              <a:noFill/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15201900" y="3800475"/>
              <a:ext cx="152400" cy="152400"/>
            </a:xfrm>
            <a:prstGeom prst="rect">
              <a:avLst/>
            </a:prstGeom>
            <a:solidFill>
              <a:srgbClr val="CF4C70"/>
            </a:solidFill>
            <a:ln>
              <a:noFill/>
            </a:ln>
          </p:spPr>
        </p:sp>
        <p:sp>
          <p:nvSpPr>
            <p:cNvPr id="137" name="Rectangle 137"/>
            <p:cNvSpPr/>
            <p:nvPr/>
          </p:nvSpPr>
          <p:spPr>
            <a:xfrm>
              <a:off x="15354300" y="3800475"/>
              <a:ext cx="152400" cy="152400"/>
            </a:xfrm>
            <a:prstGeom prst="rect">
              <a:avLst/>
            </a:prstGeom>
            <a:solidFill>
              <a:srgbClr val="ED7A63"/>
            </a:solidFill>
            <a:ln>
              <a:noFill/>
            </a:ln>
          </p:spPr>
        </p:sp>
        <p:sp>
          <p:nvSpPr>
            <p:cNvPr id="138" name="Rectangle 138"/>
            <p:cNvSpPr/>
            <p:nvPr/>
          </p:nvSpPr>
          <p:spPr>
            <a:xfrm>
              <a:off x="15506700" y="3800475"/>
              <a:ext cx="152400" cy="152400"/>
            </a:xfrm>
            <a:prstGeom prst="rect">
              <a:avLst/>
            </a:prstGeom>
            <a:solidFill>
              <a:srgbClr val="F3B34E"/>
            </a:solidFill>
            <a:ln>
              <a:noFill/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15659100" y="3800475"/>
              <a:ext cx="152400" cy="152400"/>
            </a:xfrm>
            <a:prstGeom prst="rect">
              <a:avLst/>
            </a:prstGeom>
            <a:solidFill>
              <a:srgbClr val="CF4C70"/>
            </a:solidFill>
            <a:ln>
              <a:noFill/>
            </a:ln>
          </p:spPr>
        </p:sp>
        <p:sp>
          <p:nvSpPr>
            <p:cNvPr id="140" name="Rectangle 140"/>
            <p:cNvSpPr/>
            <p:nvPr/>
          </p:nvSpPr>
          <p:spPr>
            <a:xfrm>
              <a:off x="15049500" y="3952875"/>
              <a:ext cx="152400" cy="152400"/>
            </a:xfrm>
            <a:prstGeom prst="rect">
              <a:avLst/>
            </a:prstGeom>
            <a:solidFill>
              <a:srgbClr val="54206F"/>
            </a:solidFill>
            <a:ln>
              <a:noFill/>
            </a:ln>
          </p:spPr>
        </p:sp>
        <p:sp>
          <p:nvSpPr>
            <p:cNvPr id="141" name="Rectangle 141"/>
            <p:cNvSpPr/>
            <p:nvPr/>
          </p:nvSpPr>
          <p:spPr>
            <a:xfrm>
              <a:off x="15201900" y="3952875"/>
              <a:ext cx="152400" cy="152400"/>
            </a:xfrm>
            <a:prstGeom prst="rect">
              <a:avLst/>
            </a:prstGeom>
            <a:solidFill>
              <a:srgbClr val="54206F"/>
            </a:solidFill>
            <a:ln>
              <a:noFill/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15354300" y="3952875"/>
              <a:ext cx="152400" cy="152400"/>
            </a:xfrm>
            <a:prstGeom prst="rect">
              <a:avLst/>
            </a:prstGeom>
            <a:solidFill>
              <a:srgbClr val="8A2877"/>
            </a:solidFill>
            <a:ln>
              <a:noFill/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15506700" y="3952875"/>
              <a:ext cx="152400" cy="152400"/>
            </a:xfrm>
            <a:prstGeom prst="rect">
              <a:avLst/>
            </a:prstGeom>
            <a:solidFill>
              <a:srgbClr val="CF4C70"/>
            </a:solidFill>
            <a:ln>
              <a:noFill/>
            </a:ln>
          </p:spPr>
        </p:sp>
        <p:sp>
          <p:nvSpPr>
            <p:cNvPr id="144" name="Rectangle 144"/>
            <p:cNvSpPr/>
            <p:nvPr/>
          </p:nvSpPr>
          <p:spPr>
            <a:xfrm>
              <a:off x="15659100" y="3952875"/>
              <a:ext cx="152400" cy="152400"/>
            </a:xfrm>
            <a:prstGeom prst="rect">
              <a:avLst/>
            </a:prstGeom>
            <a:solidFill>
              <a:srgbClr val="54206F"/>
            </a:solidFill>
            <a:ln>
              <a:noFill/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10953750" y="6800850"/>
              <a:ext cx="161925" cy="161925"/>
            </a:xfrm>
            <a:prstGeom prst="rect">
              <a:avLst/>
            </a:prstGeom>
            <a:solidFill>
              <a:srgbClr val="79A966"/>
            </a:solidFill>
            <a:ln w="9525">
              <a:solidFill>
                <a:srgbClr val="79A966"/>
              </a:solidFill>
            </a:ln>
          </p:spPr>
        </p:sp>
        <p:sp>
          <p:nvSpPr>
            <p:cNvPr id="146" name="Rectangle 146"/>
            <p:cNvSpPr/>
            <p:nvPr/>
          </p:nvSpPr>
          <p:spPr>
            <a:xfrm>
              <a:off x="11172825" y="6800850"/>
              <a:ext cx="161925" cy="161925"/>
            </a:xfrm>
            <a:prstGeom prst="rect">
              <a:avLst/>
            </a:prstGeom>
            <a:solidFill>
              <a:srgbClr val="79A966"/>
            </a:solidFill>
            <a:ln w="9525">
              <a:solidFill>
                <a:srgbClr val="79A966"/>
              </a:solidFill>
            </a:ln>
          </p:spPr>
        </p:sp>
        <p:sp>
          <p:nvSpPr>
            <p:cNvPr id="147" name="Rectangle 147"/>
            <p:cNvSpPr/>
            <p:nvPr/>
          </p:nvSpPr>
          <p:spPr>
            <a:xfrm>
              <a:off x="11391900" y="6800850"/>
              <a:ext cx="161925" cy="161925"/>
            </a:xfrm>
            <a:prstGeom prst="rect">
              <a:avLst/>
            </a:prstGeom>
            <a:solidFill>
              <a:srgbClr val="79A966"/>
            </a:solidFill>
            <a:ln w="9525">
              <a:solidFill>
                <a:srgbClr val="79A966"/>
              </a:solidFill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11610975" y="6800850"/>
              <a:ext cx="161925" cy="161925"/>
            </a:xfrm>
            <a:prstGeom prst="rect">
              <a:avLst/>
            </a:prstGeom>
            <a:solidFill>
              <a:srgbClr val="79A966"/>
            </a:solidFill>
            <a:ln w="9525">
              <a:solidFill>
                <a:srgbClr val="79A966"/>
              </a:solidFill>
            </a:ln>
          </p:spPr>
        </p:sp>
        <p:sp>
          <p:nvSpPr>
            <p:cNvPr id="149" name="Rectangle 149"/>
            <p:cNvSpPr/>
            <p:nvPr/>
          </p:nvSpPr>
          <p:spPr>
            <a:xfrm>
              <a:off x="11830050" y="6800850"/>
              <a:ext cx="161925" cy="161925"/>
            </a:xfrm>
            <a:prstGeom prst="rect">
              <a:avLst/>
            </a:prstGeom>
            <a:solidFill>
              <a:srgbClr val="79A966"/>
            </a:solidFill>
            <a:ln w="9525">
              <a:solidFill>
                <a:srgbClr val="79A966"/>
              </a:solidFill>
            </a:ln>
          </p:spPr>
        </p:sp>
        <p:sp>
          <p:nvSpPr>
            <p:cNvPr id="150" name="Rectangle 150"/>
            <p:cNvSpPr/>
            <p:nvPr/>
          </p:nvSpPr>
          <p:spPr>
            <a:xfrm>
              <a:off x="12049125" y="6800850"/>
              <a:ext cx="161925" cy="161925"/>
            </a:xfrm>
            <a:prstGeom prst="rect">
              <a:avLst/>
            </a:prstGeom>
            <a:solidFill>
              <a:srgbClr val="79A966"/>
            </a:solidFill>
            <a:ln w="9525">
              <a:solidFill>
                <a:srgbClr val="79A966"/>
              </a:solidFill>
            </a:ln>
          </p:spPr>
        </p:sp>
        <p:sp>
          <p:nvSpPr>
            <p:cNvPr id="151" name="Rectangle 151"/>
            <p:cNvSpPr/>
            <p:nvPr/>
          </p:nvSpPr>
          <p:spPr>
            <a:xfrm>
              <a:off x="12268200" y="6800850"/>
              <a:ext cx="161925" cy="161925"/>
            </a:xfrm>
            <a:prstGeom prst="rect">
              <a:avLst/>
            </a:prstGeom>
            <a:solidFill>
              <a:srgbClr val="79A966"/>
            </a:solidFill>
            <a:ln w="9525">
              <a:solidFill>
                <a:srgbClr val="79A966"/>
              </a:solidFill>
            </a:ln>
          </p:spPr>
        </p:sp>
        <p:sp>
          <p:nvSpPr>
            <p:cNvPr id="152" name="Rectangle 152"/>
            <p:cNvSpPr/>
            <p:nvPr/>
          </p:nvSpPr>
          <p:spPr>
            <a:xfrm>
              <a:off x="12487275" y="6800850"/>
              <a:ext cx="161925" cy="161925"/>
            </a:xfrm>
            <a:prstGeom prst="rect">
              <a:avLst/>
            </a:prstGeom>
            <a:solidFill>
              <a:srgbClr val="79A966"/>
            </a:solidFill>
            <a:ln w="9525">
              <a:solidFill>
                <a:srgbClr val="79A966"/>
              </a:solidFill>
            </a:ln>
          </p:spPr>
        </p:sp>
        <p:sp>
          <p:nvSpPr>
            <p:cNvPr id="153" name="Rectangle 153"/>
            <p:cNvSpPr/>
            <p:nvPr/>
          </p:nvSpPr>
          <p:spPr>
            <a:xfrm>
              <a:off x="12706350" y="6800850"/>
              <a:ext cx="161925" cy="161925"/>
            </a:xfrm>
            <a:prstGeom prst="rect">
              <a:avLst/>
            </a:prstGeom>
            <a:solidFill>
              <a:srgbClr val="F4F4F4"/>
            </a:solidFill>
            <a:ln w="9525">
              <a:solidFill>
                <a:srgbClr val="C7C7C7"/>
              </a:solidFill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12925425" y="6800850"/>
              <a:ext cx="161925" cy="161925"/>
            </a:xfrm>
            <a:prstGeom prst="rect">
              <a:avLst/>
            </a:prstGeom>
            <a:solidFill>
              <a:srgbClr val="F4F4F4"/>
            </a:solidFill>
            <a:ln w="9525">
              <a:solidFill>
                <a:srgbClr val="C7C7C7"/>
              </a:solidFill>
            </a:ln>
          </p:spPr>
        </p:sp>
        <p:sp>
          <p:nvSpPr>
            <p:cNvPr id="155" name="Rectangle 155"/>
            <p:cNvSpPr/>
            <p:nvPr/>
          </p:nvSpPr>
          <p:spPr>
            <a:xfrm>
              <a:off x="10953750" y="7200900"/>
              <a:ext cx="152400" cy="152400"/>
            </a:xfrm>
            <a:prstGeom prst="rect">
              <a:avLst/>
            </a:prstGeom>
            <a:solidFill>
              <a:srgbClr val="79A966"/>
            </a:solidFill>
            <a:ln w="9525">
              <a:solidFill>
                <a:srgbClr val="79A966"/>
              </a:solidFill>
            </a:ln>
          </p:spPr>
        </p:sp>
        <p:sp>
          <p:nvSpPr>
            <p:cNvPr id="156" name="Rectangle 156"/>
            <p:cNvSpPr/>
            <p:nvPr/>
          </p:nvSpPr>
          <p:spPr>
            <a:xfrm>
              <a:off x="12144375" y="7200900"/>
              <a:ext cx="152400" cy="152400"/>
            </a:xfrm>
            <a:prstGeom prst="rect">
              <a:avLst/>
            </a:prstGeom>
            <a:solidFill>
              <a:srgbClr val="F4F4F4"/>
            </a:solidFill>
            <a:ln w="9525">
              <a:solidFill>
                <a:srgbClr val="C7C7C7"/>
              </a:solidFill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13744575" y="6800850"/>
              <a:ext cx="161925" cy="161925"/>
            </a:xfrm>
            <a:prstGeom prst="rect">
              <a:avLst/>
            </a:prstGeom>
            <a:solidFill>
              <a:srgbClr val="EB9991"/>
            </a:solidFill>
            <a:ln w="9525">
              <a:solidFill>
                <a:srgbClr val="EB9991"/>
              </a:solidFill>
            </a:ln>
          </p:spPr>
        </p:sp>
        <p:sp>
          <p:nvSpPr>
            <p:cNvPr id="158" name="Rectangle 158"/>
            <p:cNvSpPr/>
            <p:nvPr/>
          </p:nvSpPr>
          <p:spPr>
            <a:xfrm>
              <a:off x="13963650" y="6800850"/>
              <a:ext cx="161925" cy="161925"/>
            </a:xfrm>
            <a:prstGeom prst="rect">
              <a:avLst/>
            </a:prstGeom>
            <a:solidFill>
              <a:srgbClr val="EB9991"/>
            </a:solidFill>
            <a:ln w="9525">
              <a:solidFill>
                <a:srgbClr val="EB9991"/>
              </a:solidFill>
            </a:ln>
          </p:spPr>
        </p:sp>
        <p:sp>
          <p:nvSpPr>
            <p:cNvPr id="159" name="Rectangle 159"/>
            <p:cNvSpPr/>
            <p:nvPr/>
          </p:nvSpPr>
          <p:spPr>
            <a:xfrm>
              <a:off x="14182725" y="6800850"/>
              <a:ext cx="161925" cy="161925"/>
            </a:xfrm>
            <a:prstGeom prst="rect">
              <a:avLst/>
            </a:prstGeom>
            <a:solidFill>
              <a:srgbClr val="EB9991"/>
            </a:solidFill>
            <a:ln w="9525">
              <a:solidFill>
                <a:srgbClr val="EB9991"/>
              </a:solidFill>
            </a:ln>
          </p:spPr>
        </p:sp>
        <p:sp>
          <p:nvSpPr>
            <p:cNvPr id="160" name="Rectangle 160"/>
            <p:cNvSpPr/>
            <p:nvPr/>
          </p:nvSpPr>
          <p:spPr>
            <a:xfrm>
              <a:off x="14401800" y="6800850"/>
              <a:ext cx="161925" cy="161925"/>
            </a:xfrm>
            <a:prstGeom prst="rect">
              <a:avLst/>
            </a:prstGeom>
            <a:solidFill>
              <a:srgbClr val="F4F4F4"/>
            </a:solidFill>
            <a:ln w="9525">
              <a:solidFill>
                <a:srgbClr val="C7C7C7"/>
              </a:solidFill>
            </a:ln>
          </p:spPr>
        </p:sp>
        <p:sp>
          <p:nvSpPr>
            <p:cNvPr id="161" name="Rectangle 161"/>
            <p:cNvSpPr/>
            <p:nvPr/>
          </p:nvSpPr>
          <p:spPr>
            <a:xfrm>
              <a:off x="14620875" y="6800850"/>
              <a:ext cx="161925" cy="161925"/>
            </a:xfrm>
            <a:prstGeom prst="rect">
              <a:avLst/>
            </a:prstGeom>
            <a:solidFill>
              <a:srgbClr val="F4F4F4"/>
            </a:solidFill>
            <a:ln w="9525">
              <a:solidFill>
                <a:srgbClr val="C7C7C7"/>
              </a:solidFill>
            </a:ln>
          </p:spPr>
        </p:sp>
        <p:sp>
          <p:nvSpPr>
            <p:cNvPr id="162" name="Rectangle 162"/>
            <p:cNvSpPr/>
            <p:nvPr/>
          </p:nvSpPr>
          <p:spPr>
            <a:xfrm>
              <a:off x="14839950" y="6800850"/>
              <a:ext cx="161925" cy="161925"/>
            </a:xfrm>
            <a:prstGeom prst="rect">
              <a:avLst/>
            </a:prstGeom>
            <a:solidFill>
              <a:srgbClr val="F4F4F4"/>
            </a:solidFill>
            <a:ln w="9525">
              <a:solidFill>
                <a:srgbClr val="C7C7C7"/>
              </a:solidFill>
            </a:ln>
          </p:spPr>
        </p:sp>
        <p:sp>
          <p:nvSpPr>
            <p:cNvPr id="163" name="Rectangle 163"/>
            <p:cNvSpPr/>
            <p:nvPr/>
          </p:nvSpPr>
          <p:spPr>
            <a:xfrm>
              <a:off x="15059025" y="6800850"/>
              <a:ext cx="161925" cy="161925"/>
            </a:xfrm>
            <a:prstGeom prst="rect">
              <a:avLst/>
            </a:prstGeom>
            <a:solidFill>
              <a:srgbClr val="F4F4F4"/>
            </a:solidFill>
            <a:ln w="9525">
              <a:solidFill>
                <a:srgbClr val="C7C7C7"/>
              </a:solidFill>
            </a:ln>
          </p:spPr>
        </p:sp>
        <p:sp>
          <p:nvSpPr>
            <p:cNvPr id="164" name="Rectangle 164"/>
            <p:cNvSpPr/>
            <p:nvPr/>
          </p:nvSpPr>
          <p:spPr>
            <a:xfrm>
              <a:off x="15278100" y="6800850"/>
              <a:ext cx="161925" cy="161925"/>
            </a:xfrm>
            <a:prstGeom prst="rect">
              <a:avLst/>
            </a:prstGeom>
            <a:solidFill>
              <a:srgbClr val="F4F4F4"/>
            </a:solidFill>
            <a:ln w="9525">
              <a:solidFill>
                <a:srgbClr val="C7C7C7"/>
              </a:solidFill>
            </a:ln>
          </p:spPr>
        </p:sp>
        <p:sp>
          <p:nvSpPr>
            <p:cNvPr id="165" name="Rectangle 165"/>
            <p:cNvSpPr/>
            <p:nvPr/>
          </p:nvSpPr>
          <p:spPr>
            <a:xfrm>
              <a:off x="15497175" y="6800850"/>
              <a:ext cx="161925" cy="161925"/>
            </a:xfrm>
            <a:prstGeom prst="rect">
              <a:avLst/>
            </a:prstGeom>
            <a:solidFill>
              <a:srgbClr val="F4F4F4"/>
            </a:solidFill>
            <a:ln w="9525">
              <a:solidFill>
                <a:srgbClr val="C7C7C7"/>
              </a:solidFill>
            </a:ln>
          </p:spPr>
        </p:sp>
        <p:sp>
          <p:nvSpPr>
            <p:cNvPr id="166" name="Rectangle 166"/>
            <p:cNvSpPr/>
            <p:nvPr/>
          </p:nvSpPr>
          <p:spPr>
            <a:xfrm>
              <a:off x="15716250" y="6800850"/>
              <a:ext cx="161925" cy="161925"/>
            </a:xfrm>
            <a:prstGeom prst="rect">
              <a:avLst/>
            </a:prstGeom>
            <a:solidFill>
              <a:srgbClr val="F4F4F4"/>
            </a:solidFill>
            <a:ln w="9525">
              <a:solidFill>
                <a:srgbClr val="C7C7C7"/>
              </a:solidFill>
            </a:ln>
          </p:spPr>
        </p:sp>
        <p:sp>
          <p:nvSpPr>
            <p:cNvPr id="167" name="Rectangle 167"/>
            <p:cNvSpPr/>
            <p:nvPr/>
          </p:nvSpPr>
          <p:spPr>
            <a:xfrm>
              <a:off x="13744575" y="7200900"/>
              <a:ext cx="152400" cy="152400"/>
            </a:xfrm>
            <a:prstGeom prst="rect">
              <a:avLst/>
            </a:prstGeom>
            <a:solidFill>
              <a:srgbClr val="EB9991"/>
            </a:solidFill>
            <a:ln w="9525">
              <a:solidFill>
                <a:srgbClr val="EB9991"/>
              </a:solidFill>
            </a:ln>
          </p:spPr>
        </p:sp>
        <p:sp>
          <p:nvSpPr>
            <p:cNvPr id="168" name="Rectangle 168"/>
            <p:cNvSpPr/>
            <p:nvPr/>
          </p:nvSpPr>
          <p:spPr>
            <a:xfrm>
              <a:off x="14935200" y="7200900"/>
              <a:ext cx="152400" cy="152400"/>
            </a:xfrm>
            <a:prstGeom prst="rect">
              <a:avLst/>
            </a:prstGeom>
            <a:solidFill>
              <a:srgbClr val="F4F4F4"/>
            </a:solidFill>
            <a:ln w="9525">
              <a:solidFill>
                <a:srgbClr val="C7C7C7"/>
              </a:solidFill>
            </a:ln>
          </p:spPr>
        </p:sp>
      </p:grpSp>
      <p:grpSp>
        <p:nvGrpSpPr>
          <p:cNvPr id="294" name="Group 294"/>
          <p:cNvGrpSpPr/>
          <p:nvPr/>
        </p:nvGrpSpPr>
        <p:grpSpPr>
          <a:xfrm>
            <a:off x="404812" y="1704975"/>
            <a:ext cx="15416213" cy="5538788"/>
            <a:chOff x="404812" y="1704975"/>
            <a:chExt cx="15416213" cy="5538788"/>
          </a:xfrm>
        </p:grpSpPr>
        <p:sp>
          <p:nvSpPr>
            <p:cNvPr id="170" name="Ellipse 170"/>
            <p:cNvSpPr/>
            <p:nvPr/>
          </p:nvSpPr>
          <p:spPr>
            <a:xfrm>
              <a:off x="404812" y="7177088"/>
              <a:ext cx="66675" cy="66675"/>
            </a:xfrm>
            <a:prstGeom prst="ellipse">
              <a:avLst/>
            </a:prstGeom>
            <a:solidFill>
              <a:srgbClr val="3B8156"/>
            </a:solidFill>
            <a:ln w="9525">
              <a:solidFill>
                <a:srgbClr val="3B8156"/>
              </a:solidFill>
            </a:ln>
          </p:spPr>
        </p:sp>
        <p:sp>
          <p:nvSpPr>
            <p:cNvPr id="171" name="Ellipse 171"/>
            <p:cNvSpPr/>
            <p:nvPr/>
          </p:nvSpPr>
          <p:spPr>
            <a:xfrm>
              <a:off x="900112" y="7177088"/>
              <a:ext cx="66675" cy="66675"/>
            </a:xfrm>
            <a:prstGeom prst="ellipse">
              <a:avLst/>
            </a:prstGeom>
            <a:solidFill>
              <a:srgbClr val="3B8156"/>
            </a:solidFill>
            <a:ln w="9525">
              <a:solidFill>
                <a:srgbClr val="3B8156"/>
              </a:solidFill>
            </a:ln>
          </p:spPr>
        </p:sp>
        <p:sp>
          <p:nvSpPr>
            <p:cNvPr id="172" name="Ellipse 172"/>
            <p:cNvSpPr/>
            <p:nvPr/>
          </p:nvSpPr>
          <p:spPr>
            <a:xfrm>
              <a:off x="1395412" y="7177088"/>
              <a:ext cx="66675" cy="66675"/>
            </a:xfrm>
            <a:prstGeom prst="ellipse">
              <a:avLst/>
            </a:prstGeom>
            <a:solidFill>
              <a:srgbClr val="3B8156"/>
            </a:solidFill>
            <a:ln w="9525">
              <a:solidFill>
                <a:srgbClr val="3B8156"/>
              </a:solidFill>
            </a:ln>
          </p:spPr>
        </p:sp>
        <p:sp>
          <p:nvSpPr>
            <p:cNvPr id="173" name="Ellipse 173"/>
            <p:cNvSpPr/>
            <p:nvPr/>
          </p:nvSpPr>
          <p:spPr>
            <a:xfrm>
              <a:off x="1900238" y="7177088"/>
              <a:ext cx="66675" cy="66675"/>
            </a:xfrm>
            <a:prstGeom prst="ellipse">
              <a:avLst/>
            </a:prstGeom>
            <a:solidFill>
              <a:srgbClr val="3B8156"/>
            </a:solidFill>
            <a:ln w="9525">
              <a:solidFill>
                <a:srgbClr val="3B8156"/>
              </a:solidFill>
            </a:ln>
          </p:spPr>
        </p:sp>
        <p:sp>
          <p:nvSpPr>
            <p:cNvPr id="174" name="Ellipse 174"/>
            <p:cNvSpPr/>
            <p:nvPr/>
          </p:nvSpPr>
          <p:spPr>
            <a:xfrm>
              <a:off x="2643188" y="7177088"/>
              <a:ext cx="66675" cy="66675"/>
            </a:xfrm>
            <a:prstGeom prst="ellipse">
              <a:avLst/>
            </a:prstGeom>
            <a:solidFill>
              <a:srgbClr val="3B8156"/>
            </a:solidFill>
            <a:ln w="9525">
              <a:solidFill>
                <a:srgbClr val="3B8156"/>
              </a:solidFill>
            </a:ln>
          </p:spPr>
        </p:sp>
        <p:sp>
          <p:nvSpPr>
            <p:cNvPr id="175" name="Ellipse 175"/>
            <p:cNvSpPr/>
            <p:nvPr/>
          </p:nvSpPr>
          <p:spPr>
            <a:xfrm>
              <a:off x="3138488" y="7177088"/>
              <a:ext cx="66675" cy="66675"/>
            </a:xfrm>
            <a:prstGeom prst="ellipse">
              <a:avLst/>
            </a:prstGeom>
            <a:solidFill>
              <a:srgbClr val="3B8156"/>
            </a:solidFill>
            <a:ln w="9525">
              <a:solidFill>
                <a:srgbClr val="3B8156"/>
              </a:solidFill>
            </a:ln>
          </p:spPr>
        </p:sp>
        <p:sp>
          <p:nvSpPr>
            <p:cNvPr id="176" name="Ellipse 176"/>
            <p:cNvSpPr/>
            <p:nvPr/>
          </p:nvSpPr>
          <p:spPr>
            <a:xfrm>
              <a:off x="3633788" y="7177088"/>
              <a:ext cx="66675" cy="66675"/>
            </a:xfrm>
            <a:prstGeom prst="ellipse">
              <a:avLst/>
            </a:prstGeom>
            <a:solidFill>
              <a:srgbClr val="3B8156"/>
            </a:solidFill>
            <a:ln w="9525">
              <a:solidFill>
                <a:srgbClr val="3B8156"/>
              </a:solidFill>
            </a:ln>
          </p:spPr>
        </p:sp>
        <p:sp>
          <p:nvSpPr>
            <p:cNvPr id="177" name="Ellipse 177"/>
            <p:cNvSpPr/>
            <p:nvPr/>
          </p:nvSpPr>
          <p:spPr>
            <a:xfrm>
              <a:off x="4138612" y="7177088"/>
              <a:ext cx="66675" cy="66675"/>
            </a:xfrm>
            <a:prstGeom prst="ellipse">
              <a:avLst/>
            </a:prstGeom>
            <a:solidFill>
              <a:srgbClr val="3B8156"/>
            </a:solidFill>
            <a:ln w="9525">
              <a:solidFill>
                <a:srgbClr val="3B8156"/>
              </a:solidFill>
            </a:ln>
          </p:spPr>
        </p:sp>
        <p:sp>
          <p:nvSpPr>
            <p:cNvPr id="178" name="Polygon 178"/>
            <p:cNvSpPr/>
            <p:nvPr/>
          </p:nvSpPr>
          <p:spPr>
            <a:xfrm>
              <a:off x="6353175" y="2886075"/>
              <a:ext cx="266700" cy="238125"/>
            </a:xfrm>
            <a:custGeom>
              <a:avLst/>
              <a:gdLst/>
              <a:ahLst/>
              <a:cxnLst/>
              <a:rect l="l" t="t" r="r" b="b"/>
              <a:pathLst>
                <a:path w="266700" h="238125">
                  <a:moveTo>
                    <a:pt x="133350" y="0"/>
                  </a:moveTo>
                  <a:lnTo>
                    <a:pt x="171450" y="85725"/>
                  </a:lnTo>
                  <a:lnTo>
                    <a:pt x="266700" y="85725"/>
                  </a:lnTo>
                  <a:lnTo>
                    <a:pt x="190500" y="142875"/>
                  </a:lnTo>
                  <a:lnTo>
                    <a:pt x="219075" y="238125"/>
                  </a:lnTo>
                  <a:lnTo>
                    <a:pt x="133350" y="180975"/>
                  </a:lnTo>
                  <a:lnTo>
                    <a:pt x="47625" y="238125"/>
                  </a:lnTo>
                  <a:lnTo>
                    <a:pt x="76200" y="142875"/>
                  </a:lnTo>
                  <a:lnTo>
                    <a:pt x="0" y="85725"/>
                  </a:lnTo>
                  <a:lnTo>
                    <a:pt x="95250" y="85725"/>
                  </a:lnTo>
                  <a:close/>
                </a:path>
              </a:pathLst>
            </a:custGeom>
            <a:solidFill>
              <a:srgbClr val="FFC800"/>
            </a:solidFill>
            <a:ln w="9525">
              <a:solidFill>
                <a:srgbClr val="FFC800"/>
              </a:solidFill>
            </a:ln>
          </p:spPr>
        </p:sp>
        <p:sp>
          <p:nvSpPr>
            <p:cNvPr id="179" name="Ellipse 179"/>
            <p:cNvSpPr/>
            <p:nvPr/>
          </p:nvSpPr>
          <p:spPr>
            <a:xfrm>
              <a:off x="5629275" y="4714875"/>
              <a:ext cx="476250" cy="476250"/>
            </a:xfrm>
            <a:prstGeom prst="ellipse">
              <a:avLst/>
            </a:prstGeom>
            <a:noFill/>
            <a:ln w="38100">
              <a:solidFill>
                <a:srgbClr val="3B74B4"/>
              </a:solidFill>
            </a:ln>
          </p:spPr>
        </p:sp>
        <p:sp>
          <p:nvSpPr>
            <p:cNvPr id="180" name="Ellipse 180"/>
            <p:cNvSpPr/>
            <p:nvPr/>
          </p:nvSpPr>
          <p:spPr>
            <a:xfrm>
              <a:off x="5719762" y="4805362"/>
              <a:ext cx="295275" cy="295275"/>
            </a:xfrm>
            <a:prstGeom prst="ellipse">
              <a:avLst/>
            </a:prstGeom>
            <a:noFill/>
            <a:ln w="38100">
              <a:solidFill>
                <a:srgbClr val="3B74B4"/>
              </a:solidFill>
            </a:ln>
          </p:spPr>
        </p:sp>
        <p:sp>
          <p:nvSpPr>
            <p:cNvPr id="181" name="Ellipse 181"/>
            <p:cNvSpPr/>
            <p:nvPr/>
          </p:nvSpPr>
          <p:spPr>
            <a:xfrm>
              <a:off x="5812631" y="4898231"/>
              <a:ext cx="109538" cy="109538"/>
            </a:xfrm>
            <a:prstGeom prst="ellipse">
              <a:avLst/>
            </a:prstGeom>
            <a:solidFill>
              <a:srgbClr val="3B74B4"/>
            </a:solidFill>
            <a:ln w="19050">
              <a:solidFill>
                <a:srgbClr val="3B74B4"/>
              </a:solidFill>
            </a:ln>
          </p:spPr>
        </p:sp>
        <p:sp>
          <p:nvSpPr>
            <p:cNvPr id="182" name="Ellipse 182"/>
            <p:cNvSpPr/>
            <p:nvPr/>
          </p:nvSpPr>
          <p:spPr>
            <a:xfrm>
              <a:off x="7477125" y="4714875"/>
              <a:ext cx="476250" cy="476250"/>
            </a:xfrm>
            <a:prstGeom prst="ellipse">
              <a:avLst/>
            </a:prstGeom>
            <a:solidFill>
              <a:srgbClr val="F35B70"/>
            </a:solidFill>
            <a:ln w="19050">
              <a:solidFill>
                <a:srgbClr val="F35B70"/>
              </a:solidFill>
            </a:ln>
          </p:spPr>
        </p:sp>
        <p:sp>
          <p:nvSpPr>
            <p:cNvPr id="183" name="Rectangle 183"/>
            <p:cNvSpPr/>
            <p:nvPr/>
          </p:nvSpPr>
          <p:spPr>
            <a:xfrm>
              <a:off x="7658100" y="4600575"/>
              <a:ext cx="114300" cy="114300"/>
            </a:xfrm>
            <a:prstGeom prst="roundRect">
              <a:avLst>
                <a:gd name="adj" fmla="val 8333"/>
              </a:avLst>
            </a:prstGeom>
            <a:solidFill>
              <a:srgbClr val="F35B70"/>
            </a:solidFill>
            <a:ln w="9525">
              <a:solidFill>
                <a:srgbClr val="F35B70"/>
              </a:solidFill>
            </a:ln>
          </p:spPr>
        </p:sp>
        <p:sp>
          <p:nvSpPr>
            <p:cNvPr id="184" name="Rectangle 184"/>
            <p:cNvSpPr/>
            <p:nvPr/>
          </p:nvSpPr>
          <p:spPr>
            <a:xfrm>
              <a:off x="7867650" y="4686300"/>
              <a:ext cx="114300" cy="114300"/>
            </a:xfrm>
            <a:prstGeom prst="roundRect">
              <a:avLst>
                <a:gd name="adj" fmla="val 8333"/>
              </a:avLst>
            </a:prstGeom>
            <a:solidFill>
              <a:srgbClr val="F35B70"/>
            </a:solidFill>
            <a:ln w="9525">
              <a:solidFill>
                <a:srgbClr val="F35B70"/>
              </a:solidFill>
            </a:ln>
          </p:spPr>
        </p:sp>
        <p:sp>
          <p:nvSpPr>
            <p:cNvPr id="185" name="Rectangle 185"/>
            <p:cNvSpPr/>
            <p:nvPr/>
          </p:nvSpPr>
          <p:spPr>
            <a:xfrm>
              <a:off x="7953375" y="4895850"/>
              <a:ext cx="114300" cy="114300"/>
            </a:xfrm>
            <a:prstGeom prst="roundRect">
              <a:avLst>
                <a:gd name="adj" fmla="val 8333"/>
              </a:avLst>
            </a:prstGeom>
            <a:solidFill>
              <a:srgbClr val="F35B70"/>
            </a:solidFill>
            <a:ln w="9525">
              <a:solidFill>
                <a:srgbClr val="F35B70"/>
              </a:solidFill>
            </a:ln>
          </p:spPr>
        </p:sp>
        <p:sp>
          <p:nvSpPr>
            <p:cNvPr id="186" name="Rectangle 186"/>
            <p:cNvSpPr/>
            <p:nvPr/>
          </p:nvSpPr>
          <p:spPr>
            <a:xfrm>
              <a:off x="7867650" y="5105400"/>
              <a:ext cx="114300" cy="114300"/>
            </a:xfrm>
            <a:prstGeom prst="roundRect">
              <a:avLst>
                <a:gd name="adj" fmla="val 8333"/>
              </a:avLst>
            </a:prstGeom>
            <a:solidFill>
              <a:srgbClr val="F35B70"/>
            </a:solidFill>
            <a:ln w="9525">
              <a:solidFill>
                <a:srgbClr val="F35B70"/>
              </a:solidFill>
            </a:ln>
          </p:spPr>
        </p:sp>
        <p:sp>
          <p:nvSpPr>
            <p:cNvPr id="187" name="Rectangle 187"/>
            <p:cNvSpPr/>
            <p:nvPr/>
          </p:nvSpPr>
          <p:spPr>
            <a:xfrm>
              <a:off x="7658100" y="5191125"/>
              <a:ext cx="114300" cy="114300"/>
            </a:xfrm>
            <a:prstGeom prst="roundRect">
              <a:avLst>
                <a:gd name="adj" fmla="val 8333"/>
              </a:avLst>
            </a:prstGeom>
            <a:solidFill>
              <a:srgbClr val="F35B70"/>
            </a:solidFill>
            <a:ln w="9525">
              <a:solidFill>
                <a:srgbClr val="F35B70"/>
              </a:solidFill>
            </a:ln>
          </p:spPr>
        </p:sp>
        <p:sp>
          <p:nvSpPr>
            <p:cNvPr id="188" name="Rectangle 188"/>
            <p:cNvSpPr/>
            <p:nvPr/>
          </p:nvSpPr>
          <p:spPr>
            <a:xfrm>
              <a:off x="7448550" y="5105400"/>
              <a:ext cx="114300" cy="114300"/>
            </a:xfrm>
            <a:prstGeom prst="roundRect">
              <a:avLst>
                <a:gd name="adj" fmla="val 8333"/>
              </a:avLst>
            </a:prstGeom>
            <a:solidFill>
              <a:srgbClr val="F35B70"/>
            </a:solidFill>
            <a:ln w="9525">
              <a:solidFill>
                <a:srgbClr val="F35B70"/>
              </a:solidFill>
            </a:ln>
          </p:spPr>
        </p:sp>
        <p:sp>
          <p:nvSpPr>
            <p:cNvPr id="189" name="Rectangle 189"/>
            <p:cNvSpPr/>
            <p:nvPr/>
          </p:nvSpPr>
          <p:spPr>
            <a:xfrm>
              <a:off x="7362825" y="4895850"/>
              <a:ext cx="114300" cy="114300"/>
            </a:xfrm>
            <a:prstGeom prst="roundRect">
              <a:avLst>
                <a:gd name="adj" fmla="val 8333"/>
              </a:avLst>
            </a:prstGeom>
            <a:solidFill>
              <a:srgbClr val="F35B70"/>
            </a:solidFill>
            <a:ln w="9525">
              <a:solidFill>
                <a:srgbClr val="F35B70"/>
              </a:solidFill>
            </a:ln>
          </p:spPr>
        </p:sp>
        <p:sp>
          <p:nvSpPr>
            <p:cNvPr id="190" name="Rectangle 190"/>
            <p:cNvSpPr/>
            <p:nvPr/>
          </p:nvSpPr>
          <p:spPr>
            <a:xfrm>
              <a:off x="7448550" y="4686300"/>
              <a:ext cx="114300" cy="114300"/>
            </a:xfrm>
            <a:prstGeom prst="roundRect">
              <a:avLst>
                <a:gd name="adj" fmla="val 8333"/>
              </a:avLst>
            </a:prstGeom>
            <a:solidFill>
              <a:srgbClr val="F35B70"/>
            </a:solidFill>
            <a:ln w="9525">
              <a:solidFill>
                <a:srgbClr val="F35B70"/>
              </a:solidFill>
            </a:ln>
          </p:spPr>
        </p:sp>
        <p:sp>
          <p:nvSpPr>
            <p:cNvPr id="191" name="Ellipse 191"/>
            <p:cNvSpPr/>
            <p:nvPr/>
          </p:nvSpPr>
          <p:spPr>
            <a:xfrm>
              <a:off x="7600950" y="4838700"/>
              <a:ext cx="228600" cy="2286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</a:ln>
          </p:spPr>
        </p:sp>
        <p:sp>
          <p:nvSpPr>
            <p:cNvPr id="192" name="Ellipse 192"/>
            <p:cNvSpPr/>
            <p:nvPr/>
          </p:nvSpPr>
          <p:spPr>
            <a:xfrm>
              <a:off x="11720512" y="1995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555555"/>
              </a:solidFill>
            </a:ln>
          </p:spPr>
        </p:sp>
        <p:sp>
          <p:nvSpPr>
            <p:cNvPr id="193" name="Ellipse 193"/>
            <p:cNvSpPr/>
            <p:nvPr/>
          </p:nvSpPr>
          <p:spPr>
            <a:xfrm>
              <a:off x="12130088" y="1757362"/>
              <a:ext cx="104775" cy="104775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555555"/>
              </a:solidFill>
            </a:ln>
          </p:spPr>
        </p:sp>
        <p:sp>
          <p:nvSpPr>
            <p:cNvPr id="194" name="Ellipse 194"/>
            <p:cNvSpPr/>
            <p:nvPr/>
          </p:nvSpPr>
          <p:spPr>
            <a:xfrm>
              <a:off x="12763500" y="1704975"/>
              <a:ext cx="304800" cy="304800"/>
            </a:xfrm>
            <a:prstGeom prst="ellipse">
              <a:avLst/>
            </a:prstGeom>
            <a:noFill/>
            <a:ln w="38100">
              <a:solidFill>
                <a:srgbClr val="4D912E"/>
              </a:solidFill>
            </a:ln>
          </p:spPr>
        </p:sp>
        <p:sp>
          <p:nvSpPr>
            <p:cNvPr id="195" name="Ellipse 195"/>
            <p:cNvSpPr/>
            <p:nvPr/>
          </p:nvSpPr>
          <p:spPr>
            <a:xfrm>
              <a:off x="12821412" y="1762887"/>
              <a:ext cx="188976" cy="188976"/>
            </a:xfrm>
            <a:prstGeom prst="ellipse">
              <a:avLst/>
            </a:prstGeom>
            <a:noFill/>
            <a:ln w="38100">
              <a:solidFill>
                <a:srgbClr val="4D912E"/>
              </a:solidFill>
            </a:ln>
          </p:spPr>
        </p:sp>
        <p:sp>
          <p:nvSpPr>
            <p:cNvPr id="196" name="Ellipse 196"/>
            <p:cNvSpPr/>
            <p:nvPr/>
          </p:nvSpPr>
          <p:spPr>
            <a:xfrm>
              <a:off x="12880848" y="1822323"/>
              <a:ext cx="70104" cy="70104"/>
            </a:xfrm>
            <a:prstGeom prst="ellipse">
              <a:avLst/>
            </a:prstGeom>
            <a:solidFill>
              <a:srgbClr val="4D912E"/>
            </a:solidFill>
            <a:ln w="19050">
              <a:solidFill>
                <a:srgbClr val="4D912E"/>
              </a:solidFill>
            </a:ln>
          </p:spPr>
        </p:sp>
        <p:sp>
          <p:nvSpPr>
            <p:cNvPr id="197" name="Ellipse 197"/>
            <p:cNvSpPr/>
            <p:nvPr/>
          </p:nvSpPr>
          <p:spPr>
            <a:xfrm>
              <a:off x="14258925" y="1790700"/>
              <a:ext cx="114300" cy="114300"/>
            </a:xfrm>
            <a:prstGeom prst="ellipse">
              <a:avLst/>
            </a:prstGeom>
            <a:solidFill>
              <a:srgbClr val="C91518"/>
            </a:solidFill>
            <a:ln w="9525">
              <a:solidFill>
                <a:srgbClr val="111111"/>
              </a:solidFill>
            </a:ln>
          </p:spPr>
        </p:sp>
        <p:sp>
          <p:nvSpPr>
            <p:cNvPr id="198" name="Ellipse 198"/>
            <p:cNvSpPr/>
            <p:nvPr/>
          </p:nvSpPr>
          <p:spPr>
            <a:xfrm>
              <a:off x="14516100" y="2219325"/>
              <a:ext cx="114300" cy="114300"/>
            </a:xfrm>
            <a:prstGeom prst="ellipse">
              <a:avLst/>
            </a:prstGeom>
            <a:solidFill>
              <a:srgbClr val="C91518"/>
            </a:solidFill>
            <a:ln w="9525">
              <a:solidFill>
                <a:srgbClr val="111111"/>
              </a:solidFill>
            </a:ln>
          </p:spPr>
        </p:sp>
        <p:sp>
          <p:nvSpPr>
            <p:cNvPr id="199" name="Ellipse 199"/>
            <p:cNvSpPr/>
            <p:nvPr/>
          </p:nvSpPr>
          <p:spPr>
            <a:xfrm>
              <a:off x="15478125" y="2105025"/>
              <a:ext cx="342900" cy="342900"/>
            </a:xfrm>
            <a:prstGeom prst="ellipse">
              <a:avLst/>
            </a:prstGeom>
            <a:noFill/>
            <a:ln w="38100">
              <a:solidFill>
                <a:srgbClr val="BD1015"/>
              </a:solidFill>
            </a:ln>
          </p:spPr>
        </p:sp>
        <p:sp>
          <p:nvSpPr>
            <p:cNvPr id="200" name="Ellipse 200"/>
            <p:cNvSpPr/>
            <p:nvPr/>
          </p:nvSpPr>
          <p:spPr>
            <a:xfrm>
              <a:off x="15543276" y="2170176"/>
              <a:ext cx="212598" cy="212598"/>
            </a:xfrm>
            <a:prstGeom prst="ellipse">
              <a:avLst/>
            </a:prstGeom>
            <a:noFill/>
            <a:ln w="38100">
              <a:solidFill>
                <a:srgbClr val="BD1015"/>
              </a:solidFill>
            </a:ln>
          </p:spPr>
        </p:sp>
        <p:sp>
          <p:nvSpPr>
            <p:cNvPr id="201" name="Ellipse 201"/>
            <p:cNvSpPr/>
            <p:nvPr/>
          </p:nvSpPr>
          <p:spPr>
            <a:xfrm>
              <a:off x="15610141" y="2237042"/>
              <a:ext cx="78867" cy="78867"/>
            </a:xfrm>
            <a:prstGeom prst="ellipse">
              <a:avLst/>
            </a:prstGeom>
            <a:solidFill>
              <a:srgbClr val="BD1015"/>
            </a:solidFill>
            <a:ln w="19050">
              <a:solidFill>
                <a:srgbClr val="BD1015"/>
              </a:solidFill>
            </a:ln>
          </p:spPr>
        </p:sp>
        <p:sp>
          <p:nvSpPr>
            <p:cNvPr id="202" name="Ellipse 202"/>
            <p:cNvSpPr/>
            <p:nvPr/>
          </p:nvSpPr>
          <p:spPr>
            <a:xfrm>
              <a:off x="12161520" y="5387340"/>
              <a:ext cx="45720" cy="45720"/>
            </a:xfrm>
            <a:prstGeom prst="ellipse">
              <a:avLst/>
            </a:prstGeom>
            <a:solidFill>
              <a:srgbClr val="6C4BB6"/>
            </a:solidFill>
            <a:ln w="4762">
              <a:solidFill>
                <a:srgbClr val="6C4BB6"/>
              </a:solidFill>
            </a:ln>
          </p:spPr>
        </p:sp>
        <p:sp>
          <p:nvSpPr>
            <p:cNvPr id="203" name="Ellipse 203"/>
            <p:cNvSpPr/>
            <p:nvPr/>
          </p:nvSpPr>
          <p:spPr>
            <a:xfrm>
              <a:off x="11938635" y="5451158"/>
              <a:ext cx="45720" cy="45720"/>
            </a:xfrm>
            <a:prstGeom prst="ellipse">
              <a:avLst/>
            </a:prstGeom>
            <a:solidFill>
              <a:srgbClr val="BB4B9B"/>
            </a:solidFill>
            <a:ln w="4762">
              <a:solidFill>
                <a:srgbClr val="BB4B9B"/>
              </a:solidFill>
            </a:ln>
          </p:spPr>
        </p:sp>
        <p:sp>
          <p:nvSpPr>
            <p:cNvPr id="204" name="Ellipse 204"/>
            <p:cNvSpPr/>
            <p:nvPr/>
          </p:nvSpPr>
          <p:spPr>
            <a:xfrm>
              <a:off x="12072938" y="5263515"/>
              <a:ext cx="45720" cy="45720"/>
            </a:xfrm>
            <a:prstGeom prst="ellipse">
              <a:avLst/>
            </a:prstGeom>
            <a:solidFill>
              <a:srgbClr val="EB5C68"/>
            </a:solidFill>
            <a:ln w="4762">
              <a:solidFill>
                <a:srgbClr val="EB5C68"/>
              </a:solidFill>
            </a:ln>
          </p:spPr>
        </p:sp>
        <p:sp>
          <p:nvSpPr>
            <p:cNvPr id="205" name="Ellipse 205"/>
            <p:cNvSpPr/>
            <p:nvPr/>
          </p:nvSpPr>
          <p:spPr>
            <a:xfrm>
              <a:off x="12211050" y="5510212"/>
              <a:ext cx="45720" cy="45720"/>
            </a:xfrm>
            <a:prstGeom prst="ellipse">
              <a:avLst/>
            </a:prstGeom>
            <a:solidFill>
              <a:srgbClr val="EF9C38"/>
            </a:solidFill>
            <a:ln w="4762">
              <a:solidFill>
                <a:srgbClr val="EF9C38"/>
              </a:solidFill>
            </a:ln>
          </p:spPr>
        </p:sp>
        <p:sp>
          <p:nvSpPr>
            <p:cNvPr id="206" name="Ellipse 206"/>
            <p:cNvSpPr/>
            <p:nvPr/>
          </p:nvSpPr>
          <p:spPr>
            <a:xfrm>
              <a:off x="11751945" y="5354955"/>
              <a:ext cx="45720" cy="45720"/>
            </a:xfrm>
            <a:prstGeom prst="ellipse">
              <a:avLst/>
            </a:prstGeom>
            <a:solidFill>
              <a:srgbClr val="5DBB8A"/>
            </a:solidFill>
            <a:ln w="4762">
              <a:solidFill>
                <a:srgbClr val="5DBB8A"/>
              </a:solidFill>
            </a:ln>
          </p:spPr>
        </p:sp>
        <p:sp>
          <p:nvSpPr>
            <p:cNvPr id="207" name="Ellipse 207"/>
            <p:cNvSpPr/>
            <p:nvPr/>
          </p:nvSpPr>
          <p:spPr>
            <a:xfrm>
              <a:off x="12355830" y="5272088"/>
              <a:ext cx="45720" cy="45720"/>
            </a:xfrm>
            <a:prstGeom prst="ellipse">
              <a:avLst/>
            </a:prstGeom>
            <a:solidFill>
              <a:srgbClr val="4D9AC8"/>
            </a:solidFill>
            <a:ln w="4762">
              <a:solidFill>
                <a:srgbClr val="4D9AC8"/>
              </a:solidFill>
            </a:ln>
          </p:spPr>
        </p:sp>
        <p:sp>
          <p:nvSpPr>
            <p:cNvPr id="208" name="Ellipse 208"/>
            <p:cNvSpPr/>
            <p:nvPr/>
          </p:nvSpPr>
          <p:spPr>
            <a:xfrm>
              <a:off x="11949112" y="5623560"/>
              <a:ext cx="45720" cy="45720"/>
            </a:xfrm>
            <a:prstGeom prst="ellipse">
              <a:avLst/>
            </a:prstGeom>
            <a:solidFill>
              <a:srgbClr val="6C4BB6"/>
            </a:solidFill>
            <a:ln w="4762">
              <a:solidFill>
                <a:srgbClr val="6C4BB6"/>
              </a:solidFill>
            </a:ln>
          </p:spPr>
        </p:sp>
        <p:sp>
          <p:nvSpPr>
            <p:cNvPr id="209" name="Ellipse 209"/>
            <p:cNvSpPr/>
            <p:nvPr/>
          </p:nvSpPr>
          <p:spPr>
            <a:xfrm>
              <a:off x="11843385" y="5144452"/>
              <a:ext cx="45720" cy="45720"/>
            </a:xfrm>
            <a:prstGeom prst="ellipse">
              <a:avLst/>
            </a:prstGeom>
            <a:solidFill>
              <a:srgbClr val="BB4B9B"/>
            </a:solidFill>
            <a:ln w="4762">
              <a:solidFill>
                <a:srgbClr val="BB4B9B"/>
              </a:solidFill>
            </a:ln>
          </p:spPr>
        </p:sp>
        <p:sp>
          <p:nvSpPr>
            <p:cNvPr id="210" name="Ellipse 210"/>
            <p:cNvSpPr/>
            <p:nvPr/>
          </p:nvSpPr>
          <p:spPr>
            <a:xfrm>
              <a:off x="12531090" y="5491162"/>
              <a:ext cx="45720" cy="45720"/>
            </a:xfrm>
            <a:prstGeom prst="ellipse">
              <a:avLst/>
            </a:prstGeom>
            <a:solidFill>
              <a:srgbClr val="EB5C68"/>
            </a:solidFill>
            <a:ln w="4762">
              <a:solidFill>
                <a:srgbClr val="EB5C68"/>
              </a:solidFill>
            </a:ln>
          </p:spPr>
        </p:sp>
        <p:sp>
          <p:nvSpPr>
            <p:cNvPr id="211" name="Ellipse 211"/>
            <p:cNvSpPr/>
            <p:nvPr/>
          </p:nvSpPr>
          <p:spPr>
            <a:xfrm>
              <a:off x="11955780" y="5412105"/>
              <a:ext cx="45720" cy="45720"/>
            </a:xfrm>
            <a:prstGeom prst="ellipse">
              <a:avLst/>
            </a:prstGeom>
            <a:solidFill>
              <a:srgbClr val="EF9C38"/>
            </a:solidFill>
            <a:ln w="4762">
              <a:solidFill>
                <a:srgbClr val="EF9C38"/>
              </a:solidFill>
            </a:ln>
          </p:spPr>
        </p:sp>
        <p:sp>
          <p:nvSpPr>
            <p:cNvPr id="212" name="Ellipse 212"/>
            <p:cNvSpPr/>
            <p:nvPr/>
          </p:nvSpPr>
          <p:spPr>
            <a:xfrm>
              <a:off x="12121515" y="5301615"/>
              <a:ext cx="45720" cy="45720"/>
            </a:xfrm>
            <a:prstGeom prst="ellipse">
              <a:avLst/>
            </a:prstGeom>
            <a:solidFill>
              <a:srgbClr val="5DBB8A"/>
            </a:solidFill>
            <a:ln w="4762">
              <a:solidFill>
                <a:srgbClr val="5DBB8A"/>
              </a:solidFill>
            </a:ln>
          </p:spPr>
        </p:sp>
        <p:sp>
          <p:nvSpPr>
            <p:cNvPr id="213" name="Ellipse 213"/>
            <p:cNvSpPr/>
            <p:nvPr/>
          </p:nvSpPr>
          <p:spPr>
            <a:xfrm>
              <a:off x="12116752" y="5505450"/>
              <a:ext cx="45720" cy="45720"/>
            </a:xfrm>
            <a:prstGeom prst="ellipse">
              <a:avLst/>
            </a:prstGeom>
            <a:solidFill>
              <a:srgbClr val="4D9AC8"/>
            </a:solidFill>
            <a:ln w="4762">
              <a:solidFill>
                <a:srgbClr val="4D9AC8"/>
              </a:solidFill>
            </a:ln>
          </p:spPr>
        </p:sp>
        <p:sp>
          <p:nvSpPr>
            <p:cNvPr id="214" name="Ellipse 214"/>
            <p:cNvSpPr/>
            <p:nvPr/>
          </p:nvSpPr>
          <p:spPr>
            <a:xfrm>
              <a:off x="11831955" y="5310188"/>
              <a:ext cx="45720" cy="45720"/>
            </a:xfrm>
            <a:prstGeom prst="ellipse">
              <a:avLst/>
            </a:prstGeom>
            <a:solidFill>
              <a:srgbClr val="6C4BB6"/>
            </a:solidFill>
            <a:ln w="4762">
              <a:solidFill>
                <a:srgbClr val="6C4BB6"/>
              </a:solidFill>
            </a:ln>
          </p:spPr>
        </p:sp>
        <p:sp>
          <p:nvSpPr>
            <p:cNvPr id="215" name="Ellipse 215"/>
            <p:cNvSpPr/>
            <p:nvPr/>
          </p:nvSpPr>
          <p:spPr>
            <a:xfrm>
              <a:off x="12354878" y="5347335"/>
              <a:ext cx="45720" cy="45720"/>
            </a:xfrm>
            <a:prstGeom prst="ellipse">
              <a:avLst/>
            </a:prstGeom>
            <a:solidFill>
              <a:srgbClr val="BB4B9B"/>
            </a:solidFill>
            <a:ln w="4762">
              <a:solidFill>
                <a:srgbClr val="BB4B9B"/>
              </a:solidFill>
            </a:ln>
          </p:spPr>
        </p:sp>
        <p:sp>
          <p:nvSpPr>
            <p:cNvPr id="216" name="Ellipse 216"/>
            <p:cNvSpPr/>
            <p:nvPr/>
          </p:nvSpPr>
          <p:spPr>
            <a:xfrm>
              <a:off x="11850052" y="5562600"/>
              <a:ext cx="45720" cy="45720"/>
            </a:xfrm>
            <a:prstGeom prst="ellipse">
              <a:avLst/>
            </a:prstGeom>
            <a:solidFill>
              <a:srgbClr val="EB5C68"/>
            </a:solidFill>
            <a:ln w="4762">
              <a:solidFill>
                <a:srgbClr val="EB5C68"/>
              </a:solidFill>
            </a:ln>
          </p:spPr>
        </p:sp>
        <p:sp>
          <p:nvSpPr>
            <p:cNvPr id="217" name="Ellipse 217"/>
            <p:cNvSpPr/>
            <p:nvPr/>
          </p:nvSpPr>
          <p:spPr>
            <a:xfrm>
              <a:off x="12001500" y="5145405"/>
              <a:ext cx="45720" cy="45720"/>
            </a:xfrm>
            <a:prstGeom prst="ellipse">
              <a:avLst/>
            </a:prstGeom>
            <a:solidFill>
              <a:srgbClr val="EF9C38"/>
            </a:solidFill>
            <a:ln w="4762">
              <a:solidFill>
                <a:srgbClr val="EF9C38"/>
              </a:solidFill>
            </a:ln>
          </p:spPr>
        </p:sp>
        <p:sp>
          <p:nvSpPr>
            <p:cNvPr id="218" name="Ellipse 218"/>
            <p:cNvSpPr/>
            <p:nvPr/>
          </p:nvSpPr>
          <p:spPr>
            <a:xfrm>
              <a:off x="12405360" y="5563552"/>
              <a:ext cx="45720" cy="45720"/>
            </a:xfrm>
            <a:prstGeom prst="ellipse">
              <a:avLst/>
            </a:prstGeom>
            <a:solidFill>
              <a:srgbClr val="5DBB8A"/>
            </a:solidFill>
            <a:ln w="4762">
              <a:solidFill>
                <a:srgbClr val="5DBB8A"/>
              </a:solidFill>
            </a:ln>
          </p:spPr>
        </p:sp>
        <p:sp>
          <p:nvSpPr>
            <p:cNvPr id="219" name="Ellipse 219"/>
            <p:cNvSpPr/>
            <p:nvPr/>
          </p:nvSpPr>
          <p:spPr>
            <a:xfrm>
              <a:off x="11548110" y="5400675"/>
              <a:ext cx="45720" cy="45720"/>
            </a:xfrm>
            <a:prstGeom prst="ellipse">
              <a:avLst/>
            </a:prstGeom>
            <a:solidFill>
              <a:srgbClr val="4D9AC8"/>
            </a:solidFill>
            <a:ln w="4762">
              <a:solidFill>
                <a:srgbClr val="4D9AC8"/>
              </a:solidFill>
            </a:ln>
          </p:spPr>
        </p:sp>
        <p:sp>
          <p:nvSpPr>
            <p:cNvPr id="220" name="Ellipse 220"/>
            <p:cNvSpPr/>
            <p:nvPr/>
          </p:nvSpPr>
          <p:spPr>
            <a:xfrm>
              <a:off x="12131040" y="5341620"/>
              <a:ext cx="45720" cy="45720"/>
            </a:xfrm>
            <a:prstGeom prst="ellipse">
              <a:avLst/>
            </a:prstGeom>
            <a:solidFill>
              <a:srgbClr val="6C4BB6"/>
            </a:solidFill>
            <a:ln w="4762">
              <a:solidFill>
                <a:srgbClr val="6C4BB6"/>
              </a:solidFill>
            </a:ln>
          </p:spPr>
        </p:sp>
        <p:sp>
          <p:nvSpPr>
            <p:cNvPr id="221" name="Ellipse 221"/>
            <p:cNvSpPr/>
            <p:nvPr/>
          </p:nvSpPr>
          <p:spPr>
            <a:xfrm>
              <a:off x="12048172" y="5481638"/>
              <a:ext cx="45720" cy="45720"/>
            </a:xfrm>
            <a:prstGeom prst="ellipse">
              <a:avLst/>
            </a:prstGeom>
            <a:solidFill>
              <a:srgbClr val="BB4B9B"/>
            </a:solidFill>
            <a:ln w="4762">
              <a:solidFill>
                <a:srgbClr val="BB4B9B"/>
              </a:solidFill>
            </a:ln>
          </p:spPr>
        </p:sp>
        <p:sp>
          <p:nvSpPr>
            <p:cNvPr id="222" name="Ellipse 222"/>
            <p:cNvSpPr/>
            <p:nvPr/>
          </p:nvSpPr>
          <p:spPr>
            <a:xfrm>
              <a:off x="11921490" y="5292090"/>
              <a:ext cx="45720" cy="45720"/>
            </a:xfrm>
            <a:prstGeom prst="ellipse">
              <a:avLst/>
            </a:prstGeom>
            <a:solidFill>
              <a:srgbClr val="EB5C68"/>
            </a:solidFill>
            <a:ln w="4762">
              <a:solidFill>
                <a:srgbClr val="EB5C68"/>
              </a:solidFill>
            </a:ln>
          </p:spPr>
        </p:sp>
        <p:sp>
          <p:nvSpPr>
            <p:cNvPr id="223" name="Ellipse 223"/>
            <p:cNvSpPr/>
            <p:nvPr/>
          </p:nvSpPr>
          <p:spPr>
            <a:xfrm>
              <a:off x="12310110" y="5407342"/>
              <a:ext cx="45720" cy="45720"/>
            </a:xfrm>
            <a:prstGeom prst="ellipse">
              <a:avLst/>
            </a:prstGeom>
            <a:solidFill>
              <a:srgbClr val="EF9C38"/>
            </a:solidFill>
            <a:ln w="4762">
              <a:solidFill>
                <a:srgbClr val="EF9C38"/>
              </a:solidFill>
            </a:ln>
          </p:spPr>
        </p:sp>
        <p:sp>
          <p:nvSpPr>
            <p:cNvPr id="224" name="Ellipse 224"/>
            <p:cNvSpPr/>
            <p:nvPr/>
          </p:nvSpPr>
          <p:spPr>
            <a:xfrm>
              <a:off x="11803380" y="5493068"/>
              <a:ext cx="45720" cy="45720"/>
            </a:xfrm>
            <a:prstGeom prst="ellipse">
              <a:avLst/>
            </a:prstGeom>
            <a:solidFill>
              <a:srgbClr val="5DBB8A"/>
            </a:solidFill>
            <a:ln w="4762">
              <a:solidFill>
                <a:srgbClr val="5DBB8A"/>
              </a:solidFill>
            </a:ln>
          </p:spPr>
        </p:sp>
        <p:sp>
          <p:nvSpPr>
            <p:cNvPr id="225" name="Ellipse 225"/>
            <p:cNvSpPr/>
            <p:nvPr/>
          </p:nvSpPr>
          <p:spPr>
            <a:xfrm>
              <a:off x="12131992" y="5177790"/>
              <a:ext cx="45720" cy="45720"/>
            </a:xfrm>
            <a:prstGeom prst="ellipse">
              <a:avLst/>
            </a:prstGeom>
            <a:solidFill>
              <a:srgbClr val="4D9AC8"/>
            </a:solidFill>
            <a:ln w="4762">
              <a:solidFill>
                <a:srgbClr val="4D9AC8"/>
              </a:solidFill>
            </a:ln>
          </p:spPr>
        </p:sp>
        <p:sp>
          <p:nvSpPr>
            <p:cNvPr id="226" name="Ellipse 226"/>
            <p:cNvSpPr/>
            <p:nvPr/>
          </p:nvSpPr>
          <p:spPr>
            <a:xfrm>
              <a:off x="12258675" y="5598795"/>
              <a:ext cx="45720" cy="45720"/>
            </a:xfrm>
            <a:prstGeom prst="ellipse">
              <a:avLst/>
            </a:prstGeom>
            <a:solidFill>
              <a:srgbClr val="6C4BB6"/>
            </a:solidFill>
            <a:ln w="4762">
              <a:solidFill>
                <a:srgbClr val="6C4BB6"/>
              </a:solidFill>
            </a:ln>
          </p:spPr>
        </p:sp>
        <p:sp>
          <p:nvSpPr>
            <p:cNvPr id="227" name="Ellipse 227"/>
            <p:cNvSpPr/>
            <p:nvPr/>
          </p:nvSpPr>
          <p:spPr>
            <a:xfrm>
              <a:off x="11618595" y="5304472"/>
              <a:ext cx="45720" cy="45720"/>
            </a:xfrm>
            <a:prstGeom prst="ellipse">
              <a:avLst/>
            </a:prstGeom>
            <a:solidFill>
              <a:srgbClr val="BB4B9B"/>
            </a:solidFill>
            <a:ln w="4762">
              <a:solidFill>
                <a:srgbClr val="BB4B9B"/>
              </a:solidFill>
            </a:ln>
          </p:spPr>
        </p:sp>
        <p:sp>
          <p:nvSpPr>
            <p:cNvPr id="228" name="Ellipse 228"/>
            <p:cNvSpPr/>
            <p:nvPr/>
          </p:nvSpPr>
          <p:spPr>
            <a:xfrm>
              <a:off x="12514897" y="5258752"/>
              <a:ext cx="45720" cy="45720"/>
            </a:xfrm>
            <a:prstGeom prst="ellipse">
              <a:avLst/>
            </a:prstGeom>
            <a:solidFill>
              <a:srgbClr val="EB5C68"/>
            </a:solidFill>
            <a:ln w="4762">
              <a:solidFill>
                <a:srgbClr val="EB5C68"/>
              </a:solidFill>
            </a:ln>
          </p:spPr>
        </p:sp>
        <p:sp>
          <p:nvSpPr>
            <p:cNvPr id="229" name="Ellipse 229"/>
            <p:cNvSpPr/>
            <p:nvPr/>
          </p:nvSpPr>
          <p:spPr>
            <a:xfrm>
              <a:off x="12013882" y="5446395"/>
              <a:ext cx="45720" cy="45720"/>
            </a:xfrm>
            <a:prstGeom prst="ellipse">
              <a:avLst/>
            </a:prstGeom>
            <a:solidFill>
              <a:srgbClr val="EF9C38"/>
            </a:solidFill>
            <a:ln w="4762">
              <a:solidFill>
                <a:srgbClr val="EF9C38"/>
              </a:solidFill>
            </a:ln>
          </p:spPr>
        </p:sp>
        <p:sp>
          <p:nvSpPr>
            <p:cNvPr id="230" name="Ellipse 230"/>
            <p:cNvSpPr/>
            <p:nvPr/>
          </p:nvSpPr>
          <p:spPr>
            <a:xfrm>
              <a:off x="12001500" y="5298758"/>
              <a:ext cx="45720" cy="45720"/>
            </a:xfrm>
            <a:prstGeom prst="ellipse">
              <a:avLst/>
            </a:prstGeom>
            <a:solidFill>
              <a:srgbClr val="5DBB8A"/>
            </a:solidFill>
            <a:ln w="4762">
              <a:solidFill>
                <a:srgbClr val="5DBB8A"/>
              </a:solidFill>
            </a:ln>
          </p:spPr>
        </p:sp>
        <p:sp>
          <p:nvSpPr>
            <p:cNvPr id="231" name="Ellipse 231"/>
            <p:cNvSpPr/>
            <p:nvPr/>
          </p:nvSpPr>
          <p:spPr>
            <a:xfrm>
              <a:off x="12238672" y="5444490"/>
              <a:ext cx="45720" cy="45720"/>
            </a:xfrm>
            <a:prstGeom prst="ellipse">
              <a:avLst/>
            </a:prstGeom>
            <a:solidFill>
              <a:srgbClr val="4D9AC8"/>
            </a:solidFill>
            <a:ln w="4762">
              <a:solidFill>
                <a:srgbClr val="4D9AC8"/>
              </a:solidFill>
            </a:ln>
          </p:spPr>
        </p:sp>
        <p:sp>
          <p:nvSpPr>
            <p:cNvPr id="232" name="Ellipse 232"/>
            <p:cNvSpPr/>
            <p:nvPr/>
          </p:nvSpPr>
          <p:spPr>
            <a:xfrm>
              <a:off x="11806238" y="5427345"/>
              <a:ext cx="45720" cy="45720"/>
            </a:xfrm>
            <a:prstGeom prst="ellipse">
              <a:avLst/>
            </a:prstGeom>
            <a:solidFill>
              <a:srgbClr val="6C4BB6"/>
            </a:solidFill>
            <a:ln w="4762">
              <a:solidFill>
                <a:srgbClr val="6C4BB6"/>
              </a:solidFill>
            </a:ln>
          </p:spPr>
        </p:sp>
        <p:sp>
          <p:nvSpPr>
            <p:cNvPr id="233" name="Ellipse 233"/>
            <p:cNvSpPr/>
            <p:nvPr/>
          </p:nvSpPr>
          <p:spPr>
            <a:xfrm>
              <a:off x="12219622" y="5232083"/>
              <a:ext cx="45720" cy="45720"/>
            </a:xfrm>
            <a:prstGeom prst="ellipse">
              <a:avLst/>
            </a:prstGeom>
            <a:solidFill>
              <a:srgbClr val="BB4B9B"/>
            </a:solidFill>
            <a:ln w="4762">
              <a:solidFill>
                <a:srgbClr val="BB4B9B"/>
              </a:solidFill>
            </a:ln>
          </p:spPr>
        </p:sp>
        <p:sp>
          <p:nvSpPr>
            <p:cNvPr id="234" name="Ellipse 234"/>
            <p:cNvSpPr/>
            <p:nvPr/>
          </p:nvSpPr>
          <p:spPr>
            <a:xfrm>
              <a:off x="12116752" y="5598795"/>
              <a:ext cx="45720" cy="45720"/>
            </a:xfrm>
            <a:prstGeom prst="ellipse">
              <a:avLst/>
            </a:prstGeom>
            <a:solidFill>
              <a:srgbClr val="EB5C68"/>
            </a:solidFill>
            <a:ln w="4762">
              <a:solidFill>
                <a:srgbClr val="EB5C68"/>
              </a:solidFill>
            </a:ln>
          </p:spPr>
        </p:sp>
        <p:sp>
          <p:nvSpPr>
            <p:cNvPr id="235" name="Ellipse 235"/>
            <p:cNvSpPr/>
            <p:nvPr/>
          </p:nvSpPr>
          <p:spPr>
            <a:xfrm>
              <a:off x="11731942" y="5238750"/>
              <a:ext cx="45720" cy="45720"/>
            </a:xfrm>
            <a:prstGeom prst="ellipse">
              <a:avLst/>
            </a:prstGeom>
            <a:solidFill>
              <a:srgbClr val="EF9C38"/>
            </a:solidFill>
            <a:ln w="4762">
              <a:solidFill>
                <a:srgbClr val="EF9C38"/>
              </a:solidFill>
            </a:ln>
          </p:spPr>
        </p:sp>
        <p:sp>
          <p:nvSpPr>
            <p:cNvPr id="236" name="Ellipse 236"/>
            <p:cNvSpPr/>
            <p:nvPr/>
          </p:nvSpPr>
          <p:spPr>
            <a:xfrm>
              <a:off x="12510135" y="5363528"/>
              <a:ext cx="45720" cy="45720"/>
            </a:xfrm>
            <a:prstGeom prst="ellipse">
              <a:avLst/>
            </a:prstGeom>
            <a:solidFill>
              <a:srgbClr val="5DBB8A"/>
            </a:solidFill>
            <a:ln w="4762">
              <a:solidFill>
                <a:srgbClr val="5DBB8A"/>
              </a:solidFill>
            </a:ln>
          </p:spPr>
        </p:sp>
        <p:sp>
          <p:nvSpPr>
            <p:cNvPr id="237" name="Ellipse 237"/>
            <p:cNvSpPr/>
            <p:nvPr/>
          </p:nvSpPr>
          <p:spPr>
            <a:xfrm>
              <a:off x="11711940" y="5612130"/>
              <a:ext cx="45720" cy="45720"/>
            </a:xfrm>
            <a:prstGeom prst="ellipse">
              <a:avLst/>
            </a:prstGeom>
            <a:solidFill>
              <a:srgbClr val="4D9AC8"/>
            </a:solidFill>
            <a:ln w="4762">
              <a:solidFill>
                <a:srgbClr val="4D9AC8"/>
              </a:solidFill>
            </a:ln>
          </p:spPr>
        </p:sp>
        <p:sp>
          <p:nvSpPr>
            <p:cNvPr id="238" name="Ellipse 238"/>
            <p:cNvSpPr/>
            <p:nvPr/>
          </p:nvSpPr>
          <p:spPr>
            <a:xfrm>
              <a:off x="12054840" y="5322570"/>
              <a:ext cx="45720" cy="45720"/>
            </a:xfrm>
            <a:prstGeom prst="ellipse">
              <a:avLst/>
            </a:prstGeom>
            <a:solidFill>
              <a:srgbClr val="6C4BB6"/>
            </a:solidFill>
            <a:ln w="4762">
              <a:solidFill>
                <a:srgbClr val="6C4BB6"/>
              </a:solidFill>
            </a:ln>
          </p:spPr>
        </p:sp>
        <p:sp>
          <p:nvSpPr>
            <p:cNvPr id="239" name="Ellipse 239"/>
            <p:cNvSpPr/>
            <p:nvPr/>
          </p:nvSpPr>
          <p:spPr>
            <a:xfrm>
              <a:off x="12160567" y="5456872"/>
              <a:ext cx="45720" cy="45720"/>
            </a:xfrm>
            <a:prstGeom prst="ellipse">
              <a:avLst/>
            </a:prstGeom>
            <a:solidFill>
              <a:srgbClr val="BB4B9B"/>
            </a:solidFill>
            <a:ln w="4762">
              <a:solidFill>
                <a:srgbClr val="BB4B9B"/>
              </a:solidFill>
            </a:ln>
          </p:spPr>
        </p:sp>
        <p:sp>
          <p:nvSpPr>
            <p:cNvPr id="240" name="Ellipse 240"/>
            <p:cNvSpPr/>
            <p:nvPr/>
          </p:nvSpPr>
          <p:spPr>
            <a:xfrm>
              <a:off x="11848147" y="5376862"/>
              <a:ext cx="45720" cy="45720"/>
            </a:xfrm>
            <a:prstGeom prst="ellipse">
              <a:avLst/>
            </a:prstGeom>
            <a:solidFill>
              <a:srgbClr val="EB5C68"/>
            </a:solidFill>
            <a:ln w="4762">
              <a:solidFill>
                <a:srgbClr val="EB5C68"/>
              </a:solidFill>
            </a:ln>
          </p:spPr>
        </p:sp>
        <p:sp>
          <p:nvSpPr>
            <p:cNvPr id="241" name="Ellipse 241"/>
            <p:cNvSpPr/>
            <p:nvPr/>
          </p:nvSpPr>
          <p:spPr>
            <a:xfrm>
              <a:off x="12258675" y="5293042"/>
              <a:ext cx="45720" cy="45720"/>
            </a:xfrm>
            <a:prstGeom prst="ellipse">
              <a:avLst/>
            </a:prstGeom>
            <a:solidFill>
              <a:srgbClr val="EF9C38"/>
            </a:solidFill>
            <a:ln w="4762">
              <a:solidFill>
                <a:srgbClr val="EF9C38"/>
              </a:solidFill>
            </a:ln>
          </p:spPr>
        </p:sp>
        <p:sp>
          <p:nvSpPr>
            <p:cNvPr id="242" name="Ellipse 242"/>
            <p:cNvSpPr/>
            <p:nvPr/>
          </p:nvSpPr>
          <p:spPr>
            <a:xfrm>
              <a:off x="12001500" y="5569268"/>
              <a:ext cx="45720" cy="45720"/>
            </a:xfrm>
            <a:prstGeom prst="ellipse">
              <a:avLst/>
            </a:prstGeom>
            <a:solidFill>
              <a:srgbClr val="5DBB8A"/>
            </a:solidFill>
            <a:ln w="4762">
              <a:solidFill>
                <a:srgbClr val="5DBB8A"/>
              </a:solidFill>
            </a:ln>
          </p:spPr>
        </p:sp>
        <p:sp>
          <p:nvSpPr>
            <p:cNvPr id="243" name="Ellipse 243"/>
            <p:cNvSpPr/>
            <p:nvPr/>
          </p:nvSpPr>
          <p:spPr>
            <a:xfrm>
              <a:off x="11863388" y="5206365"/>
              <a:ext cx="45720" cy="45720"/>
            </a:xfrm>
            <a:prstGeom prst="ellipse">
              <a:avLst/>
            </a:prstGeom>
            <a:solidFill>
              <a:srgbClr val="4D9AC8"/>
            </a:solidFill>
            <a:ln w="4762">
              <a:solidFill>
                <a:srgbClr val="4D9AC8"/>
              </a:solidFill>
            </a:ln>
          </p:spPr>
        </p:sp>
        <p:sp>
          <p:nvSpPr>
            <p:cNvPr id="244" name="Ellipse 244"/>
            <p:cNvSpPr/>
            <p:nvPr/>
          </p:nvSpPr>
          <p:spPr>
            <a:xfrm>
              <a:off x="12448222" y="5450205"/>
              <a:ext cx="45720" cy="45720"/>
            </a:xfrm>
            <a:prstGeom prst="ellipse">
              <a:avLst/>
            </a:prstGeom>
            <a:solidFill>
              <a:srgbClr val="6C4BB6"/>
            </a:solidFill>
            <a:ln w="4762">
              <a:solidFill>
                <a:srgbClr val="6C4BB6"/>
              </a:solidFill>
            </a:ln>
          </p:spPr>
        </p:sp>
        <p:sp>
          <p:nvSpPr>
            <p:cNvPr id="245" name="Ellipse 245"/>
            <p:cNvSpPr/>
            <p:nvPr/>
          </p:nvSpPr>
          <p:spPr>
            <a:xfrm>
              <a:off x="11649075" y="5514022"/>
              <a:ext cx="45720" cy="45720"/>
            </a:xfrm>
            <a:prstGeom prst="ellipse">
              <a:avLst/>
            </a:prstGeom>
            <a:solidFill>
              <a:srgbClr val="BB4B9B"/>
            </a:solidFill>
            <a:ln w="4762">
              <a:solidFill>
                <a:srgbClr val="BB4B9B"/>
              </a:solidFill>
            </a:ln>
          </p:spPr>
        </p:sp>
        <p:sp>
          <p:nvSpPr>
            <p:cNvPr id="246" name="Ellipse 246"/>
            <p:cNvSpPr/>
            <p:nvPr/>
          </p:nvSpPr>
          <p:spPr>
            <a:xfrm>
              <a:off x="12228195" y="5101590"/>
              <a:ext cx="45720" cy="45720"/>
            </a:xfrm>
            <a:prstGeom prst="ellipse">
              <a:avLst/>
            </a:prstGeom>
            <a:solidFill>
              <a:srgbClr val="EB5C68"/>
            </a:solidFill>
            <a:ln w="4762">
              <a:solidFill>
                <a:srgbClr val="EB5C68"/>
              </a:solidFill>
            </a:ln>
          </p:spPr>
        </p:sp>
        <p:sp>
          <p:nvSpPr>
            <p:cNvPr id="247" name="Ellipse 247"/>
            <p:cNvSpPr/>
            <p:nvPr/>
          </p:nvSpPr>
          <p:spPr>
            <a:xfrm>
              <a:off x="12095797" y="5446395"/>
              <a:ext cx="45720" cy="45720"/>
            </a:xfrm>
            <a:prstGeom prst="ellipse">
              <a:avLst/>
            </a:prstGeom>
            <a:solidFill>
              <a:srgbClr val="EF9C38"/>
            </a:solidFill>
            <a:ln w="4762">
              <a:solidFill>
                <a:srgbClr val="EF9C38"/>
              </a:solidFill>
            </a:ln>
          </p:spPr>
        </p:sp>
        <p:sp>
          <p:nvSpPr>
            <p:cNvPr id="248" name="Ellipse 248"/>
            <p:cNvSpPr/>
            <p:nvPr/>
          </p:nvSpPr>
          <p:spPr>
            <a:xfrm>
              <a:off x="14845665" y="5387340"/>
              <a:ext cx="45720" cy="45720"/>
            </a:xfrm>
            <a:prstGeom prst="ellipse">
              <a:avLst/>
            </a:prstGeom>
            <a:solidFill>
              <a:srgbClr val="4C7FB8"/>
            </a:solidFill>
            <a:ln w="4762">
              <a:solidFill>
                <a:srgbClr val="4C7FB8"/>
              </a:solidFill>
            </a:ln>
          </p:spPr>
        </p:sp>
        <p:sp>
          <p:nvSpPr>
            <p:cNvPr id="249" name="Ellipse 249"/>
            <p:cNvSpPr/>
            <p:nvPr/>
          </p:nvSpPr>
          <p:spPr>
            <a:xfrm>
              <a:off x="14746605" y="5429250"/>
              <a:ext cx="45720" cy="45720"/>
            </a:xfrm>
            <a:prstGeom prst="ellipse">
              <a:avLst/>
            </a:prstGeom>
            <a:solidFill>
              <a:srgbClr val="4C7FB8"/>
            </a:solidFill>
            <a:ln w="4762">
              <a:solidFill>
                <a:srgbClr val="4C7FB8"/>
              </a:solidFill>
            </a:ln>
          </p:spPr>
        </p:sp>
        <p:sp>
          <p:nvSpPr>
            <p:cNvPr id="250" name="Ellipse 250"/>
            <p:cNvSpPr/>
            <p:nvPr/>
          </p:nvSpPr>
          <p:spPr>
            <a:xfrm>
              <a:off x="14805660" y="5305425"/>
              <a:ext cx="45720" cy="45720"/>
            </a:xfrm>
            <a:prstGeom prst="ellipse">
              <a:avLst/>
            </a:prstGeom>
            <a:solidFill>
              <a:srgbClr val="4C7FB8"/>
            </a:solidFill>
            <a:ln w="4762">
              <a:solidFill>
                <a:srgbClr val="4C7FB8"/>
              </a:solidFill>
            </a:ln>
          </p:spPr>
        </p:sp>
        <p:sp>
          <p:nvSpPr>
            <p:cNvPr id="251" name="Ellipse 251"/>
            <p:cNvSpPr/>
            <p:nvPr/>
          </p:nvSpPr>
          <p:spPr>
            <a:xfrm>
              <a:off x="14866620" y="5468302"/>
              <a:ext cx="45720" cy="45720"/>
            </a:xfrm>
            <a:prstGeom prst="ellipse">
              <a:avLst/>
            </a:prstGeom>
            <a:solidFill>
              <a:srgbClr val="4C7FB8"/>
            </a:solidFill>
            <a:ln w="4762">
              <a:solidFill>
                <a:srgbClr val="4C7FB8"/>
              </a:solidFill>
            </a:ln>
          </p:spPr>
        </p:sp>
        <p:sp>
          <p:nvSpPr>
            <p:cNvPr id="252" name="Ellipse 252"/>
            <p:cNvSpPr/>
            <p:nvPr/>
          </p:nvSpPr>
          <p:spPr>
            <a:xfrm>
              <a:off x="14664690" y="5366385"/>
              <a:ext cx="45720" cy="45720"/>
            </a:xfrm>
            <a:prstGeom prst="ellipse">
              <a:avLst/>
            </a:prstGeom>
            <a:solidFill>
              <a:srgbClr val="4C7FB8"/>
            </a:solidFill>
            <a:ln w="4762">
              <a:solidFill>
                <a:srgbClr val="4C7FB8"/>
              </a:solidFill>
            </a:ln>
          </p:spPr>
        </p:sp>
        <p:sp>
          <p:nvSpPr>
            <p:cNvPr id="253" name="Ellipse 253"/>
            <p:cNvSpPr/>
            <p:nvPr/>
          </p:nvSpPr>
          <p:spPr>
            <a:xfrm>
              <a:off x="14930438" y="5311140"/>
              <a:ext cx="45720" cy="45720"/>
            </a:xfrm>
            <a:prstGeom prst="ellipse">
              <a:avLst/>
            </a:prstGeom>
            <a:solidFill>
              <a:srgbClr val="4C7FB8"/>
            </a:solidFill>
            <a:ln w="4762">
              <a:solidFill>
                <a:srgbClr val="4C7FB8"/>
              </a:solidFill>
            </a:ln>
          </p:spPr>
        </p:sp>
        <p:sp>
          <p:nvSpPr>
            <p:cNvPr id="254" name="Ellipse 254"/>
            <p:cNvSpPr/>
            <p:nvPr/>
          </p:nvSpPr>
          <p:spPr>
            <a:xfrm>
              <a:off x="14751367" y="5542598"/>
              <a:ext cx="45720" cy="45720"/>
            </a:xfrm>
            <a:prstGeom prst="ellipse">
              <a:avLst/>
            </a:prstGeom>
            <a:solidFill>
              <a:srgbClr val="4C7FB8"/>
            </a:solidFill>
            <a:ln w="4762">
              <a:solidFill>
                <a:srgbClr val="4C7FB8"/>
              </a:solidFill>
            </a:ln>
          </p:spPr>
        </p:sp>
        <p:sp>
          <p:nvSpPr>
            <p:cNvPr id="255" name="Ellipse 255"/>
            <p:cNvSpPr/>
            <p:nvPr/>
          </p:nvSpPr>
          <p:spPr>
            <a:xfrm>
              <a:off x="14776132" y="5349240"/>
              <a:ext cx="45720" cy="45720"/>
            </a:xfrm>
            <a:prstGeom prst="ellipse">
              <a:avLst/>
            </a:prstGeom>
            <a:solidFill>
              <a:srgbClr val="4C7FB8"/>
            </a:solidFill>
            <a:ln w="4762">
              <a:solidFill>
                <a:srgbClr val="4C7FB8"/>
              </a:solidFill>
            </a:ln>
          </p:spPr>
        </p:sp>
        <p:sp>
          <p:nvSpPr>
            <p:cNvPr id="256" name="Ellipse 256"/>
            <p:cNvSpPr/>
            <p:nvPr/>
          </p:nvSpPr>
          <p:spPr>
            <a:xfrm>
              <a:off x="14863762" y="5408295"/>
              <a:ext cx="45720" cy="45720"/>
            </a:xfrm>
            <a:prstGeom prst="ellipse">
              <a:avLst/>
            </a:prstGeom>
            <a:solidFill>
              <a:srgbClr val="4C7FB8"/>
            </a:solidFill>
            <a:ln w="4762">
              <a:solidFill>
                <a:srgbClr val="4C7FB8"/>
              </a:solidFill>
            </a:ln>
          </p:spPr>
        </p:sp>
        <p:sp>
          <p:nvSpPr>
            <p:cNvPr id="257" name="Ellipse 257"/>
            <p:cNvSpPr/>
            <p:nvPr/>
          </p:nvSpPr>
          <p:spPr>
            <a:xfrm>
              <a:off x="14713267" y="5418772"/>
              <a:ext cx="45720" cy="45720"/>
            </a:xfrm>
            <a:prstGeom prst="ellipse">
              <a:avLst/>
            </a:prstGeom>
            <a:solidFill>
              <a:srgbClr val="4C7FB8"/>
            </a:solidFill>
            <a:ln w="4762">
              <a:solidFill>
                <a:srgbClr val="4C7FB8"/>
              </a:solidFill>
            </a:ln>
          </p:spPr>
        </p:sp>
        <p:sp>
          <p:nvSpPr>
            <p:cNvPr id="258" name="Ellipse 258"/>
            <p:cNvSpPr/>
            <p:nvPr/>
          </p:nvSpPr>
          <p:spPr>
            <a:xfrm>
              <a:off x="14845665" y="5294948"/>
              <a:ext cx="45720" cy="45720"/>
            </a:xfrm>
            <a:prstGeom prst="ellipse">
              <a:avLst/>
            </a:prstGeom>
            <a:solidFill>
              <a:srgbClr val="4C7FB8"/>
            </a:solidFill>
            <a:ln w="4762">
              <a:solidFill>
                <a:srgbClr val="4C7FB8"/>
              </a:solidFill>
            </a:ln>
          </p:spPr>
        </p:sp>
        <p:sp>
          <p:nvSpPr>
            <p:cNvPr id="259" name="Ellipse 259"/>
            <p:cNvSpPr/>
            <p:nvPr/>
          </p:nvSpPr>
          <p:spPr>
            <a:xfrm>
              <a:off x="14838997" y="5503545"/>
              <a:ext cx="45720" cy="45720"/>
            </a:xfrm>
            <a:prstGeom prst="ellipse">
              <a:avLst/>
            </a:prstGeom>
            <a:solidFill>
              <a:srgbClr val="4C7FB8"/>
            </a:solidFill>
            <a:ln w="4762">
              <a:solidFill>
                <a:srgbClr val="4C7FB8"/>
              </a:solidFill>
            </a:ln>
          </p:spPr>
        </p:sp>
        <p:sp>
          <p:nvSpPr>
            <p:cNvPr id="260" name="Ellipse 260"/>
            <p:cNvSpPr/>
            <p:nvPr/>
          </p:nvSpPr>
          <p:spPr>
            <a:xfrm>
              <a:off x="14661832" y="5316855"/>
              <a:ext cx="45720" cy="45720"/>
            </a:xfrm>
            <a:prstGeom prst="ellipse">
              <a:avLst/>
            </a:prstGeom>
            <a:solidFill>
              <a:srgbClr val="4C7FB8"/>
            </a:solidFill>
            <a:ln w="4762">
              <a:solidFill>
                <a:srgbClr val="4C7FB8"/>
              </a:solidFill>
            </a:ln>
          </p:spPr>
        </p:sp>
        <p:sp>
          <p:nvSpPr>
            <p:cNvPr id="261" name="Ellipse 261"/>
            <p:cNvSpPr/>
            <p:nvPr/>
          </p:nvSpPr>
          <p:spPr>
            <a:xfrm>
              <a:off x="14973300" y="5352098"/>
              <a:ext cx="45720" cy="45720"/>
            </a:xfrm>
            <a:prstGeom prst="ellipse">
              <a:avLst/>
            </a:prstGeom>
            <a:solidFill>
              <a:srgbClr val="4C7FB8"/>
            </a:solidFill>
            <a:ln w="4762">
              <a:solidFill>
                <a:srgbClr val="4C7FB8"/>
              </a:solidFill>
            </a:ln>
          </p:spPr>
        </p:sp>
        <p:sp>
          <p:nvSpPr>
            <p:cNvPr id="262" name="Ellipse 262"/>
            <p:cNvSpPr/>
            <p:nvPr/>
          </p:nvSpPr>
          <p:spPr>
            <a:xfrm>
              <a:off x="14770417" y="5422583"/>
              <a:ext cx="45720" cy="45720"/>
            </a:xfrm>
            <a:prstGeom prst="ellipse">
              <a:avLst/>
            </a:prstGeom>
            <a:solidFill>
              <a:srgbClr val="4C7FB8"/>
            </a:solidFill>
            <a:ln w="4762">
              <a:solidFill>
                <a:srgbClr val="4C7FB8"/>
              </a:solidFill>
            </a:ln>
          </p:spPr>
        </p:sp>
        <p:sp>
          <p:nvSpPr>
            <p:cNvPr id="263" name="Ellipse 263"/>
            <p:cNvSpPr/>
            <p:nvPr/>
          </p:nvSpPr>
          <p:spPr>
            <a:xfrm>
              <a:off x="14788515" y="5325428"/>
              <a:ext cx="45720" cy="45720"/>
            </a:xfrm>
            <a:prstGeom prst="ellipse">
              <a:avLst/>
            </a:prstGeom>
            <a:solidFill>
              <a:srgbClr val="4C7FB8"/>
            </a:solidFill>
            <a:ln w="4762">
              <a:solidFill>
                <a:srgbClr val="4C7FB8"/>
              </a:solidFill>
            </a:ln>
          </p:spPr>
        </p:sp>
        <p:sp>
          <p:nvSpPr>
            <p:cNvPr id="264" name="Ellipse 264"/>
            <p:cNvSpPr/>
            <p:nvPr/>
          </p:nvSpPr>
          <p:spPr>
            <a:xfrm>
              <a:off x="14868525" y="5440680"/>
              <a:ext cx="45720" cy="45720"/>
            </a:xfrm>
            <a:prstGeom prst="ellipse">
              <a:avLst/>
            </a:prstGeom>
            <a:solidFill>
              <a:srgbClr val="4C7FB8"/>
            </a:solidFill>
            <a:ln w="4762">
              <a:solidFill>
                <a:srgbClr val="4C7FB8"/>
              </a:solidFill>
            </a:ln>
          </p:spPr>
        </p:sp>
        <p:sp>
          <p:nvSpPr>
            <p:cNvPr id="265" name="Ellipse 265"/>
            <p:cNvSpPr/>
            <p:nvPr/>
          </p:nvSpPr>
          <p:spPr>
            <a:xfrm>
              <a:off x="14684692" y="5392102"/>
              <a:ext cx="45720" cy="45720"/>
            </a:xfrm>
            <a:prstGeom prst="ellipse">
              <a:avLst/>
            </a:prstGeom>
            <a:solidFill>
              <a:srgbClr val="4C7FB8"/>
            </a:solidFill>
            <a:ln w="4762">
              <a:solidFill>
                <a:srgbClr val="4C7FB8"/>
              </a:solidFill>
            </a:ln>
          </p:spPr>
        </p:sp>
        <p:sp>
          <p:nvSpPr>
            <p:cNvPr id="266" name="Ellipse 266"/>
            <p:cNvSpPr/>
            <p:nvPr/>
          </p:nvSpPr>
          <p:spPr>
            <a:xfrm>
              <a:off x="14893290" y="5301615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67" name="Ellipse 267"/>
            <p:cNvSpPr/>
            <p:nvPr/>
          </p:nvSpPr>
          <p:spPr>
            <a:xfrm>
              <a:off x="14791372" y="5528310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68" name="Ellipse 268"/>
            <p:cNvSpPr/>
            <p:nvPr/>
          </p:nvSpPr>
          <p:spPr>
            <a:xfrm>
              <a:off x="14682788" y="5263515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69" name="Ellipse 269"/>
            <p:cNvSpPr/>
            <p:nvPr/>
          </p:nvSpPr>
          <p:spPr>
            <a:xfrm>
              <a:off x="14845665" y="5393055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70" name="Ellipse 270"/>
            <p:cNvSpPr/>
            <p:nvPr/>
          </p:nvSpPr>
          <p:spPr>
            <a:xfrm>
              <a:off x="14740890" y="5423535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71" name="Ellipse 271"/>
            <p:cNvSpPr/>
            <p:nvPr/>
          </p:nvSpPr>
          <p:spPr>
            <a:xfrm>
              <a:off x="14818042" y="5307330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72" name="Ellipse 272"/>
            <p:cNvSpPr/>
            <p:nvPr/>
          </p:nvSpPr>
          <p:spPr>
            <a:xfrm>
              <a:off x="14855190" y="5475922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73" name="Ellipse 273"/>
            <p:cNvSpPr/>
            <p:nvPr/>
          </p:nvSpPr>
          <p:spPr>
            <a:xfrm>
              <a:off x="14669452" y="5351145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74" name="Ellipse 274"/>
            <p:cNvSpPr/>
            <p:nvPr/>
          </p:nvSpPr>
          <p:spPr>
            <a:xfrm>
              <a:off x="14940915" y="5327333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75" name="Ellipse 275"/>
            <p:cNvSpPr/>
            <p:nvPr/>
          </p:nvSpPr>
          <p:spPr>
            <a:xfrm>
              <a:off x="14729460" y="5535930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76" name="Ellipse 276"/>
            <p:cNvSpPr/>
            <p:nvPr/>
          </p:nvSpPr>
          <p:spPr>
            <a:xfrm>
              <a:off x="14781847" y="5347335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77" name="Ellipse 277"/>
            <p:cNvSpPr/>
            <p:nvPr/>
          </p:nvSpPr>
          <p:spPr>
            <a:xfrm>
              <a:off x="14859952" y="5415915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78" name="Ellipse 278"/>
            <p:cNvSpPr/>
            <p:nvPr/>
          </p:nvSpPr>
          <p:spPr>
            <a:xfrm>
              <a:off x="14709458" y="5408295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79" name="Ellipse 279"/>
            <p:cNvSpPr/>
            <p:nvPr/>
          </p:nvSpPr>
          <p:spPr>
            <a:xfrm>
              <a:off x="14859000" y="5301615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80" name="Ellipse 280"/>
            <p:cNvSpPr/>
            <p:nvPr/>
          </p:nvSpPr>
          <p:spPr>
            <a:xfrm>
              <a:off x="14821852" y="5507355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81" name="Ellipse 281"/>
            <p:cNvSpPr/>
            <p:nvPr/>
          </p:nvSpPr>
          <p:spPr>
            <a:xfrm>
              <a:off x="14673262" y="5301615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82" name="Ellipse 282"/>
            <p:cNvSpPr/>
            <p:nvPr/>
          </p:nvSpPr>
          <p:spPr>
            <a:xfrm>
              <a:off x="14976158" y="5373052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83" name="Ellipse 283"/>
            <p:cNvSpPr/>
            <p:nvPr/>
          </p:nvSpPr>
          <p:spPr>
            <a:xfrm>
              <a:off x="14765655" y="5418772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84" name="Ellipse 284"/>
            <p:cNvSpPr/>
            <p:nvPr/>
          </p:nvSpPr>
          <p:spPr>
            <a:xfrm>
              <a:off x="14798040" y="5324475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85" name="Ellipse 285"/>
            <p:cNvSpPr/>
            <p:nvPr/>
          </p:nvSpPr>
          <p:spPr>
            <a:xfrm>
              <a:off x="14859952" y="5448300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86" name="Ellipse 286"/>
            <p:cNvSpPr/>
            <p:nvPr/>
          </p:nvSpPr>
          <p:spPr>
            <a:xfrm>
              <a:off x="14684692" y="5378768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87" name="Ellipse 287"/>
            <p:cNvSpPr/>
            <p:nvPr/>
          </p:nvSpPr>
          <p:spPr>
            <a:xfrm>
              <a:off x="14905672" y="5313045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88" name="Ellipse 288"/>
            <p:cNvSpPr/>
            <p:nvPr/>
          </p:nvSpPr>
          <p:spPr>
            <a:xfrm>
              <a:off x="14770417" y="5526405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89" name="Ellipse 289"/>
            <p:cNvSpPr/>
            <p:nvPr/>
          </p:nvSpPr>
          <p:spPr>
            <a:xfrm>
              <a:off x="14701838" y="5251133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90" name="Ellipse 290"/>
            <p:cNvSpPr/>
            <p:nvPr/>
          </p:nvSpPr>
          <p:spPr>
            <a:xfrm>
              <a:off x="14843760" y="5398770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91" name="Ellipse 291"/>
            <p:cNvSpPr/>
            <p:nvPr/>
          </p:nvSpPr>
          <p:spPr>
            <a:xfrm>
              <a:off x="14736128" y="5415915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92" name="Ellipse 292"/>
            <p:cNvSpPr/>
            <p:nvPr/>
          </p:nvSpPr>
          <p:spPr>
            <a:xfrm>
              <a:off x="14829472" y="5310188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  <p:sp>
          <p:nvSpPr>
            <p:cNvPr id="293" name="Ellipse 293"/>
            <p:cNvSpPr/>
            <p:nvPr/>
          </p:nvSpPr>
          <p:spPr>
            <a:xfrm>
              <a:off x="14841855" y="5481638"/>
              <a:ext cx="45720" cy="45720"/>
            </a:xfrm>
            <a:prstGeom prst="ellipse">
              <a:avLst/>
            </a:prstGeom>
            <a:solidFill>
              <a:srgbClr val="B7B9BC"/>
            </a:solidFill>
            <a:ln w="4762">
              <a:solidFill>
                <a:srgbClr val="B7B9BC"/>
              </a:solidFill>
            </a:ln>
          </p:spPr>
        </p:sp>
      </p:grpSp>
      <p:grpSp>
        <p:nvGrpSpPr>
          <p:cNvPr id="350" name="Group 350"/>
          <p:cNvGrpSpPr/>
          <p:nvPr/>
        </p:nvGrpSpPr>
        <p:grpSpPr>
          <a:xfrm>
            <a:off x="352425" y="838200"/>
            <a:ext cx="15230475" cy="6524626"/>
            <a:chOff x="352425" y="838200"/>
            <a:chExt cx="15230475" cy="6524626"/>
          </a:xfrm>
        </p:grpSpPr>
        <p:sp>
          <p:nvSpPr>
            <p:cNvPr id="295" name="Line 295"/>
            <p:cNvSpPr/>
            <p:nvPr/>
          </p:nvSpPr>
          <p:spPr>
            <a:xfrm>
              <a:off x="2847975" y="1381125"/>
              <a:ext cx="9525" cy="2628900"/>
            </a:xfrm>
            <a:custGeom>
              <a:avLst/>
              <a:gdLst/>
              <a:ahLst/>
              <a:cxnLst/>
              <a:rect l="l" t="t" r="r" b="b"/>
              <a:pathLst>
                <a:path w="9525" h="2628900">
                  <a:moveTo>
                    <a:pt x="0" y="0"/>
                  </a:moveTo>
                  <a:lnTo>
                    <a:pt x="0" y="2628900"/>
                  </a:lnTo>
                </a:path>
              </a:pathLst>
            </a:custGeom>
            <a:noFill/>
            <a:ln w="19050">
              <a:solidFill>
                <a:srgbClr val="C8C8C8"/>
              </a:solidFill>
              <a:custDash>
                <a:ds d="400000" sp="400000"/>
              </a:custDash>
            </a:ln>
          </p:spPr>
        </p:sp>
        <p:sp>
          <p:nvSpPr>
            <p:cNvPr id="296" name="Line 296"/>
            <p:cNvSpPr/>
            <p:nvPr/>
          </p:nvSpPr>
          <p:spPr>
            <a:xfrm>
              <a:off x="2295525" y="2028825"/>
              <a:ext cx="438150" cy="1"/>
            </a:xfrm>
            <a:prstGeom prst="line">
              <a:avLst/>
            </a:prstGeom>
            <a:noFill/>
            <a:ln w="19050">
              <a:solidFill>
                <a:srgbClr val="444444"/>
              </a:solidFill>
              <a:tailEnd type="triangle" w="lg" len="lg"/>
            </a:ln>
          </p:spPr>
        </p:sp>
        <p:sp>
          <p:nvSpPr>
            <p:cNvPr id="297" name="Line 297"/>
            <p:cNvSpPr/>
            <p:nvPr/>
          </p:nvSpPr>
          <p:spPr>
            <a:xfrm>
              <a:off x="1447800" y="2219325"/>
              <a:ext cx="1" cy="266700"/>
            </a:xfrm>
            <a:prstGeom prst="line">
              <a:avLst/>
            </a:prstGeom>
            <a:noFill/>
            <a:ln w="19050">
              <a:solidFill>
                <a:srgbClr val="444444"/>
              </a:solidFill>
              <a:tailEnd type="triangle" w="lg" len="lg"/>
            </a:ln>
          </p:spPr>
        </p:sp>
        <p:sp>
          <p:nvSpPr>
            <p:cNvPr id="298" name="Line 298"/>
            <p:cNvSpPr/>
            <p:nvPr/>
          </p:nvSpPr>
          <p:spPr>
            <a:xfrm>
              <a:off x="2295525" y="2686050"/>
              <a:ext cx="438150" cy="1"/>
            </a:xfrm>
            <a:prstGeom prst="line">
              <a:avLst/>
            </a:prstGeom>
            <a:noFill/>
            <a:ln w="19050">
              <a:solidFill>
                <a:srgbClr val="444444"/>
              </a:solidFill>
              <a:tailEnd type="triangle" w="lg" len="lg"/>
            </a:ln>
          </p:spPr>
        </p:sp>
        <p:sp>
          <p:nvSpPr>
            <p:cNvPr id="299" name="Line 299"/>
            <p:cNvSpPr/>
            <p:nvPr/>
          </p:nvSpPr>
          <p:spPr>
            <a:xfrm>
              <a:off x="1447800" y="2876550"/>
              <a:ext cx="1" cy="266700"/>
            </a:xfrm>
            <a:prstGeom prst="line">
              <a:avLst/>
            </a:prstGeom>
            <a:noFill/>
            <a:ln w="19050">
              <a:solidFill>
                <a:srgbClr val="444444"/>
              </a:solidFill>
              <a:tailEnd type="triangle" w="lg" len="lg"/>
            </a:ln>
          </p:spPr>
        </p:sp>
        <p:sp>
          <p:nvSpPr>
            <p:cNvPr id="300" name="Line 300"/>
            <p:cNvSpPr/>
            <p:nvPr/>
          </p:nvSpPr>
          <p:spPr>
            <a:xfrm>
              <a:off x="2295525" y="3343275"/>
              <a:ext cx="438150" cy="1"/>
            </a:xfrm>
            <a:prstGeom prst="line">
              <a:avLst/>
            </a:prstGeom>
            <a:noFill/>
            <a:ln w="19050">
              <a:solidFill>
                <a:srgbClr val="444444"/>
              </a:solidFill>
              <a:tailEnd type="triangle" w="lg" len="lg"/>
            </a:ln>
          </p:spPr>
        </p:sp>
        <p:sp>
          <p:nvSpPr>
            <p:cNvPr id="301" name="Line 301"/>
            <p:cNvSpPr/>
            <p:nvPr/>
          </p:nvSpPr>
          <p:spPr>
            <a:xfrm>
              <a:off x="1447800" y="3533775"/>
              <a:ext cx="1" cy="200025"/>
            </a:xfrm>
            <a:prstGeom prst="line">
              <a:avLst/>
            </a:prstGeom>
            <a:noFill/>
            <a:ln w="19050">
              <a:solidFill>
                <a:srgbClr val="444444"/>
              </a:solidFill>
              <a:tailEnd type="triangle" w="lg" len="lg"/>
            </a:ln>
          </p:spPr>
        </p:sp>
        <p:sp>
          <p:nvSpPr>
            <p:cNvPr id="302" name="Line 302"/>
            <p:cNvSpPr/>
            <p:nvPr/>
          </p:nvSpPr>
          <p:spPr>
            <a:xfrm>
              <a:off x="2905125" y="2571750"/>
              <a:ext cx="1428750" cy="1"/>
            </a:xfrm>
            <a:prstGeom prst="line">
              <a:avLst/>
            </a:prstGeom>
            <a:noFill/>
            <a:ln w="19050">
              <a:solidFill>
                <a:srgbClr val="A5A5A5"/>
              </a:solidFill>
              <a:tailEnd type="triangle" w="lg" len="lg"/>
            </a:ln>
          </p:spPr>
        </p:sp>
        <p:sp>
          <p:nvSpPr>
            <p:cNvPr id="303" name="Line 303"/>
            <p:cNvSpPr/>
            <p:nvPr/>
          </p:nvSpPr>
          <p:spPr>
            <a:xfrm>
              <a:off x="2905125" y="3990975"/>
              <a:ext cx="1428750" cy="1"/>
            </a:xfrm>
            <a:prstGeom prst="line">
              <a:avLst/>
            </a:prstGeom>
            <a:noFill/>
            <a:ln w="19050">
              <a:solidFill>
                <a:srgbClr val="A5A5A5"/>
              </a:solidFill>
              <a:tailEnd type="triangle" w="lg" len="lg"/>
            </a:ln>
          </p:spPr>
        </p:sp>
        <p:sp>
          <p:nvSpPr>
            <p:cNvPr id="304" name="Freeform 304"/>
            <p:cNvSpPr/>
            <p:nvPr/>
          </p:nvSpPr>
          <p:spPr>
            <a:xfrm>
              <a:off x="942975" y="4905375"/>
              <a:ext cx="3067050" cy="381000"/>
            </a:xfrm>
            <a:custGeom>
              <a:avLst/>
              <a:gdLst/>
              <a:ahLst/>
              <a:cxnLst/>
              <a:rect l="l" t="t" r="r" b="b"/>
              <a:pathLst>
                <a:path w="3067050" h="381000">
                  <a:moveTo>
                    <a:pt x="0" y="381000"/>
                  </a:moveTo>
                  <a:cubicBezTo>
                    <a:pt x="676275" y="0"/>
                    <a:pt x="2390775" y="0"/>
                    <a:pt x="3067050" y="381000"/>
                  </a:cubicBezTo>
                </a:path>
              </a:pathLst>
            </a:custGeom>
            <a:noFill/>
            <a:ln w="19050">
              <a:solidFill>
                <a:srgbClr val="8056B0"/>
              </a:solidFill>
              <a:tailEnd type="triangle" w="lg" len="lg"/>
            </a:ln>
          </p:spPr>
        </p:sp>
        <p:sp>
          <p:nvSpPr>
            <p:cNvPr id="305" name="Line 305"/>
            <p:cNvSpPr/>
            <p:nvPr/>
          </p:nvSpPr>
          <p:spPr>
            <a:xfrm>
              <a:off x="938212" y="5686425"/>
              <a:ext cx="1" cy="219075"/>
            </a:xfrm>
            <a:prstGeom prst="line">
              <a:avLst/>
            </a:prstGeom>
            <a:noFill/>
            <a:ln w="19050">
              <a:solidFill>
                <a:srgbClr val="444444"/>
              </a:solidFill>
              <a:tailEnd type="triangle" w="lg" len="lg"/>
            </a:ln>
          </p:spPr>
        </p:sp>
        <p:sp>
          <p:nvSpPr>
            <p:cNvPr id="306" name="Line 306"/>
            <p:cNvSpPr/>
            <p:nvPr/>
          </p:nvSpPr>
          <p:spPr>
            <a:xfrm>
              <a:off x="2109788" y="5686425"/>
              <a:ext cx="1" cy="219075"/>
            </a:xfrm>
            <a:prstGeom prst="line">
              <a:avLst/>
            </a:prstGeom>
            <a:noFill/>
            <a:ln w="19050">
              <a:solidFill>
                <a:srgbClr val="444444"/>
              </a:solidFill>
              <a:tailEnd type="triangle" w="lg" len="lg"/>
            </a:ln>
          </p:spPr>
        </p:sp>
        <p:sp>
          <p:nvSpPr>
            <p:cNvPr id="307" name="Line 307"/>
            <p:cNvSpPr/>
            <p:nvPr/>
          </p:nvSpPr>
          <p:spPr>
            <a:xfrm>
              <a:off x="3986212" y="5686425"/>
              <a:ext cx="1" cy="219075"/>
            </a:xfrm>
            <a:prstGeom prst="line">
              <a:avLst/>
            </a:prstGeom>
            <a:noFill/>
            <a:ln w="19050">
              <a:solidFill>
                <a:srgbClr val="444444"/>
              </a:solidFill>
              <a:tailEnd type="triangle" w="lg" len="lg"/>
            </a:ln>
          </p:spPr>
        </p:sp>
        <p:sp>
          <p:nvSpPr>
            <p:cNvPr id="308" name="Line 308"/>
            <p:cNvSpPr/>
            <p:nvPr/>
          </p:nvSpPr>
          <p:spPr>
            <a:xfrm>
              <a:off x="352425" y="7362825"/>
              <a:ext cx="1752600" cy="1"/>
            </a:xfrm>
            <a:prstGeom prst="line">
              <a:avLst/>
            </a:prstGeom>
            <a:noFill/>
            <a:ln w="14288">
              <a:solidFill>
                <a:srgbClr val="AAAAAA"/>
              </a:solidFill>
              <a:tailEnd type="triangle" w="lg" len="lg"/>
            </a:ln>
          </p:spPr>
        </p:sp>
        <p:sp>
          <p:nvSpPr>
            <p:cNvPr id="309" name="Line 309"/>
            <p:cNvSpPr/>
            <p:nvPr/>
          </p:nvSpPr>
          <p:spPr>
            <a:xfrm>
              <a:off x="438150" y="7210425"/>
              <a:ext cx="1495425" cy="9525"/>
            </a:xfrm>
            <a:custGeom>
              <a:avLst/>
              <a:gdLst/>
              <a:ahLst/>
              <a:cxnLst/>
              <a:rect l="l" t="t" r="r" b="b"/>
              <a:pathLst>
                <a:path w="1495425" h="9525">
                  <a:moveTo>
                    <a:pt x="0" y="0"/>
                  </a:moveTo>
                  <a:lnTo>
                    <a:pt x="1495425" y="0"/>
                  </a:lnTo>
                </a:path>
              </a:pathLst>
            </a:custGeom>
            <a:noFill/>
            <a:ln w="28575">
              <a:solidFill>
                <a:srgbClr val="3B8156"/>
              </a:solidFill>
            </a:ln>
          </p:spPr>
        </p:sp>
        <p:sp>
          <p:nvSpPr>
            <p:cNvPr id="310" name="Line 310"/>
            <p:cNvSpPr/>
            <p:nvPr/>
          </p:nvSpPr>
          <p:spPr>
            <a:xfrm>
              <a:off x="2590800" y="7362825"/>
              <a:ext cx="1752600" cy="1"/>
            </a:xfrm>
            <a:prstGeom prst="line">
              <a:avLst/>
            </a:prstGeom>
            <a:noFill/>
            <a:ln w="14288">
              <a:solidFill>
                <a:srgbClr val="AAAAAA"/>
              </a:solidFill>
              <a:tailEnd type="triangle" w="lg" len="lg"/>
            </a:ln>
          </p:spPr>
        </p:sp>
        <p:sp>
          <p:nvSpPr>
            <p:cNvPr id="311" name="Line 311"/>
            <p:cNvSpPr/>
            <p:nvPr/>
          </p:nvSpPr>
          <p:spPr>
            <a:xfrm>
              <a:off x="2676525" y="7210425"/>
              <a:ext cx="1495425" cy="9525"/>
            </a:xfrm>
            <a:custGeom>
              <a:avLst/>
              <a:gdLst/>
              <a:ahLst/>
              <a:cxnLst/>
              <a:rect l="l" t="t" r="r" b="b"/>
              <a:pathLst>
                <a:path w="1495425" h="9525">
                  <a:moveTo>
                    <a:pt x="0" y="0"/>
                  </a:moveTo>
                  <a:lnTo>
                    <a:pt x="1495425" y="0"/>
                  </a:lnTo>
                </a:path>
              </a:pathLst>
            </a:custGeom>
            <a:noFill/>
            <a:ln w="28575">
              <a:solidFill>
                <a:srgbClr val="3B8156"/>
              </a:solidFill>
            </a:ln>
          </p:spPr>
        </p:sp>
        <p:sp>
          <p:nvSpPr>
            <p:cNvPr id="312" name="Line 312"/>
            <p:cNvSpPr/>
            <p:nvPr/>
          </p:nvSpPr>
          <p:spPr>
            <a:xfrm>
              <a:off x="5400675" y="8382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66675">
              <a:solidFill>
                <a:srgbClr val="3B74B4"/>
              </a:solidFill>
            </a:ln>
          </p:spPr>
        </p:sp>
        <p:sp>
          <p:nvSpPr>
            <p:cNvPr id="313" name="Line 313"/>
            <p:cNvSpPr/>
            <p:nvPr/>
          </p:nvSpPr>
          <p:spPr>
            <a:xfrm>
              <a:off x="5400675" y="1209675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66675">
              <a:solidFill>
                <a:srgbClr val="CF3C3C"/>
              </a:solidFill>
            </a:ln>
          </p:spPr>
        </p:sp>
        <p:sp>
          <p:nvSpPr>
            <p:cNvPr id="314" name="Line 314"/>
            <p:cNvSpPr/>
            <p:nvPr/>
          </p:nvSpPr>
          <p:spPr>
            <a:xfrm>
              <a:off x="5438775" y="171450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rgbClr val="777777"/>
              </a:solidFill>
            </a:ln>
          </p:spPr>
        </p:sp>
        <p:sp>
          <p:nvSpPr>
            <p:cNvPr id="315" name="Line 315"/>
            <p:cNvSpPr/>
            <p:nvPr/>
          </p:nvSpPr>
          <p:spPr>
            <a:xfrm>
              <a:off x="5438775" y="304800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19050">
              <a:solidFill>
                <a:srgbClr val="777777"/>
              </a:solidFill>
            </a:ln>
          </p:spPr>
        </p:sp>
        <p:sp>
          <p:nvSpPr>
            <p:cNvPr id="316" name="Line 316"/>
            <p:cNvSpPr/>
            <p:nvPr/>
          </p:nvSpPr>
          <p:spPr>
            <a:xfrm>
              <a:off x="5438775" y="171450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14288">
              <a:solidFill>
                <a:srgbClr val="DED9C7"/>
              </a:solidFill>
            </a:ln>
          </p:spPr>
        </p:sp>
        <p:sp>
          <p:nvSpPr>
            <p:cNvPr id="317" name="Line 317"/>
            <p:cNvSpPr/>
            <p:nvPr/>
          </p:nvSpPr>
          <p:spPr>
            <a:xfrm>
              <a:off x="5438775" y="2047875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14288">
              <a:solidFill>
                <a:srgbClr val="DED9C7"/>
              </a:solidFill>
            </a:ln>
          </p:spPr>
        </p:sp>
        <p:sp>
          <p:nvSpPr>
            <p:cNvPr id="318" name="Line 318"/>
            <p:cNvSpPr/>
            <p:nvPr/>
          </p:nvSpPr>
          <p:spPr>
            <a:xfrm>
              <a:off x="5438775" y="238125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14288">
              <a:solidFill>
                <a:srgbClr val="DED9C7"/>
              </a:solidFill>
            </a:ln>
          </p:spPr>
        </p:sp>
        <p:sp>
          <p:nvSpPr>
            <p:cNvPr id="319" name="Line 319"/>
            <p:cNvSpPr/>
            <p:nvPr/>
          </p:nvSpPr>
          <p:spPr>
            <a:xfrm>
              <a:off x="5438775" y="2714625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14288">
              <a:solidFill>
                <a:srgbClr val="DED9C7"/>
              </a:solidFill>
            </a:ln>
          </p:spPr>
        </p:sp>
        <p:sp>
          <p:nvSpPr>
            <p:cNvPr id="320" name="Line 320"/>
            <p:cNvSpPr/>
            <p:nvPr/>
          </p:nvSpPr>
          <p:spPr>
            <a:xfrm>
              <a:off x="5667375" y="3048000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14288">
              <a:solidFill>
                <a:srgbClr val="888888"/>
              </a:solidFill>
            </a:ln>
          </p:spPr>
        </p:sp>
        <p:sp>
          <p:nvSpPr>
            <p:cNvPr id="321" name="Line 321"/>
            <p:cNvSpPr/>
            <p:nvPr/>
          </p:nvSpPr>
          <p:spPr>
            <a:xfrm>
              <a:off x="6486525" y="3048000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14288">
              <a:solidFill>
                <a:srgbClr val="888888"/>
              </a:solidFill>
            </a:ln>
          </p:spPr>
        </p:sp>
        <p:sp>
          <p:nvSpPr>
            <p:cNvPr id="322" name="Line 322"/>
            <p:cNvSpPr/>
            <p:nvPr/>
          </p:nvSpPr>
          <p:spPr>
            <a:xfrm>
              <a:off x="7305675" y="3048000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14288">
              <a:solidFill>
                <a:srgbClr val="888888"/>
              </a:solidFill>
            </a:ln>
          </p:spPr>
        </p:sp>
        <p:sp>
          <p:nvSpPr>
            <p:cNvPr id="323" name="Line 323"/>
            <p:cNvSpPr/>
            <p:nvPr/>
          </p:nvSpPr>
          <p:spPr>
            <a:xfrm>
              <a:off x="8124825" y="3048000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14288">
              <a:solidFill>
                <a:srgbClr val="888888"/>
              </a:solidFill>
            </a:ln>
          </p:spPr>
        </p:sp>
        <p:sp>
          <p:nvSpPr>
            <p:cNvPr id="324" name="Freeform 324"/>
            <p:cNvSpPr/>
            <p:nvPr/>
          </p:nvSpPr>
          <p:spPr>
            <a:xfrm>
              <a:off x="5676900" y="1809750"/>
              <a:ext cx="2590800" cy="1085850"/>
            </a:xfrm>
            <a:custGeom>
              <a:avLst/>
              <a:gdLst/>
              <a:ahLst/>
              <a:cxnLst/>
              <a:rect l="l" t="t" r="r" b="b"/>
              <a:pathLst>
                <a:path w="2590800" h="1085850">
                  <a:moveTo>
                    <a:pt x="0" y="590550"/>
                  </a:moveTo>
                  <a:cubicBezTo>
                    <a:pt x="323850" y="285750"/>
                    <a:pt x="552450" y="0"/>
                    <a:pt x="800100" y="38100"/>
                  </a:cubicBezTo>
                  <a:cubicBezTo>
                    <a:pt x="1152525" y="95250"/>
                    <a:pt x="1419225" y="762000"/>
                    <a:pt x="1838325" y="942975"/>
                  </a:cubicBezTo>
                  <a:cubicBezTo>
                    <a:pt x="2143125" y="1085850"/>
                    <a:pt x="2362200" y="1000125"/>
                    <a:pt x="2590800" y="1047750"/>
                  </a:cubicBezTo>
                </a:path>
              </a:pathLst>
            </a:custGeom>
            <a:noFill/>
            <a:ln w="66675">
              <a:solidFill>
                <a:srgbClr val="3B74B4"/>
              </a:solidFill>
            </a:ln>
          </p:spPr>
        </p:sp>
        <p:sp>
          <p:nvSpPr>
            <p:cNvPr id="325" name="Line 325"/>
            <p:cNvSpPr/>
            <p:nvPr/>
          </p:nvSpPr>
          <p:spPr>
            <a:xfrm>
              <a:off x="5676900" y="262890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66675">
              <a:solidFill>
                <a:srgbClr val="CF3C3C"/>
              </a:solidFill>
            </a:ln>
          </p:spPr>
        </p:sp>
        <p:sp>
          <p:nvSpPr>
            <p:cNvPr id="326" name="Line 326"/>
            <p:cNvSpPr/>
            <p:nvPr/>
          </p:nvSpPr>
          <p:spPr>
            <a:xfrm>
              <a:off x="6486525" y="1876425"/>
              <a:ext cx="9525" cy="1114425"/>
            </a:xfrm>
            <a:custGeom>
              <a:avLst/>
              <a:gdLst/>
              <a:ahLst/>
              <a:cxnLst/>
              <a:rect l="l" t="t" r="r" b="b"/>
              <a:pathLst>
                <a:path w="9525" h="1114425">
                  <a:moveTo>
                    <a:pt x="0" y="0"/>
                  </a:moveTo>
                  <a:lnTo>
                    <a:pt x="0" y="1114425"/>
                  </a:lnTo>
                </a:path>
              </a:pathLst>
            </a:custGeom>
            <a:noFill/>
            <a:ln w="19050">
              <a:solidFill>
                <a:srgbClr val="B8B8B8"/>
              </a:solidFill>
            </a:ln>
          </p:spPr>
        </p:sp>
        <p:sp>
          <p:nvSpPr>
            <p:cNvPr id="327" name="Freeform 327"/>
            <p:cNvSpPr/>
            <p:nvPr/>
          </p:nvSpPr>
          <p:spPr>
            <a:xfrm>
              <a:off x="5514975" y="3514725"/>
              <a:ext cx="257175" cy="285750"/>
            </a:xfrm>
            <a:custGeom>
              <a:avLst/>
              <a:gdLst/>
              <a:ahLst/>
              <a:cxnLst/>
              <a:rect l="l" t="t" r="r" b="b"/>
              <a:pathLst>
                <a:path w="257175" h="285750">
                  <a:moveTo>
                    <a:pt x="257175" y="209550"/>
                  </a:moveTo>
                  <a:cubicBezTo>
                    <a:pt x="85725" y="19050"/>
                    <a:pt x="0" y="0"/>
                    <a:pt x="0" y="285750"/>
                  </a:cubicBezTo>
                </a:path>
              </a:pathLst>
            </a:custGeom>
            <a:noFill/>
            <a:ln w="38100">
              <a:solidFill>
                <a:srgbClr val="91B86E"/>
              </a:solidFill>
              <a:tailEnd type="triangle" w="lg" len="lg"/>
            </a:ln>
          </p:spPr>
        </p:sp>
        <p:sp>
          <p:nvSpPr>
            <p:cNvPr id="328" name="Freeform 328"/>
            <p:cNvSpPr/>
            <p:nvPr/>
          </p:nvSpPr>
          <p:spPr>
            <a:xfrm>
              <a:off x="7296150" y="3514725"/>
              <a:ext cx="257175" cy="285750"/>
            </a:xfrm>
            <a:custGeom>
              <a:avLst/>
              <a:gdLst/>
              <a:ahLst/>
              <a:cxnLst/>
              <a:rect l="l" t="t" r="r" b="b"/>
              <a:pathLst>
                <a:path w="257175" h="285750">
                  <a:moveTo>
                    <a:pt x="0" y="209550"/>
                  </a:moveTo>
                  <a:cubicBezTo>
                    <a:pt x="171450" y="19050"/>
                    <a:pt x="257175" y="0"/>
                    <a:pt x="257175" y="285750"/>
                  </a:cubicBezTo>
                </a:path>
              </a:pathLst>
            </a:custGeom>
            <a:noFill/>
            <a:ln w="38100">
              <a:solidFill>
                <a:srgbClr val="E96674"/>
              </a:solidFill>
              <a:tailEnd type="triangle" w="lg" len="lg"/>
            </a:ln>
          </p:spPr>
        </p:sp>
        <p:sp>
          <p:nvSpPr>
            <p:cNvPr id="329" name="Line 329"/>
            <p:cNvSpPr/>
            <p:nvPr/>
          </p:nvSpPr>
          <p:spPr>
            <a:xfrm flipV="1">
              <a:off x="5867400" y="4667250"/>
              <a:ext cx="400050" cy="285750"/>
            </a:xfrm>
            <a:prstGeom prst="line">
              <a:avLst/>
            </a:prstGeom>
            <a:noFill/>
            <a:ln w="38100">
              <a:solidFill>
                <a:srgbClr val="3B74B4"/>
              </a:solidFill>
              <a:tailEnd type="triangle" w="lg" len="lg"/>
            </a:ln>
          </p:spPr>
        </p:sp>
        <p:sp>
          <p:nvSpPr>
            <p:cNvPr id="330" name="Freeform 330"/>
            <p:cNvSpPr/>
            <p:nvPr/>
          </p:nvSpPr>
          <p:spPr>
            <a:xfrm>
              <a:off x="11249025" y="1600200"/>
              <a:ext cx="1504950" cy="704850"/>
            </a:xfrm>
            <a:custGeom>
              <a:avLst/>
              <a:gdLst/>
              <a:ahLst/>
              <a:cxnLst/>
              <a:rect l="l" t="t" r="r" b="b"/>
              <a:pathLst>
                <a:path w="1504950" h="704850">
                  <a:moveTo>
                    <a:pt x="0" y="704850"/>
                  </a:moveTo>
                  <a:cubicBezTo>
                    <a:pt x="257175" y="476250"/>
                    <a:pt x="276225" y="666750"/>
                    <a:pt x="523875" y="447675"/>
                  </a:cubicBezTo>
                  <a:cubicBezTo>
                    <a:pt x="762000" y="238125"/>
                    <a:pt x="895350" y="400050"/>
                    <a:pt x="1085850" y="190500"/>
                  </a:cubicBezTo>
                  <a:cubicBezTo>
                    <a:pt x="1276350" y="0"/>
                    <a:pt x="1409700" y="104775"/>
                    <a:pt x="1504950" y="95250"/>
                  </a:cubicBezTo>
                </a:path>
              </a:pathLst>
            </a:custGeom>
            <a:noFill/>
            <a:ln w="17145">
              <a:solidFill>
                <a:srgbClr val="555555"/>
              </a:solidFill>
              <a:custDash>
                <a:ds d="277777" sp="222222"/>
              </a:custDash>
            </a:ln>
          </p:spPr>
        </p:sp>
        <p:sp>
          <p:nvSpPr>
            <p:cNvPr id="331" name="Freeform 331"/>
            <p:cNvSpPr/>
            <p:nvPr/>
          </p:nvSpPr>
          <p:spPr>
            <a:xfrm>
              <a:off x="12334875" y="1628775"/>
              <a:ext cx="428625" cy="171450"/>
            </a:xfrm>
            <a:custGeom>
              <a:avLst/>
              <a:gdLst/>
              <a:ahLst/>
              <a:cxnLst/>
              <a:rect l="l" t="t" r="r" b="b"/>
              <a:pathLst>
                <a:path w="428625" h="171450">
                  <a:moveTo>
                    <a:pt x="0" y="171450"/>
                  </a:moveTo>
                  <a:cubicBezTo>
                    <a:pt x="209550" y="19050"/>
                    <a:pt x="342900" y="0"/>
                    <a:pt x="428625" y="57150"/>
                  </a:cubicBezTo>
                </a:path>
              </a:pathLst>
            </a:custGeom>
            <a:noFill/>
            <a:ln w="23812">
              <a:solidFill>
                <a:srgbClr val="4D912E"/>
              </a:solidFill>
              <a:tailEnd type="triangle" w="lg" len="lg"/>
            </a:ln>
          </p:spPr>
        </p:sp>
        <p:sp>
          <p:nvSpPr>
            <p:cNvPr id="332" name="Freeform 332"/>
            <p:cNvSpPr/>
            <p:nvPr/>
          </p:nvSpPr>
          <p:spPr>
            <a:xfrm>
              <a:off x="13811250" y="1724025"/>
              <a:ext cx="1771650" cy="666750"/>
            </a:xfrm>
            <a:custGeom>
              <a:avLst/>
              <a:gdLst/>
              <a:ahLst/>
              <a:cxnLst/>
              <a:rect l="l" t="t" r="r" b="b"/>
              <a:pathLst>
                <a:path w="1771650" h="666750">
                  <a:moveTo>
                    <a:pt x="0" y="628650"/>
                  </a:moveTo>
                  <a:cubicBezTo>
                    <a:pt x="9525" y="190500"/>
                    <a:pt x="171450" y="0"/>
                    <a:pt x="323850" y="209550"/>
                  </a:cubicBezTo>
                  <a:cubicBezTo>
                    <a:pt x="504825" y="457200"/>
                    <a:pt x="590550" y="666750"/>
                    <a:pt x="771525" y="533400"/>
                  </a:cubicBezTo>
                  <a:cubicBezTo>
                    <a:pt x="990600" y="352425"/>
                    <a:pt x="1143000" y="57150"/>
                    <a:pt x="1362075" y="104775"/>
                  </a:cubicBezTo>
                  <a:cubicBezTo>
                    <a:pt x="1600200" y="161925"/>
                    <a:pt x="1714500" y="371475"/>
                    <a:pt x="1771650" y="485775"/>
                  </a:cubicBezTo>
                </a:path>
              </a:pathLst>
            </a:custGeom>
            <a:noFill/>
            <a:ln w="17145">
              <a:solidFill>
                <a:srgbClr val="111111"/>
              </a:solidFill>
              <a:custDash>
                <a:ds d="277777" sp="222222"/>
              </a:custDash>
            </a:ln>
          </p:spPr>
        </p:sp>
        <p:sp>
          <p:nvSpPr>
            <p:cNvPr id="333" name="Line 333"/>
            <p:cNvSpPr/>
            <p:nvPr/>
          </p:nvSpPr>
          <p:spPr>
            <a:xfrm>
              <a:off x="15506700" y="1914525"/>
              <a:ext cx="57150" cy="171450"/>
            </a:xfrm>
            <a:prstGeom prst="line">
              <a:avLst/>
            </a:prstGeom>
            <a:noFill/>
            <a:ln w="23812">
              <a:solidFill>
                <a:srgbClr val="BD1015"/>
              </a:solidFill>
              <a:tailEnd type="triangle" w="lg" len="lg"/>
            </a:ln>
          </p:spPr>
        </p:sp>
        <p:sp>
          <p:nvSpPr>
            <p:cNvPr id="334" name="Line 334"/>
            <p:cNvSpPr/>
            <p:nvPr/>
          </p:nvSpPr>
          <p:spPr>
            <a:xfrm flipH="1" flipV="1">
              <a:off x="11468100" y="4981575"/>
              <a:ext cx="274320" cy="192881"/>
            </a:xfrm>
            <a:prstGeom prst="line">
              <a:avLst/>
            </a:prstGeom>
            <a:noFill/>
            <a:ln w="15240">
              <a:solidFill>
                <a:srgbClr val="888888"/>
              </a:solidFill>
              <a:tailEnd type="triangle" w="lg" len="lg"/>
            </a:ln>
          </p:spPr>
        </p:sp>
        <p:sp>
          <p:nvSpPr>
            <p:cNvPr id="335" name="Line 335"/>
            <p:cNvSpPr/>
            <p:nvPr/>
          </p:nvSpPr>
          <p:spPr>
            <a:xfrm flipV="1">
              <a:off x="12077700" y="4857750"/>
              <a:ext cx="1" cy="248603"/>
            </a:xfrm>
            <a:prstGeom prst="line">
              <a:avLst/>
            </a:prstGeom>
            <a:noFill/>
            <a:ln w="15240">
              <a:solidFill>
                <a:srgbClr val="888888"/>
              </a:solidFill>
              <a:tailEnd type="triangle" w="lg" len="lg"/>
            </a:ln>
          </p:spPr>
        </p:sp>
        <p:sp>
          <p:nvSpPr>
            <p:cNvPr id="336" name="Line 336"/>
            <p:cNvSpPr/>
            <p:nvPr/>
          </p:nvSpPr>
          <p:spPr>
            <a:xfrm flipV="1">
              <a:off x="12402502" y="5010150"/>
              <a:ext cx="265748" cy="180022"/>
            </a:xfrm>
            <a:prstGeom prst="line">
              <a:avLst/>
            </a:prstGeom>
            <a:noFill/>
            <a:ln w="15240">
              <a:solidFill>
                <a:srgbClr val="888888"/>
              </a:solidFill>
              <a:tailEnd type="triangle" w="lg" len="lg"/>
            </a:ln>
          </p:spPr>
        </p:sp>
        <p:sp>
          <p:nvSpPr>
            <p:cNvPr id="337" name="Line 337"/>
            <p:cNvSpPr/>
            <p:nvPr/>
          </p:nvSpPr>
          <p:spPr>
            <a:xfrm flipH="1">
              <a:off x="11391900" y="5410200"/>
              <a:ext cx="308610" cy="1"/>
            </a:xfrm>
            <a:prstGeom prst="line">
              <a:avLst/>
            </a:prstGeom>
            <a:noFill/>
            <a:ln w="15240">
              <a:solidFill>
                <a:srgbClr val="888888"/>
              </a:solidFill>
              <a:tailEnd type="triangle" w="lg" len="lg"/>
            </a:ln>
          </p:spPr>
        </p:sp>
        <p:sp>
          <p:nvSpPr>
            <p:cNvPr id="338" name="Line 338"/>
            <p:cNvSpPr/>
            <p:nvPr/>
          </p:nvSpPr>
          <p:spPr>
            <a:xfrm>
              <a:off x="12454890" y="5410200"/>
              <a:ext cx="308610" cy="1"/>
            </a:xfrm>
            <a:prstGeom prst="line">
              <a:avLst/>
            </a:prstGeom>
            <a:noFill/>
            <a:ln w="15240">
              <a:solidFill>
                <a:srgbClr val="888888"/>
              </a:solidFill>
              <a:tailEnd type="triangle" w="lg" len="lg"/>
            </a:ln>
          </p:spPr>
        </p:sp>
        <p:sp>
          <p:nvSpPr>
            <p:cNvPr id="339" name="Line 339"/>
            <p:cNvSpPr/>
            <p:nvPr/>
          </p:nvSpPr>
          <p:spPr>
            <a:xfrm flipH="1">
              <a:off x="11553825" y="5640705"/>
              <a:ext cx="235744" cy="188595"/>
            </a:xfrm>
            <a:prstGeom prst="line">
              <a:avLst/>
            </a:prstGeom>
            <a:noFill/>
            <a:ln w="15240">
              <a:solidFill>
                <a:srgbClr val="888888"/>
              </a:solidFill>
              <a:tailEnd type="triangle" w="lg" len="lg"/>
            </a:ln>
          </p:spPr>
        </p:sp>
        <p:sp>
          <p:nvSpPr>
            <p:cNvPr id="340" name="Line 340"/>
            <p:cNvSpPr/>
            <p:nvPr/>
          </p:nvSpPr>
          <p:spPr>
            <a:xfrm>
              <a:off x="12119610" y="5698331"/>
              <a:ext cx="34290" cy="235744"/>
            </a:xfrm>
            <a:prstGeom prst="line">
              <a:avLst/>
            </a:prstGeom>
            <a:noFill/>
            <a:ln w="15240">
              <a:solidFill>
                <a:srgbClr val="888888"/>
              </a:solidFill>
              <a:tailEnd type="triangle" w="lg" len="lg"/>
            </a:ln>
          </p:spPr>
        </p:sp>
        <p:sp>
          <p:nvSpPr>
            <p:cNvPr id="341" name="Line 341"/>
            <p:cNvSpPr/>
            <p:nvPr/>
          </p:nvSpPr>
          <p:spPr>
            <a:xfrm>
              <a:off x="12381548" y="5630228"/>
              <a:ext cx="248602" cy="180022"/>
            </a:xfrm>
            <a:prstGeom prst="line">
              <a:avLst/>
            </a:prstGeom>
            <a:noFill/>
            <a:ln w="15240">
              <a:solidFill>
                <a:srgbClr val="888888"/>
              </a:solidFill>
              <a:tailEnd type="triangle" w="lg" len="lg"/>
            </a:ln>
          </p:spPr>
        </p:sp>
        <p:sp>
          <p:nvSpPr>
            <p:cNvPr id="342" name="Line 342"/>
            <p:cNvSpPr/>
            <p:nvPr/>
          </p:nvSpPr>
          <p:spPr>
            <a:xfrm>
              <a:off x="14211300" y="4981575"/>
              <a:ext cx="316992" cy="222885"/>
            </a:xfrm>
            <a:prstGeom prst="line">
              <a:avLst/>
            </a:prstGeom>
            <a:noFill/>
            <a:ln w="15240">
              <a:solidFill>
                <a:srgbClr val="888888"/>
              </a:solidFill>
              <a:tailEnd type="triangle" w="lg" len="lg"/>
            </a:ln>
          </p:spPr>
        </p:sp>
        <p:sp>
          <p:nvSpPr>
            <p:cNvPr id="343" name="Line 343"/>
            <p:cNvSpPr/>
            <p:nvPr/>
          </p:nvSpPr>
          <p:spPr>
            <a:xfrm>
              <a:off x="14820900" y="4857750"/>
              <a:ext cx="1" cy="287274"/>
            </a:xfrm>
            <a:prstGeom prst="line">
              <a:avLst/>
            </a:prstGeom>
            <a:noFill/>
            <a:ln w="15240">
              <a:solidFill>
                <a:srgbClr val="888888"/>
              </a:solidFill>
              <a:tailEnd type="triangle" w="lg" len="lg"/>
            </a:ln>
          </p:spPr>
        </p:sp>
        <p:sp>
          <p:nvSpPr>
            <p:cNvPr id="344" name="Line 344"/>
            <p:cNvSpPr/>
            <p:nvPr/>
          </p:nvSpPr>
          <p:spPr>
            <a:xfrm flipH="1">
              <a:off x="15104364" y="5010150"/>
              <a:ext cx="307086" cy="208026"/>
            </a:xfrm>
            <a:prstGeom prst="line">
              <a:avLst/>
            </a:prstGeom>
            <a:noFill/>
            <a:ln w="15240">
              <a:solidFill>
                <a:srgbClr val="888888"/>
              </a:solidFill>
              <a:tailEnd type="triangle" w="lg" len="lg"/>
            </a:ln>
          </p:spPr>
        </p:sp>
        <p:sp>
          <p:nvSpPr>
            <p:cNvPr id="345" name="Line 345"/>
            <p:cNvSpPr/>
            <p:nvPr/>
          </p:nvSpPr>
          <p:spPr>
            <a:xfrm>
              <a:off x="14135100" y="5410200"/>
              <a:ext cx="356616" cy="1"/>
            </a:xfrm>
            <a:prstGeom prst="line">
              <a:avLst/>
            </a:prstGeom>
            <a:noFill/>
            <a:ln w="15240">
              <a:solidFill>
                <a:srgbClr val="888888"/>
              </a:solidFill>
              <a:tailEnd type="triangle" w="lg" len="lg"/>
            </a:ln>
          </p:spPr>
        </p:sp>
        <p:sp>
          <p:nvSpPr>
            <p:cNvPr id="346" name="Line 346"/>
            <p:cNvSpPr/>
            <p:nvPr/>
          </p:nvSpPr>
          <p:spPr>
            <a:xfrm flipH="1">
              <a:off x="15150084" y="5410200"/>
              <a:ext cx="356616" cy="1"/>
            </a:xfrm>
            <a:prstGeom prst="line">
              <a:avLst/>
            </a:prstGeom>
            <a:noFill/>
            <a:ln w="15240">
              <a:solidFill>
                <a:srgbClr val="888888"/>
              </a:solidFill>
              <a:tailEnd type="triangle" w="lg" len="lg"/>
            </a:ln>
          </p:spPr>
        </p:sp>
        <p:sp>
          <p:nvSpPr>
            <p:cNvPr id="347" name="Line 347"/>
            <p:cNvSpPr/>
            <p:nvPr/>
          </p:nvSpPr>
          <p:spPr>
            <a:xfrm flipV="1">
              <a:off x="14297025" y="5611368"/>
              <a:ext cx="272415" cy="217932"/>
            </a:xfrm>
            <a:prstGeom prst="line">
              <a:avLst/>
            </a:prstGeom>
            <a:noFill/>
            <a:ln w="15240">
              <a:solidFill>
                <a:srgbClr val="888888"/>
              </a:solidFill>
              <a:tailEnd type="triangle" w="lg" len="lg"/>
            </a:ln>
          </p:spPr>
        </p:sp>
        <p:sp>
          <p:nvSpPr>
            <p:cNvPr id="348" name="Line 348"/>
            <p:cNvSpPr/>
            <p:nvPr/>
          </p:nvSpPr>
          <p:spPr>
            <a:xfrm flipH="1" flipV="1">
              <a:off x="14857476" y="5661660"/>
              <a:ext cx="39624" cy="272415"/>
            </a:xfrm>
            <a:prstGeom prst="line">
              <a:avLst/>
            </a:prstGeom>
            <a:noFill/>
            <a:ln w="15240">
              <a:solidFill>
                <a:srgbClr val="888888"/>
              </a:solidFill>
              <a:tailEnd type="triangle" w="lg" len="lg"/>
            </a:ln>
          </p:spPr>
        </p:sp>
        <p:sp>
          <p:nvSpPr>
            <p:cNvPr id="349" name="Line 349"/>
            <p:cNvSpPr/>
            <p:nvPr/>
          </p:nvSpPr>
          <p:spPr>
            <a:xfrm flipH="1" flipV="1">
              <a:off x="15086076" y="5602224"/>
              <a:ext cx="287274" cy="208026"/>
            </a:xfrm>
            <a:prstGeom prst="line">
              <a:avLst/>
            </a:prstGeom>
            <a:noFill/>
            <a:ln w="15240">
              <a:solidFill>
                <a:srgbClr val="888888"/>
              </a:solidFill>
              <a:tailEnd type="triangle" w="lg" len="lg"/>
            </a:ln>
          </p:spPr>
        </p:sp>
      </p:grpSp>
      <p:grpSp>
        <p:nvGrpSpPr>
          <p:cNvPr id="460" name="Group 460"/>
          <p:cNvGrpSpPr/>
          <p:nvPr/>
        </p:nvGrpSpPr>
        <p:grpSpPr>
          <a:xfrm>
            <a:off x="105025" y="125730"/>
            <a:ext cx="16325448" cy="7482364"/>
            <a:chOff x="105025" y="125730"/>
            <a:chExt cx="16325448" cy="7482364"/>
          </a:xfrm>
        </p:grpSpPr>
        <p:sp>
          <p:nvSpPr>
            <p:cNvPr id="351" name="TextBox 351"/>
            <p:cNvSpPr txBox="1"/>
            <p:nvPr/>
          </p:nvSpPr>
          <p:spPr>
            <a:xfrm>
              <a:off x="639128" y="136684"/>
              <a:ext cx="3268122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75B00"/>
                  </a:solidFill>
                  <a:latin typeface="var(--font-serif)"/>
                  <a:ea typeface="Microsoft YaHei"/>
                  <a:cs typeface="var(--font-serif)"/>
                </a:rPr>
                <a:t>1. Why Parallel Loops?</a:t>
              </a:r>
            </a:p>
          </p:txBody>
        </p:sp>
        <p:sp>
          <p:nvSpPr>
            <p:cNvPr id="352" name="TextBox 352"/>
            <p:cNvSpPr txBox="1"/>
            <p:nvPr/>
          </p:nvSpPr>
          <p:spPr>
            <a:xfrm>
              <a:off x="5231130" y="125730"/>
              <a:ext cx="339065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B77BA"/>
                  </a:solidFill>
                  <a:latin typeface="var(--font-serif)"/>
                  <a:ea typeface="Microsoft YaHei"/>
                  <a:cs typeface="var(--font-serif)"/>
                </a:rPr>
                <a:t>2. Gain-Cost Trade-off</a:t>
              </a:r>
            </a:p>
          </p:txBody>
        </p:sp>
        <p:sp>
          <p:nvSpPr>
            <p:cNvPr id="353" name="TextBox 353"/>
            <p:cNvSpPr txBox="1"/>
            <p:nvPr/>
          </p:nvSpPr>
          <p:spPr>
            <a:xfrm>
              <a:off x="9555480" y="144780"/>
              <a:ext cx="687499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4D7D20"/>
                  </a:solidFill>
                  <a:latin typeface="var(--font-serif)"/>
                  <a:ea typeface="Microsoft YaHei"/>
                  <a:cs typeface="var(--font-serif)"/>
                </a:rPr>
                <a:t>3. Why Loop 2? Evidence from Per-Loop Analysis</a:t>
              </a:r>
            </a:p>
          </p:txBody>
        </p:sp>
        <p:sp>
          <p:nvSpPr>
            <p:cNvPr id="354" name="TextBox 354"/>
            <p:cNvSpPr txBox="1"/>
            <p:nvPr/>
          </p:nvSpPr>
          <p:spPr>
            <a:xfrm>
              <a:off x="105025" y="619125"/>
              <a:ext cx="4438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BF5600"/>
                  </a:solidFill>
                  <a:latin typeface="var(--font-serif)"/>
                  <a:ea typeface="Microsoft YaHei"/>
                  <a:cs typeface="var(--font-serif)"/>
                </a:rPr>
                <a:t>Sequential Looped Transformer (Standard)</a:t>
              </a:r>
            </a:p>
          </p:txBody>
        </p:sp>
        <p:sp>
          <p:nvSpPr>
            <p:cNvPr id="355" name="TextBox 355"/>
            <p:cNvSpPr txBox="1"/>
            <p:nvPr/>
          </p:nvSpPr>
          <p:spPr>
            <a:xfrm>
              <a:off x="694246" y="953929"/>
              <a:ext cx="325970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Depth grows with loop count r</a:t>
              </a:r>
            </a:p>
          </p:txBody>
        </p:sp>
        <p:sp>
          <p:nvSpPr>
            <p:cNvPr id="356" name="TextBox 356"/>
            <p:cNvSpPr txBox="1"/>
            <p:nvPr/>
          </p:nvSpPr>
          <p:spPr>
            <a:xfrm>
              <a:off x="633412" y="1373981"/>
              <a:ext cx="9894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Input Tokens</a:t>
              </a:r>
            </a:p>
          </p:txBody>
        </p:sp>
        <p:sp>
          <p:nvSpPr>
            <p:cNvPr id="357" name="TextBox 357"/>
            <p:cNvSpPr txBox="1"/>
            <p:nvPr/>
          </p:nvSpPr>
          <p:spPr>
            <a:xfrm>
              <a:off x="1566754" y="1376839"/>
              <a:ext cx="8594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367C4B"/>
                  </a:solidFill>
                  <a:latin typeface="var(--font-serif)"/>
                  <a:ea typeface="Microsoft YaHei"/>
                  <a:cs typeface="var(--font-serif)"/>
                </a:rPr>
                <a:t>1</a:t>
              </a:r>
            </a:p>
          </p:txBody>
        </p:sp>
        <p:sp>
          <p:nvSpPr>
            <p:cNvPr id="358" name="TextBox 358"/>
            <p:cNvSpPr txBox="1"/>
            <p:nvPr/>
          </p:nvSpPr>
          <p:spPr>
            <a:xfrm>
              <a:off x="1820664" y="1376839"/>
              <a:ext cx="130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3E78B7"/>
                  </a:solidFill>
                  <a:latin typeface="var(--font-serif)"/>
                  <a:ea typeface="Microsoft YaHei"/>
                  <a:cs typeface="var(--font-serif)"/>
                </a:rPr>
                <a:t>2</a:t>
              </a:r>
            </a:p>
          </p:txBody>
        </p:sp>
        <p:sp>
          <p:nvSpPr>
            <p:cNvPr id="359" name="TextBox 359"/>
            <p:cNvSpPr txBox="1"/>
            <p:nvPr/>
          </p:nvSpPr>
          <p:spPr>
            <a:xfrm>
              <a:off x="2096889" y="1376839"/>
              <a:ext cx="130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666666"/>
                  </a:solidFill>
                  <a:latin typeface="var(--font-serif)"/>
                  <a:ea typeface="Microsoft YaHei"/>
                  <a:cs typeface="var(--font-serif)"/>
                </a:rPr>
                <a:t>…</a:t>
              </a:r>
            </a:p>
          </p:txBody>
        </p:sp>
        <p:sp>
          <p:nvSpPr>
            <p:cNvPr id="360" name="TextBox 360"/>
            <p:cNvSpPr txBox="1"/>
            <p:nvPr/>
          </p:nvSpPr>
          <p:spPr>
            <a:xfrm>
              <a:off x="2373114" y="1376839"/>
              <a:ext cx="130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7650A8"/>
                  </a:solidFill>
                  <a:latin typeface="var(--font-serif)"/>
                  <a:ea typeface="Microsoft YaHei"/>
                  <a:cs typeface="var(--font-serif)"/>
                </a:rPr>
                <a:t>N</a:t>
              </a:r>
            </a:p>
          </p:txBody>
        </p:sp>
        <p:sp>
          <p:nvSpPr>
            <p:cNvPr id="361" name="TextBox 361"/>
            <p:cNvSpPr txBox="1"/>
            <p:nvPr/>
          </p:nvSpPr>
          <p:spPr>
            <a:xfrm>
              <a:off x="153352" y="1646396"/>
              <a:ext cx="59486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BE6A00"/>
                  </a:solidFill>
                  <a:latin typeface="var(--font-serif)"/>
                  <a:ea typeface="Microsoft YaHei"/>
                  <a:cs typeface="var(--font-serif)"/>
                </a:rPr>
                <a:t>Loop 1</a:t>
              </a:r>
            </a:p>
          </p:txBody>
        </p:sp>
        <p:sp>
          <p:nvSpPr>
            <p:cNvPr id="362" name="TextBox 362"/>
            <p:cNvSpPr txBox="1"/>
            <p:nvPr/>
          </p:nvSpPr>
          <p:spPr>
            <a:xfrm>
              <a:off x="788170" y="1943100"/>
              <a:ext cx="13192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Shared Block</a:t>
              </a:r>
            </a:p>
          </p:txBody>
        </p:sp>
        <p:sp>
          <p:nvSpPr>
            <p:cNvPr id="363" name="TextBox 363"/>
            <p:cNvSpPr txBox="1"/>
            <p:nvPr/>
          </p:nvSpPr>
          <p:spPr>
            <a:xfrm>
              <a:off x="153352" y="2303621"/>
              <a:ext cx="64474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BE6A00"/>
                  </a:solidFill>
                  <a:latin typeface="var(--font-serif)"/>
                  <a:ea typeface="Microsoft YaHei"/>
                  <a:cs typeface="var(--font-serif)"/>
                </a:rPr>
                <a:t>Loop 2</a:t>
              </a:r>
            </a:p>
          </p:txBody>
        </p:sp>
        <p:sp>
          <p:nvSpPr>
            <p:cNvPr id="364" name="TextBox 364"/>
            <p:cNvSpPr txBox="1"/>
            <p:nvPr/>
          </p:nvSpPr>
          <p:spPr>
            <a:xfrm>
              <a:off x="788170" y="2600325"/>
              <a:ext cx="13192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Shared Block</a:t>
              </a:r>
            </a:p>
          </p:txBody>
        </p:sp>
        <p:sp>
          <p:nvSpPr>
            <p:cNvPr id="365" name="TextBox 365"/>
            <p:cNvSpPr txBox="1"/>
            <p:nvPr/>
          </p:nvSpPr>
          <p:spPr>
            <a:xfrm>
              <a:off x="153352" y="2960846"/>
              <a:ext cx="64474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BE6A00"/>
                  </a:solidFill>
                  <a:latin typeface="var(--font-serif)"/>
                  <a:ea typeface="Microsoft YaHei"/>
                  <a:cs typeface="var(--font-serif)"/>
                </a:rPr>
                <a:t>Loop 3</a:t>
              </a:r>
            </a:p>
          </p:txBody>
        </p:sp>
        <p:sp>
          <p:nvSpPr>
            <p:cNvPr id="366" name="TextBox 366"/>
            <p:cNvSpPr txBox="1"/>
            <p:nvPr/>
          </p:nvSpPr>
          <p:spPr>
            <a:xfrm>
              <a:off x="788170" y="3257550"/>
              <a:ext cx="13192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Shared Block</a:t>
              </a:r>
            </a:p>
          </p:txBody>
        </p:sp>
        <p:sp>
          <p:nvSpPr>
            <p:cNvPr id="367" name="TextBox 367"/>
            <p:cNvSpPr txBox="1"/>
            <p:nvPr/>
          </p:nvSpPr>
          <p:spPr>
            <a:xfrm>
              <a:off x="1336430" y="3708559"/>
              <a:ext cx="222741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75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…</a:t>
              </a:r>
            </a:p>
          </p:txBody>
        </p:sp>
        <p:sp>
          <p:nvSpPr>
            <p:cNvPr id="368" name="TextBox 368"/>
            <p:cNvSpPr txBox="1"/>
            <p:nvPr/>
          </p:nvSpPr>
          <p:spPr>
            <a:xfrm>
              <a:off x="2974221" y="1321118"/>
              <a:ext cx="1385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A92323"/>
                  </a:solidFill>
                  <a:latin typeface="var(--font-serif)"/>
                  <a:ea typeface="Microsoft YaHei"/>
                  <a:cs typeface="var(--font-serif)"/>
                </a:rPr>
                <a:t>Inference Time</a:t>
              </a:r>
            </a:p>
          </p:txBody>
        </p:sp>
        <p:sp>
          <p:nvSpPr>
            <p:cNvPr id="369" name="TextBox 369"/>
            <p:cNvSpPr txBox="1"/>
            <p:nvPr/>
          </p:nvSpPr>
          <p:spPr>
            <a:xfrm>
              <a:off x="3182147" y="1568768"/>
              <a:ext cx="9699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A92323"/>
                  </a:solidFill>
                  <a:latin typeface="var(--font-serif)"/>
                  <a:ea typeface="Microsoft YaHei"/>
                  <a:cs typeface="var(--font-serif)"/>
                </a:rPr>
                <a:t>(Latency)</a:t>
              </a:r>
            </a:p>
          </p:txBody>
        </p:sp>
        <p:sp>
          <p:nvSpPr>
            <p:cNvPr id="370" name="TextBox 370"/>
            <p:cNvSpPr txBox="1"/>
            <p:nvPr/>
          </p:nvSpPr>
          <p:spPr>
            <a:xfrm>
              <a:off x="3257756" y="273081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A92323"/>
                  </a:solidFill>
                  <a:latin typeface="var(--font-serif)"/>
                  <a:ea typeface="Microsoft YaHei"/>
                  <a:cs typeface="var(--font-serif)"/>
                </a:rPr>
                <a:t>KV Cache</a:t>
              </a:r>
            </a:p>
          </p:txBody>
        </p:sp>
        <p:sp>
          <p:nvSpPr>
            <p:cNvPr id="371" name="TextBox 371"/>
            <p:cNvSpPr txBox="1"/>
            <p:nvPr/>
          </p:nvSpPr>
          <p:spPr>
            <a:xfrm>
              <a:off x="3300286" y="2987992"/>
              <a:ext cx="7336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A92323"/>
                  </a:solidFill>
                  <a:latin typeface="var(--font-serif)"/>
                  <a:ea typeface="Microsoft YaHei"/>
                  <a:cs typeface="var(--font-serif)"/>
                </a:rPr>
                <a:t>Memory</a:t>
              </a:r>
            </a:p>
          </p:txBody>
        </p:sp>
        <p:sp>
          <p:nvSpPr>
            <p:cNvPr id="372" name="TextBox 372"/>
            <p:cNvSpPr txBox="1"/>
            <p:nvPr/>
          </p:nvSpPr>
          <p:spPr>
            <a:xfrm>
              <a:off x="483793" y="4374832"/>
              <a:ext cx="368061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A8B2C"/>
                  </a:solidFill>
                  <a:latin typeface="var(--font-serif)"/>
                  <a:ea typeface="Microsoft YaHei"/>
                  <a:cs typeface="var(--font-serif)"/>
                </a:rPr>
                <a:t>Parallel Loop Transformer (PLT)</a:t>
              </a:r>
            </a:p>
          </p:txBody>
        </p:sp>
        <p:sp>
          <p:nvSpPr>
            <p:cNvPr id="373" name="TextBox 373"/>
            <p:cNvSpPr txBox="1"/>
            <p:nvPr/>
          </p:nvSpPr>
          <p:spPr>
            <a:xfrm>
              <a:off x="253365" y="4973002"/>
              <a:ext cx="923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Input Tokens</a:t>
              </a:r>
            </a:p>
          </p:txBody>
        </p:sp>
        <p:sp>
          <p:nvSpPr>
            <p:cNvPr id="374" name="TextBox 374"/>
            <p:cNvSpPr txBox="1"/>
            <p:nvPr/>
          </p:nvSpPr>
          <p:spPr>
            <a:xfrm>
              <a:off x="223729" y="4729639"/>
              <a:ext cx="8594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367C4B"/>
                  </a:solidFill>
                  <a:latin typeface="var(--font-serif)"/>
                  <a:ea typeface="Microsoft YaHei"/>
                  <a:cs typeface="var(--font-serif)"/>
                </a:rPr>
                <a:t>1</a:t>
              </a:r>
            </a:p>
          </p:txBody>
        </p:sp>
        <p:sp>
          <p:nvSpPr>
            <p:cNvPr id="375" name="TextBox 375"/>
            <p:cNvSpPr txBox="1"/>
            <p:nvPr/>
          </p:nvSpPr>
          <p:spPr>
            <a:xfrm>
              <a:off x="477639" y="4729639"/>
              <a:ext cx="130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3E78B7"/>
                  </a:solidFill>
                  <a:latin typeface="var(--font-serif)"/>
                  <a:ea typeface="Microsoft YaHei"/>
                  <a:cs typeface="var(--font-serif)"/>
                </a:rPr>
                <a:t>2</a:t>
              </a:r>
            </a:p>
          </p:txBody>
        </p:sp>
        <p:sp>
          <p:nvSpPr>
            <p:cNvPr id="376" name="TextBox 376"/>
            <p:cNvSpPr txBox="1"/>
            <p:nvPr/>
          </p:nvSpPr>
          <p:spPr>
            <a:xfrm>
              <a:off x="753864" y="4729639"/>
              <a:ext cx="130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666666"/>
                  </a:solidFill>
                  <a:latin typeface="var(--font-serif)"/>
                  <a:ea typeface="Microsoft YaHei"/>
                  <a:cs typeface="var(--font-serif)"/>
                </a:rPr>
                <a:t>…</a:t>
              </a:r>
            </a:p>
          </p:txBody>
        </p:sp>
        <p:sp>
          <p:nvSpPr>
            <p:cNvPr id="377" name="TextBox 377"/>
            <p:cNvSpPr txBox="1"/>
            <p:nvPr/>
          </p:nvSpPr>
          <p:spPr>
            <a:xfrm>
              <a:off x="1030089" y="4729639"/>
              <a:ext cx="130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7650A8"/>
                  </a:solidFill>
                  <a:latin typeface="var(--font-serif)"/>
                  <a:ea typeface="Microsoft YaHei"/>
                  <a:cs typeface="var(--font-serif)"/>
                </a:rPr>
                <a:t>N</a:t>
              </a:r>
            </a:p>
          </p:txBody>
        </p:sp>
        <p:sp>
          <p:nvSpPr>
            <p:cNvPr id="378" name="TextBox 378"/>
            <p:cNvSpPr txBox="1"/>
            <p:nvPr/>
          </p:nvSpPr>
          <p:spPr>
            <a:xfrm>
              <a:off x="1467802" y="4761071"/>
              <a:ext cx="272978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8453B8"/>
                  </a:solidFill>
                  <a:latin typeface="var(--font-serif)"/>
                  <a:ea typeface="Microsoft YaHei"/>
                  <a:cs typeface="var(--font-serif)"/>
                </a:rPr>
                <a:t>Cross-Loop Position Offset</a:t>
              </a:r>
            </a:p>
          </p:txBody>
        </p:sp>
        <p:sp>
          <p:nvSpPr>
            <p:cNvPr id="379" name="TextBox 379"/>
            <p:cNvSpPr txBox="1"/>
            <p:nvPr/>
          </p:nvSpPr>
          <p:spPr>
            <a:xfrm>
              <a:off x="625126" y="5410200"/>
              <a:ext cx="6261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Loop 1</a:t>
              </a:r>
            </a:p>
          </p:txBody>
        </p:sp>
        <p:sp>
          <p:nvSpPr>
            <p:cNvPr id="380" name="TextBox 380"/>
            <p:cNvSpPr txBox="1"/>
            <p:nvPr/>
          </p:nvSpPr>
          <p:spPr>
            <a:xfrm>
              <a:off x="1770447" y="5410200"/>
              <a:ext cx="6786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Loop 2</a:t>
              </a:r>
            </a:p>
          </p:txBody>
        </p:sp>
        <p:sp>
          <p:nvSpPr>
            <p:cNvPr id="381" name="TextBox 381"/>
            <p:cNvSpPr txBox="1"/>
            <p:nvPr/>
          </p:nvSpPr>
          <p:spPr>
            <a:xfrm>
              <a:off x="3646872" y="5410200"/>
              <a:ext cx="6786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Loop r</a:t>
              </a:r>
            </a:p>
          </p:txBody>
        </p:sp>
        <p:sp>
          <p:nvSpPr>
            <p:cNvPr id="382" name="TextBox 382"/>
            <p:cNvSpPr txBox="1"/>
            <p:nvPr/>
          </p:nvSpPr>
          <p:spPr>
            <a:xfrm>
              <a:off x="2934785" y="5305901"/>
              <a:ext cx="207379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…</a:t>
              </a:r>
            </a:p>
          </p:txBody>
        </p:sp>
        <p:sp>
          <p:nvSpPr>
            <p:cNvPr id="383" name="TextBox 383"/>
            <p:cNvSpPr txBox="1"/>
            <p:nvPr/>
          </p:nvSpPr>
          <p:spPr>
            <a:xfrm>
              <a:off x="629855" y="6082189"/>
              <a:ext cx="36742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3474B7"/>
                  </a:solidFill>
                  <a:latin typeface="var(--font-serif)"/>
                  <a:ea typeface="Microsoft YaHei"/>
                  <a:cs typeface="var(--font-serif)"/>
                </a:rPr>
                <a:t>Shared-KV Gated Sliding-Window Attention</a:t>
              </a:r>
            </a:p>
          </p:txBody>
        </p:sp>
        <p:sp>
          <p:nvSpPr>
            <p:cNvPr id="384" name="TextBox 384"/>
            <p:cNvSpPr txBox="1"/>
            <p:nvPr/>
          </p:nvSpPr>
          <p:spPr>
            <a:xfrm>
              <a:off x="516771" y="6712268"/>
              <a:ext cx="1385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76B3C"/>
                  </a:solidFill>
                  <a:latin typeface="var(--font-serif)"/>
                  <a:ea typeface="Microsoft YaHei"/>
                  <a:cs typeface="var(--font-serif)"/>
                </a:rPr>
                <a:t>Near-constant</a:t>
              </a:r>
            </a:p>
          </p:txBody>
        </p:sp>
        <p:sp>
          <p:nvSpPr>
            <p:cNvPr id="385" name="TextBox 385"/>
            <p:cNvSpPr txBox="1"/>
            <p:nvPr/>
          </p:nvSpPr>
          <p:spPr>
            <a:xfrm>
              <a:off x="828660" y="6926580"/>
              <a:ext cx="762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76B3C"/>
                  </a:solidFill>
                  <a:latin typeface="var(--font-serif)"/>
                  <a:ea typeface="Microsoft YaHei"/>
                  <a:cs typeface="var(--font-serif)"/>
                </a:rPr>
                <a:t>Latency</a:t>
              </a:r>
            </a:p>
          </p:txBody>
        </p:sp>
        <p:sp>
          <p:nvSpPr>
            <p:cNvPr id="386" name="TextBox 386"/>
            <p:cNvSpPr txBox="1"/>
            <p:nvPr/>
          </p:nvSpPr>
          <p:spPr>
            <a:xfrm>
              <a:off x="406265" y="7409974"/>
              <a:ext cx="637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1</a:t>
              </a:r>
            </a:p>
          </p:txBody>
        </p:sp>
        <p:sp>
          <p:nvSpPr>
            <p:cNvPr id="387" name="TextBox 387"/>
            <p:cNvSpPr txBox="1"/>
            <p:nvPr/>
          </p:nvSpPr>
          <p:spPr>
            <a:xfrm>
              <a:off x="885313" y="7409974"/>
              <a:ext cx="96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2</a:t>
              </a:r>
            </a:p>
          </p:txBody>
        </p:sp>
        <p:sp>
          <p:nvSpPr>
            <p:cNvPr id="388" name="TextBox 388"/>
            <p:cNvSpPr txBox="1"/>
            <p:nvPr/>
          </p:nvSpPr>
          <p:spPr>
            <a:xfrm>
              <a:off x="1380613" y="7409974"/>
              <a:ext cx="96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…</a:t>
              </a:r>
            </a:p>
          </p:txBody>
        </p:sp>
        <p:sp>
          <p:nvSpPr>
            <p:cNvPr id="389" name="TextBox 389"/>
            <p:cNvSpPr txBox="1"/>
            <p:nvPr/>
          </p:nvSpPr>
          <p:spPr>
            <a:xfrm>
              <a:off x="1885438" y="7409974"/>
              <a:ext cx="96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r</a:t>
              </a:r>
            </a:p>
          </p:txBody>
        </p:sp>
        <p:sp>
          <p:nvSpPr>
            <p:cNvPr id="390" name="TextBox 390"/>
            <p:cNvSpPr txBox="1"/>
            <p:nvPr/>
          </p:nvSpPr>
          <p:spPr>
            <a:xfrm>
              <a:off x="2755146" y="6712268"/>
              <a:ext cx="1385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76B3C"/>
                  </a:solidFill>
                  <a:latin typeface="var(--font-serif)"/>
                  <a:ea typeface="Microsoft YaHei"/>
                  <a:cs typeface="var(--font-serif)"/>
                </a:rPr>
                <a:t>Near-constant</a:t>
              </a:r>
            </a:p>
          </p:txBody>
        </p:sp>
        <p:sp>
          <p:nvSpPr>
            <p:cNvPr id="391" name="TextBox 391"/>
            <p:cNvSpPr txBox="1"/>
            <p:nvPr/>
          </p:nvSpPr>
          <p:spPr>
            <a:xfrm>
              <a:off x="2660634" y="6926580"/>
              <a:ext cx="15748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76B3C"/>
                  </a:solidFill>
                  <a:latin typeface="var(--font-serif)"/>
                  <a:ea typeface="Microsoft YaHei"/>
                  <a:cs typeface="var(--font-serif)"/>
                </a:rPr>
                <a:t>KV Cache Memory</a:t>
              </a:r>
            </a:p>
          </p:txBody>
        </p:sp>
        <p:sp>
          <p:nvSpPr>
            <p:cNvPr id="392" name="TextBox 392"/>
            <p:cNvSpPr txBox="1"/>
            <p:nvPr/>
          </p:nvSpPr>
          <p:spPr>
            <a:xfrm>
              <a:off x="2644640" y="7409974"/>
              <a:ext cx="637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1</a:t>
              </a:r>
            </a:p>
          </p:txBody>
        </p:sp>
        <p:sp>
          <p:nvSpPr>
            <p:cNvPr id="393" name="TextBox 393"/>
            <p:cNvSpPr txBox="1"/>
            <p:nvPr/>
          </p:nvSpPr>
          <p:spPr>
            <a:xfrm>
              <a:off x="3123688" y="7409974"/>
              <a:ext cx="96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2</a:t>
              </a:r>
            </a:p>
          </p:txBody>
        </p:sp>
        <p:sp>
          <p:nvSpPr>
            <p:cNvPr id="394" name="TextBox 394"/>
            <p:cNvSpPr txBox="1"/>
            <p:nvPr/>
          </p:nvSpPr>
          <p:spPr>
            <a:xfrm>
              <a:off x="3618988" y="7409974"/>
              <a:ext cx="96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…</a:t>
              </a:r>
            </a:p>
          </p:txBody>
        </p:sp>
        <p:sp>
          <p:nvSpPr>
            <p:cNvPr id="395" name="TextBox 395"/>
            <p:cNvSpPr txBox="1"/>
            <p:nvPr/>
          </p:nvSpPr>
          <p:spPr>
            <a:xfrm>
              <a:off x="4123813" y="7409974"/>
              <a:ext cx="96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r</a:t>
              </a:r>
            </a:p>
          </p:txBody>
        </p:sp>
        <p:sp>
          <p:nvSpPr>
            <p:cNvPr id="396" name="TextBox 396"/>
            <p:cNvSpPr txBox="1"/>
            <p:nvPr/>
          </p:nvSpPr>
          <p:spPr>
            <a:xfrm>
              <a:off x="5867400" y="742950"/>
              <a:ext cx="28104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Refinement gain (marginal)</a:t>
              </a:r>
            </a:p>
          </p:txBody>
        </p:sp>
        <p:sp>
          <p:nvSpPr>
            <p:cNvPr id="397" name="TextBox 397"/>
            <p:cNvSpPr txBox="1"/>
            <p:nvPr/>
          </p:nvSpPr>
          <p:spPr>
            <a:xfrm>
              <a:off x="5867400" y="1114425"/>
              <a:ext cx="166580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CLP offset cost</a:t>
              </a:r>
            </a:p>
          </p:txBody>
        </p:sp>
        <p:sp>
          <p:nvSpPr>
            <p:cNvPr id="398" name="TextBox 398"/>
            <p:cNvSpPr txBox="1"/>
            <p:nvPr/>
          </p:nvSpPr>
          <p:spPr>
            <a:xfrm>
              <a:off x="4954905" y="1263968"/>
              <a:ext cx="7714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Relative</a:t>
              </a:r>
            </a:p>
          </p:txBody>
        </p:sp>
        <p:sp>
          <p:nvSpPr>
            <p:cNvPr id="399" name="TextBox 399"/>
            <p:cNvSpPr txBox="1"/>
            <p:nvPr/>
          </p:nvSpPr>
          <p:spPr>
            <a:xfrm>
              <a:off x="4954905" y="1478280"/>
              <a:ext cx="9605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Magnitude</a:t>
              </a:r>
            </a:p>
          </p:txBody>
        </p:sp>
        <p:sp>
          <p:nvSpPr>
            <p:cNvPr id="400" name="TextBox 400"/>
            <p:cNvSpPr txBox="1"/>
            <p:nvPr/>
          </p:nvSpPr>
          <p:spPr>
            <a:xfrm>
              <a:off x="6094318" y="3208496"/>
              <a:ext cx="78441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285489"/>
                  </a:solidFill>
                  <a:latin typeface="var(--font-serif)"/>
                  <a:ea typeface="Microsoft YaHei"/>
                  <a:cs typeface="var(--font-serif)"/>
                </a:rPr>
                <a:t>Optimal</a:t>
              </a:r>
            </a:p>
          </p:txBody>
        </p:sp>
        <p:sp>
          <p:nvSpPr>
            <p:cNvPr id="401" name="TextBox 401"/>
            <p:cNvSpPr txBox="1"/>
            <p:nvPr/>
          </p:nvSpPr>
          <p:spPr>
            <a:xfrm>
              <a:off x="6001711" y="3424714"/>
              <a:ext cx="9696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285489"/>
                  </a:solidFill>
                  <a:latin typeface="var(--font-serif)"/>
                  <a:ea typeface="Microsoft YaHei"/>
                  <a:cs typeface="var(--font-serif)"/>
                </a:rPr>
                <a:t>Loop Count</a:t>
              </a:r>
            </a:p>
          </p:txBody>
        </p:sp>
        <p:sp>
          <p:nvSpPr>
            <p:cNvPr id="402" name="TextBox 402"/>
            <p:cNvSpPr txBox="1"/>
            <p:nvPr/>
          </p:nvSpPr>
          <p:spPr>
            <a:xfrm>
              <a:off x="5254461" y="4026218"/>
              <a:ext cx="11306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7731F"/>
                  </a:solidFill>
                  <a:latin typeface="var(--font-serif)"/>
                  <a:ea typeface="Microsoft YaHei"/>
                  <a:cs typeface="var(--font-serif)"/>
                </a:rPr>
                <a:t>(Productive</a:t>
              </a:r>
            </a:p>
          </p:txBody>
        </p:sp>
        <p:sp>
          <p:nvSpPr>
            <p:cNvPr id="403" name="TextBox 403"/>
            <p:cNvSpPr txBox="1"/>
            <p:nvPr/>
          </p:nvSpPr>
          <p:spPr>
            <a:xfrm>
              <a:off x="5235559" y="4240530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7731F"/>
                  </a:solidFill>
                  <a:latin typeface="var(--font-serif)"/>
                  <a:ea typeface="Microsoft YaHei"/>
                  <a:cs typeface="var(--font-serif)"/>
                </a:rPr>
                <a:t>Refinement)</a:t>
              </a:r>
            </a:p>
          </p:txBody>
        </p:sp>
        <p:sp>
          <p:nvSpPr>
            <p:cNvPr id="404" name="TextBox 404"/>
            <p:cNvSpPr txBox="1"/>
            <p:nvPr/>
          </p:nvSpPr>
          <p:spPr>
            <a:xfrm>
              <a:off x="6904280" y="4026218"/>
              <a:ext cx="16409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111F"/>
                  </a:solidFill>
                  <a:latin typeface="var(--font-serif)"/>
                  <a:ea typeface="Microsoft YaHei"/>
                  <a:cs typeface="var(--font-serif)"/>
                </a:rPr>
                <a:t>(Cost Dominates,</a:t>
              </a:r>
            </a:p>
          </p:txBody>
        </p:sp>
        <p:sp>
          <p:nvSpPr>
            <p:cNvPr id="405" name="TextBox 405"/>
            <p:cNvSpPr txBox="1"/>
            <p:nvPr/>
          </p:nvSpPr>
          <p:spPr>
            <a:xfrm>
              <a:off x="7107480" y="4240530"/>
              <a:ext cx="12345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111F"/>
                  </a:solidFill>
                  <a:latin typeface="var(--font-serif)"/>
                  <a:ea typeface="Microsoft YaHei"/>
                  <a:cs typeface="var(--font-serif)"/>
                </a:rPr>
                <a:t>Degradation)</a:t>
              </a:r>
            </a:p>
          </p:txBody>
        </p:sp>
        <p:sp>
          <p:nvSpPr>
            <p:cNvPr id="406" name="TextBox 406"/>
            <p:cNvSpPr txBox="1"/>
            <p:nvPr/>
          </p:nvSpPr>
          <p:spPr>
            <a:xfrm>
              <a:off x="5614999" y="5305425"/>
              <a:ext cx="4476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474B7"/>
                  </a:solidFill>
                  <a:latin typeface="var(--font-serif)"/>
                  <a:ea typeface="Microsoft YaHei"/>
                  <a:cs typeface="var(--font-serif)"/>
                </a:rPr>
                <a:t>Gain</a:t>
              </a:r>
            </a:p>
          </p:txBody>
        </p:sp>
        <p:sp>
          <p:nvSpPr>
            <p:cNvPr id="407" name="TextBox 407"/>
            <p:cNvSpPr txBox="1"/>
            <p:nvPr/>
          </p:nvSpPr>
          <p:spPr>
            <a:xfrm>
              <a:off x="5167283" y="5532596"/>
              <a:ext cx="134308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3474B7"/>
                  </a:solidFill>
                  <a:latin typeface="var(--font-serif)"/>
                  <a:ea typeface="Microsoft YaHei"/>
                  <a:cs typeface="var(--font-serif)"/>
                </a:rPr>
                <a:t>(Refinement)</a:t>
              </a:r>
            </a:p>
          </p:txBody>
        </p:sp>
        <p:sp>
          <p:nvSpPr>
            <p:cNvPr id="408" name="TextBox 408"/>
            <p:cNvSpPr txBox="1"/>
            <p:nvPr/>
          </p:nvSpPr>
          <p:spPr>
            <a:xfrm>
              <a:off x="5013960" y="5833110"/>
              <a:ext cx="15090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1. Updates become</a:t>
              </a:r>
            </a:p>
          </p:txBody>
        </p:sp>
        <p:sp>
          <p:nvSpPr>
            <p:cNvPr id="409" name="TextBox 409"/>
            <p:cNvSpPr txBox="1"/>
            <p:nvPr/>
          </p:nvSpPr>
          <p:spPr>
            <a:xfrm>
              <a:off x="5013960" y="6023610"/>
              <a:ext cx="12234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more coherent</a:t>
              </a:r>
            </a:p>
          </p:txBody>
        </p:sp>
        <p:sp>
          <p:nvSpPr>
            <p:cNvPr id="410" name="TextBox 410"/>
            <p:cNvSpPr txBox="1"/>
            <p:nvPr/>
          </p:nvSpPr>
          <p:spPr>
            <a:xfrm>
              <a:off x="5013960" y="6404610"/>
              <a:ext cx="18871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2. Information routing</a:t>
              </a:r>
            </a:p>
          </p:txBody>
        </p:sp>
        <p:sp>
          <p:nvSpPr>
            <p:cNvPr id="411" name="TextBox 411"/>
            <p:cNvSpPr txBox="1"/>
            <p:nvPr/>
          </p:nvSpPr>
          <p:spPr>
            <a:xfrm>
              <a:off x="5013960" y="6595110"/>
              <a:ext cx="6773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changes</a:t>
              </a:r>
            </a:p>
          </p:txBody>
        </p:sp>
        <p:sp>
          <p:nvSpPr>
            <p:cNvPr id="412" name="TextBox 412"/>
            <p:cNvSpPr txBox="1"/>
            <p:nvPr/>
          </p:nvSpPr>
          <p:spPr>
            <a:xfrm>
              <a:off x="5013960" y="6976110"/>
              <a:ext cx="18871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3. Output distribution</a:t>
              </a:r>
            </a:p>
          </p:txBody>
        </p:sp>
        <p:sp>
          <p:nvSpPr>
            <p:cNvPr id="413" name="TextBox 413"/>
            <p:cNvSpPr txBox="1"/>
            <p:nvPr/>
          </p:nvSpPr>
          <p:spPr>
            <a:xfrm>
              <a:off x="5013960" y="7166610"/>
              <a:ext cx="5429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shifts</a:t>
              </a:r>
            </a:p>
          </p:txBody>
        </p:sp>
        <p:sp>
          <p:nvSpPr>
            <p:cNvPr id="414" name="TextBox 414"/>
            <p:cNvSpPr txBox="1"/>
            <p:nvPr/>
          </p:nvSpPr>
          <p:spPr>
            <a:xfrm>
              <a:off x="7638443" y="486727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B83CF"/>
                  </a:solidFill>
                  <a:latin typeface="var(--font-sans)"/>
                  <a:ea typeface="Microsoft YaHei"/>
                  <a:cs typeface="var(--font-sans)"/>
                </a:rPr>
                <a:t>$</a:t>
              </a:r>
            </a:p>
          </p:txBody>
        </p:sp>
        <p:sp>
          <p:nvSpPr>
            <p:cNvPr id="415" name="TextBox 415"/>
            <p:cNvSpPr txBox="1"/>
            <p:nvPr/>
          </p:nvSpPr>
          <p:spPr>
            <a:xfrm>
              <a:off x="7465171" y="5305425"/>
              <a:ext cx="500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F4055"/>
                  </a:solidFill>
                  <a:latin typeface="var(--font-serif)"/>
                  <a:ea typeface="Microsoft YaHei"/>
                  <a:cs typeface="var(--font-serif)"/>
                </a:rPr>
                <a:t>Cost</a:t>
              </a:r>
            </a:p>
          </p:txBody>
        </p:sp>
        <p:sp>
          <p:nvSpPr>
            <p:cNvPr id="416" name="TextBox 416"/>
            <p:cNvSpPr txBox="1"/>
            <p:nvPr/>
          </p:nvSpPr>
          <p:spPr>
            <a:xfrm>
              <a:off x="6754397" y="5532596"/>
              <a:ext cx="192170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CF4055"/>
                  </a:solidFill>
                  <a:latin typeface="var(--font-serif)"/>
                  <a:ea typeface="Microsoft YaHei"/>
                  <a:cs typeface="var(--font-serif)"/>
                </a:rPr>
                <a:t>(Offset Mismatch)</a:t>
              </a:r>
            </a:p>
          </p:txBody>
        </p:sp>
        <p:sp>
          <p:nvSpPr>
            <p:cNvPr id="417" name="TextBox 417"/>
            <p:cNvSpPr txBox="1"/>
            <p:nvPr/>
          </p:nvSpPr>
          <p:spPr>
            <a:xfrm>
              <a:off x="6909435" y="5899785"/>
              <a:ext cx="17610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1. CLP offsets induce</a:t>
              </a:r>
            </a:p>
          </p:txBody>
        </p:sp>
        <p:sp>
          <p:nvSpPr>
            <p:cNvPr id="418" name="TextBox 418"/>
            <p:cNvSpPr txBox="1"/>
            <p:nvPr/>
          </p:nvSpPr>
          <p:spPr>
            <a:xfrm>
              <a:off x="6909435" y="6090285"/>
              <a:ext cx="15846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boundary mismatch</a:t>
              </a:r>
            </a:p>
          </p:txBody>
        </p:sp>
        <p:sp>
          <p:nvSpPr>
            <p:cNvPr id="419" name="TextBox 419"/>
            <p:cNvSpPr txBox="1"/>
            <p:nvPr/>
          </p:nvSpPr>
          <p:spPr>
            <a:xfrm>
              <a:off x="6909435" y="6471285"/>
              <a:ext cx="14502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2. Mismatch cost</a:t>
              </a:r>
            </a:p>
          </p:txBody>
        </p:sp>
        <p:sp>
          <p:nvSpPr>
            <p:cNvPr id="420" name="TextBox 420"/>
            <p:cNvSpPr txBox="1"/>
            <p:nvPr/>
          </p:nvSpPr>
          <p:spPr>
            <a:xfrm>
              <a:off x="6909435" y="6661785"/>
              <a:ext cx="1836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remains stable across</a:t>
              </a:r>
            </a:p>
          </p:txBody>
        </p:sp>
        <p:sp>
          <p:nvSpPr>
            <p:cNvPr id="421" name="TextBox 421"/>
            <p:cNvSpPr txBox="1"/>
            <p:nvPr/>
          </p:nvSpPr>
          <p:spPr>
            <a:xfrm>
              <a:off x="6909435" y="6852285"/>
              <a:ext cx="450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loops</a:t>
              </a:r>
            </a:p>
          </p:txBody>
        </p:sp>
        <p:sp>
          <p:nvSpPr>
            <p:cNvPr id="422" name="TextBox 422"/>
            <p:cNvSpPr txBox="1"/>
            <p:nvPr/>
          </p:nvSpPr>
          <p:spPr>
            <a:xfrm>
              <a:off x="9130565" y="1729740"/>
              <a:ext cx="16461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8651C"/>
                  </a:solidFill>
                  <a:latin typeface="var(--font-serif)"/>
                  <a:ea typeface="Microsoft YaHei"/>
                  <a:cs typeface="var(--font-serif)"/>
                </a:rPr>
                <a:t>Hidden-state</a:t>
              </a:r>
            </a:p>
          </p:txBody>
        </p:sp>
        <p:sp>
          <p:nvSpPr>
            <p:cNvPr id="423" name="TextBox 423"/>
            <p:cNvSpPr txBox="1"/>
            <p:nvPr/>
          </p:nvSpPr>
          <p:spPr>
            <a:xfrm>
              <a:off x="9514913" y="2015490"/>
              <a:ext cx="87742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8651C"/>
                  </a:solidFill>
                  <a:latin typeface="var(--font-serif)"/>
                  <a:ea typeface="Microsoft YaHei"/>
                  <a:cs typeface="var(--font-serif)"/>
                </a:rPr>
                <a:t>Update</a:t>
              </a:r>
            </a:p>
          </p:txBody>
        </p:sp>
        <p:sp>
          <p:nvSpPr>
            <p:cNvPr id="424" name="TextBox 424"/>
            <p:cNvSpPr txBox="1"/>
            <p:nvPr/>
          </p:nvSpPr>
          <p:spPr>
            <a:xfrm>
              <a:off x="9168370" y="2301240"/>
              <a:ext cx="157051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8651C"/>
                  </a:solidFill>
                  <a:latin typeface="var(--font-serif)"/>
                  <a:ea typeface="Microsoft YaHei"/>
                  <a:cs typeface="var(--font-serif)"/>
                </a:rPr>
                <a:t>(Coherence)</a:t>
              </a:r>
            </a:p>
          </p:txBody>
        </p:sp>
        <p:sp>
          <p:nvSpPr>
            <p:cNvPr id="425" name="TextBox 425"/>
            <p:cNvSpPr txBox="1"/>
            <p:nvPr/>
          </p:nvSpPr>
          <p:spPr>
            <a:xfrm>
              <a:off x="9338491" y="3263265"/>
              <a:ext cx="123026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8651C"/>
                  </a:solidFill>
                  <a:latin typeface="var(--font-serif)"/>
                  <a:ea typeface="Microsoft YaHei"/>
                  <a:cs typeface="var(--font-serif)"/>
                </a:rPr>
                <a:t>Attention</a:t>
              </a:r>
            </a:p>
          </p:txBody>
        </p:sp>
        <p:sp>
          <p:nvSpPr>
            <p:cNvPr id="426" name="TextBox 426"/>
            <p:cNvSpPr txBox="1"/>
            <p:nvPr/>
          </p:nvSpPr>
          <p:spPr>
            <a:xfrm>
              <a:off x="9477108" y="3549015"/>
              <a:ext cx="95303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8651C"/>
                  </a:solidFill>
                  <a:latin typeface="var(--font-serif)"/>
                  <a:ea typeface="Microsoft YaHei"/>
                  <a:cs typeface="var(--font-serif)"/>
                </a:rPr>
                <a:t>Routing</a:t>
              </a:r>
            </a:p>
          </p:txBody>
        </p:sp>
        <p:sp>
          <p:nvSpPr>
            <p:cNvPr id="427" name="TextBox 427"/>
            <p:cNvSpPr txBox="1"/>
            <p:nvPr/>
          </p:nvSpPr>
          <p:spPr>
            <a:xfrm>
              <a:off x="9376296" y="3834765"/>
              <a:ext cx="115465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8651C"/>
                  </a:solidFill>
                  <a:latin typeface="var(--font-serif)"/>
                  <a:ea typeface="Microsoft YaHei"/>
                  <a:cs typeface="var(--font-serif)"/>
                </a:rPr>
                <a:t>(Change)</a:t>
              </a:r>
            </a:p>
          </p:txBody>
        </p:sp>
        <p:sp>
          <p:nvSpPr>
            <p:cNvPr id="428" name="TextBox 428"/>
            <p:cNvSpPr txBox="1"/>
            <p:nvPr/>
          </p:nvSpPr>
          <p:spPr>
            <a:xfrm>
              <a:off x="8991948" y="4825365"/>
              <a:ext cx="19233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8651C"/>
                  </a:solidFill>
                  <a:latin typeface="var(--font-serif)"/>
                  <a:ea typeface="Microsoft YaHei"/>
                  <a:cs typeface="var(--font-serif)"/>
                </a:rPr>
                <a:t>Representation</a:t>
              </a:r>
            </a:p>
          </p:txBody>
        </p:sp>
        <p:sp>
          <p:nvSpPr>
            <p:cNvPr id="429" name="TextBox 429"/>
            <p:cNvSpPr txBox="1"/>
            <p:nvPr/>
          </p:nvSpPr>
          <p:spPr>
            <a:xfrm>
              <a:off x="9369995" y="5111115"/>
              <a:ext cx="11672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8651C"/>
                  </a:solidFill>
                  <a:latin typeface="var(--font-serif)"/>
                  <a:ea typeface="Microsoft YaHei"/>
                  <a:cs typeface="var(--font-serif)"/>
                </a:rPr>
                <a:t>Diversity</a:t>
              </a:r>
            </a:p>
          </p:txBody>
        </p:sp>
        <p:sp>
          <p:nvSpPr>
            <p:cNvPr id="430" name="TextBox 430"/>
            <p:cNvSpPr txBox="1"/>
            <p:nvPr/>
          </p:nvSpPr>
          <p:spPr>
            <a:xfrm>
              <a:off x="8884834" y="5396865"/>
              <a:ext cx="213758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8651C"/>
                  </a:solidFill>
                  <a:latin typeface="var(--font-serif)"/>
                  <a:ea typeface="Microsoft YaHei"/>
                  <a:cs typeface="var(--font-serif)"/>
                </a:rPr>
                <a:t>(Effective Rank)</a:t>
              </a:r>
            </a:p>
          </p:txBody>
        </p:sp>
        <p:sp>
          <p:nvSpPr>
            <p:cNvPr id="431" name="TextBox 431"/>
            <p:cNvSpPr txBox="1"/>
            <p:nvPr/>
          </p:nvSpPr>
          <p:spPr>
            <a:xfrm>
              <a:off x="9231378" y="6292215"/>
              <a:ext cx="144449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8651C"/>
                  </a:solidFill>
                  <a:latin typeface="var(--font-serif)"/>
                  <a:ea typeface="Microsoft YaHei"/>
                  <a:cs typeface="var(--font-serif)"/>
                </a:rPr>
                <a:t>Token-level</a:t>
              </a:r>
            </a:p>
          </p:txBody>
        </p:sp>
        <p:sp>
          <p:nvSpPr>
            <p:cNvPr id="432" name="TextBox 432"/>
            <p:cNvSpPr txBox="1"/>
            <p:nvPr/>
          </p:nvSpPr>
          <p:spPr>
            <a:xfrm>
              <a:off x="9162069" y="6577965"/>
              <a:ext cx="15831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8651C"/>
                  </a:solidFill>
                  <a:latin typeface="var(--font-serif)"/>
                  <a:ea typeface="Microsoft YaHei"/>
                  <a:cs typeface="var(--font-serif)"/>
                </a:rPr>
                <a:t>Contribution</a:t>
              </a:r>
            </a:p>
          </p:txBody>
        </p:sp>
        <p:sp>
          <p:nvSpPr>
            <p:cNvPr id="433" name="TextBox 433"/>
            <p:cNvSpPr txBox="1"/>
            <p:nvPr/>
          </p:nvSpPr>
          <p:spPr>
            <a:xfrm>
              <a:off x="9237678" y="6863715"/>
              <a:ext cx="143189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8651C"/>
                  </a:solidFill>
                  <a:latin typeface="var(--font-serif)"/>
                  <a:ea typeface="Microsoft YaHei"/>
                  <a:cs typeface="var(--font-serif)"/>
                </a:rPr>
                <a:t>(Coverage)</a:t>
              </a:r>
            </a:p>
          </p:txBody>
        </p:sp>
        <p:sp>
          <p:nvSpPr>
            <p:cNvPr id="434" name="TextBox 434"/>
            <p:cNvSpPr txBox="1"/>
            <p:nvPr/>
          </p:nvSpPr>
          <p:spPr>
            <a:xfrm>
              <a:off x="11463373" y="800100"/>
              <a:ext cx="126675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16F1E"/>
                  </a:solidFill>
                  <a:latin typeface="var(--font-serif)"/>
                  <a:ea typeface="Microsoft YaHei"/>
                  <a:cs typeface="var(--font-serif)"/>
                </a:rPr>
                <a:t>Loop 2 (1→2)</a:t>
              </a:r>
            </a:p>
          </p:txBody>
        </p:sp>
        <p:sp>
          <p:nvSpPr>
            <p:cNvPr id="435" name="TextBox 435"/>
            <p:cNvSpPr txBox="1"/>
            <p:nvPr/>
          </p:nvSpPr>
          <p:spPr>
            <a:xfrm>
              <a:off x="10833294" y="1038225"/>
              <a:ext cx="25269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16F1E"/>
                  </a:solidFill>
                  <a:latin typeface="var(--font-serif)"/>
                  <a:ea typeface="Microsoft YaHei"/>
                  <a:cs typeface="var(--font-serif)"/>
                </a:rPr>
                <a:t>Productive Refinement ✓</a:t>
              </a:r>
            </a:p>
          </p:txBody>
        </p:sp>
        <p:sp>
          <p:nvSpPr>
            <p:cNvPr id="436" name="TextBox 436"/>
            <p:cNvSpPr txBox="1"/>
            <p:nvPr/>
          </p:nvSpPr>
          <p:spPr>
            <a:xfrm>
              <a:off x="14170795" y="781050"/>
              <a:ext cx="13192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31F22"/>
                  </a:solidFill>
                  <a:latin typeface="var(--font-serif)"/>
                  <a:ea typeface="Microsoft YaHei"/>
                  <a:cs typeface="var(--font-serif)"/>
                </a:rPr>
                <a:t>Loop 3 (2→3)</a:t>
              </a:r>
            </a:p>
          </p:txBody>
        </p:sp>
        <p:sp>
          <p:nvSpPr>
            <p:cNvPr id="437" name="TextBox 437"/>
            <p:cNvSpPr txBox="1"/>
            <p:nvPr/>
          </p:nvSpPr>
          <p:spPr>
            <a:xfrm>
              <a:off x="13682484" y="1019175"/>
              <a:ext cx="22958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31F22"/>
                  </a:solidFill>
                  <a:latin typeface="var(--font-serif)"/>
                  <a:ea typeface="Microsoft YaHei"/>
                  <a:cs typeface="var(--font-serif)"/>
                </a:rPr>
                <a:t>Redundant / Harmful ×</a:t>
              </a:r>
            </a:p>
          </p:txBody>
        </p:sp>
        <p:sp>
          <p:nvSpPr>
            <p:cNvPr id="438" name="TextBox 438"/>
            <p:cNvSpPr txBox="1"/>
            <p:nvPr/>
          </p:nvSpPr>
          <p:spPr>
            <a:xfrm>
              <a:off x="11102423" y="2360295"/>
              <a:ext cx="3694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Start</a:t>
              </a:r>
            </a:p>
          </p:txBody>
        </p:sp>
        <p:sp>
          <p:nvSpPr>
            <p:cNvPr id="439" name="TextBox 439"/>
            <p:cNvSpPr txBox="1"/>
            <p:nvPr/>
          </p:nvSpPr>
          <p:spPr>
            <a:xfrm>
              <a:off x="11029964" y="2503170"/>
              <a:ext cx="5143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(Loop 1)</a:t>
              </a:r>
            </a:p>
          </p:txBody>
        </p:sp>
        <p:sp>
          <p:nvSpPr>
            <p:cNvPr id="440" name="TextBox 440"/>
            <p:cNvSpPr txBox="1"/>
            <p:nvPr/>
          </p:nvSpPr>
          <p:spPr>
            <a:xfrm>
              <a:off x="12462972" y="2093595"/>
              <a:ext cx="7915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After Loop 2</a:t>
              </a:r>
            </a:p>
          </p:txBody>
        </p:sp>
        <p:sp>
          <p:nvSpPr>
            <p:cNvPr id="441" name="TextBox 441"/>
            <p:cNvSpPr txBox="1"/>
            <p:nvPr/>
          </p:nvSpPr>
          <p:spPr>
            <a:xfrm>
              <a:off x="15234747" y="2550795"/>
              <a:ext cx="7915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After Loop 3</a:t>
              </a:r>
            </a:p>
          </p:txBody>
        </p:sp>
        <p:sp>
          <p:nvSpPr>
            <p:cNvPr id="442" name="TextBox 442"/>
            <p:cNvSpPr txBox="1"/>
            <p:nvPr/>
          </p:nvSpPr>
          <p:spPr>
            <a:xfrm>
              <a:off x="11318785" y="2902268"/>
              <a:ext cx="15559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Strong change in</a:t>
              </a:r>
            </a:p>
          </p:txBody>
        </p:sp>
        <p:sp>
          <p:nvSpPr>
            <p:cNvPr id="443" name="TextBox 443"/>
            <p:cNvSpPr txBox="1"/>
            <p:nvPr/>
          </p:nvSpPr>
          <p:spPr>
            <a:xfrm>
              <a:off x="11191194" y="3116580"/>
              <a:ext cx="18111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attention patterns</a:t>
              </a:r>
            </a:p>
          </p:txBody>
        </p:sp>
        <p:sp>
          <p:nvSpPr>
            <p:cNvPr id="444" name="TextBox 444"/>
            <p:cNvSpPr txBox="1"/>
            <p:nvPr/>
          </p:nvSpPr>
          <p:spPr>
            <a:xfrm>
              <a:off x="11191789" y="4182428"/>
              <a:ext cx="4383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Loop 1</a:t>
              </a:r>
            </a:p>
          </p:txBody>
        </p:sp>
        <p:sp>
          <p:nvSpPr>
            <p:cNvPr id="445" name="TextBox 445"/>
            <p:cNvSpPr txBox="1"/>
            <p:nvPr/>
          </p:nvSpPr>
          <p:spPr>
            <a:xfrm>
              <a:off x="12497387" y="4182428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Loop 2</a:t>
              </a:r>
            </a:p>
          </p:txBody>
        </p:sp>
        <p:sp>
          <p:nvSpPr>
            <p:cNvPr id="446" name="TextBox 446"/>
            <p:cNvSpPr txBox="1"/>
            <p:nvPr/>
          </p:nvSpPr>
          <p:spPr>
            <a:xfrm>
              <a:off x="13924869" y="2902268"/>
              <a:ext cx="18111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Attention patterns</a:t>
              </a:r>
            </a:p>
          </p:txBody>
        </p:sp>
        <p:sp>
          <p:nvSpPr>
            <p:cNvPr id="447" name="TextBox 447"/>
            <p:cNvSpPr txBox="1"/>
            <p:nvPr/>
          </p:nvSpPr>
          <p:spPr>
            <a:xfrm>
              <a:off x="14142246" y="3116580"/>
              <a:ext cx="13763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become similar</a:t>
              </a:r>
            </a:p>
          </p:txBody>
        </p:sp>
        <p:sp>
          <p:nvSpPr>
            <p:cNvPr id="448" name="TextBox 448"/>
            <p:cNvSpPr txBox="1"/>
            <p:nvPr/>
          </p:nvSpPr>
          <p:spPr>
            <a:xfrm>
              <a:off x="13934989" y="4182428"/>
              <a:ext cx="4383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Loop 1</a:t>
              </a:r>
            </a:p>
          </p:txBody>
        </p:sp>
        <p:sp>
          <p:nvSpPr>
            <p:cNvPr id="449" name="TextBox 449"/>
            <p:cNvSpPr txBox="1"/>
            <p:nvPr/>
          </p:nvSpPr>
          <p:spPr>
            <a:xfrm>
              <a:off x="15192962" y="4182428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Loop 2</a:t>
              </a:r>
            </a:p>
          </p:txBody>
        </p:sp>
        <p:sp>
          <p:nvSpPr>
            <p:cNvPr id="450" name="TextBox 450"/>
            <p:cNvSpPr txBox="1"/>
            <p:nvPr/>
          </p:nvSpPr>
          <p:spPr>
            <a:xfrm>
              <a:off x="11135897" y="4599146"/>
              <a:ext cx="192170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Diversity Increases</a:t>
              </a:r>
            </a:p>
          </p:txBody>
        </p:sp>
        <p:sp>
          <p:nvSpPr>
            <p:cNvPr id="451" name="TextBox 451"/>
            <p:cNvSpPr txBox="1"/>
            <p:nvPr/>
          </p:nvSpPr>
          <p:spPr>
            <a:xfrm>
              <a:off x="13899501" y="4599146"/>
              <a:ext cx="186184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Diversity Decrease</a:t>
              </a:r>
            </a:p>
          </p:txBody>
        </p:sp>
        <p:sp>
          <p:nvSpPr>
            <p:cNvPr id="452" name="TextBox 452"/>
            <p:cNvSpPr txBox="1"/>
            <p:nvPr/>
          </p:nvSpPr>
          <p:spPr>
            <a:xfrm>
              <a:off x="11285541" y="6285071"/>
              <a:ext cx="162241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Many Tokens are</a:t>
              </a:r>
            </a:p>
          </p:txBody>
        </p:sp>
        <p:sp>
          <p:nvSpPr>
            <p:cNvPr id="453" name="TextBox 453"/>
            <p:cNvSpPr txBox="1"/>
            <p:nvPr/>
          </p:nvSpPr>
          <p:spPr>
            <a:xfrm>
              <a:off x="11719508" y="6511290"/>
              <a:ext cx="7544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Refined</a:t>
              </a:r>
            </a:p>
          </p:txBody>
        </p:sp>
        <p:sp>
          <p:nvSpPr>
            <p:cNvPr id="454" name="TextBox 454"/>
            <p:cNvSpPr txBox="1"/>
            <p:nvPr/>
          </p:nvSpPr>
          <p:spPr>
            <a:xfrm>
              <a:off x="11159490" y="7230428"/>
              <a:ext cx="5559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Refined</a:t>
              </a:r>
            </a:p>
          </p:txBody>
        </p:sp>
        <p:sp>
          <p:nvSpPr>
            <p:cNvPr id="455" name="TextBox 455"/>
            <p:cNvSpPr txBox="1"/>
            <p:nvPr/>
          </p:nvSpPr>
          <p:spPr>
            <a:xfrm>
              <a:off x="12350115" y="7230428"/>
              <a:ext cx="842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Not Refined</a:t>
              </a:r>
            </a:p>
          </p:txBody>
        </p:sp>
        <p:sp>
          <p:nvSpPr>
            <p:cNvPr id="456" name="TextBox 456"/>
            <p:cNvSpPr txBox="1"/>
            <p:nvPr/>
          </p:nvSpPr>
          <p:spPr>
            <a:xfrm>
              <a:off x="13744869" y="6285071"/>
              <a:ext cx="217111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Only Few Tokens Bring</a:t>
              </a:r>
            </a:p>
          </p:txBody>
        </p:sp>
        <p:sp>
          <p:nvSpPr>
            <p:cNvPr id="457" name="TextBox 457"/>
            <p:cNvSpPr txBox="1"/>
            <p:nvPr/>
          </p:nvSpPr>
          <p:spPr>
            <a:xfrm>
              <a:off x="13979311" y="6511290"/>
              <a:ext cx="170222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Additional Change</a:t>
              </a:r>
            </a:p>
          </p:txBody>
        </p:sp>
        <p:sp>
          <p:nvSpPr>
            <p:cNvPr id="458" name="TextBox 458"/>
            <p:cNvSpPr txBox="1"/>
            <p:nvPr/>
          </p:nvSpPr>
          <p:spPr>
            <a:xfrm>
              <a:off x="13950315" y="7230428"/>
              <a:ext cx="5559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Refined</a:t>
              </a:r>
            </a:p>
          </p:txBody>
        </p:sp>
        <p:sp>
          <p:nvSpPr>
            <p:cNvPr id="459" name="TextBox 459"/>
            <p:cNvSpPr txBox="1"/>
            <p:nvPr/>
          </p:nvSpPr>
          <p:spPr>
            <a:xfrm>
              <a:off x="15140940" y="7230428"/>
              <a:ext cx="842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Not Refined</a:t>
              </a:r>
            </a:p>
          </p:txBody>
        </p:sp>
      </p:grp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61" name="Editable Equation latency-propto"/>
              <p:cNvSpPr txBox="1"/>
              <p:nvPr/>
            </p:nvSpPr>
            <p:spPr>
              <a:xfrm>
                <a:off x="4038600" y="1905000"/>
                <a:ext cx="4191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75"/>
                </a:pPr>
                <a:r>
                  <a:rPr lang="en-US" sz="1575" dirty="0" smtClean="0">
                    <a:solidFill>
                      <a:srgbClr val="A92323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575" dirty="0" smtClean="0">
                          <a:solidFill>
                            <a:srgbClr val="A92323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∝r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61" name="Editable Equation latency-propto Fallback"/>
              <p:cNvSpPr txBox="1"/>
              <p:nvPr/>
            </p:nvSpPr>
            <p:spPr>
              <a:xfrm>
                <a:off x="4038600" y="1905000"/>
                <a:ext cx="4191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75"/>
                </a:pPr>
                <a:r>
                  <a:rPr lang="en-US" sz="1575" dirty="0" smtClean="0">
                    <a:solidFill>
                      <a:srgbClr val="A92323"/>
                    </a:solidFill>
                    <a:latin typeface="Cambria Math"/>
                    <a:ea typeface="Cambria Math"/>
                    <a:cs typeface="Cambria Math"/>
                  </a:rPr>
                  <a:t>\propto r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62" name="Editable Equation memory-propto"/>
              <p:cNvSpPr txBox="1"/>
              <p:nvPr/>
            </p:nvSpPr>
            <p:spPr>
              <a:xfrm>
                <a:off x="4038600" y="3314700"/>
                <a:ext cx="4191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75"/>
                </a:pPr>
                <a:r>
                  <a:rPr lang="en-US" sz="1575" dirty="0" smtClean="0">
                    <a:solidFill>
                      <a:srgbClr val="A92323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575" dirty="0" smtClean="0">
                          <a:solidFill>
                            <a:srgbClr val="A92323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∝r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62" name="Editable Equation memory-propto Fallback"/>
              <p:cNvSpPr txBox="1"/>
              <p:nvPr/>
            </p:nvSpPr>
            <p:spPr>
              <a:xfrm>
                <a:off x="4038600" y="3314700"/>
                <a:ext cx="4191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75"/>
                </a:pPr>
                <a:r>
                  <a:rPr lang="en-US" sz="1575" dirty="0" smtClean="0">
                    <a:solidFill>
                      <a:srgbClr val="A92323"/>
                    </a:solidFill>
                    <a:latin typeface="Cambria Math"/>
                    <a:ea typeface="Cambria Math"/>
                    <a:cs typeface="Cambria Math"/>
                  </a:rPr>
                  <a:t>\propto r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63" name="Editable Equation optimal-r"/>
              <p:cNvSpPr txBox="1"/>
              <p:nvPr/>
            </p:nvSpPr>
            <p:spPr>
              <a:xfrm>
                <a:off x="6276975" y="3505200"/>
                <a:ext cx="4762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275"/>
                </a:pPr>
                <a:r>
                  <a:rPr lang="en-US" sz="1275" dirty="0" smtClean="0">
                    <a:solidFill>
                      <a:srgbClr val="285489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275" dirty="0" smtClean="0">
                          <a:solidFill>
                            <a:srgbClr val="28548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r=2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63" name="Editable Equation optimal-r Fallback"/>
              <p:cNvSpPr txBox="1"/>
              <p:nvPr/>
            </p:nvSpPr>
            <p:spPr>
              <a:xfrm>
                <a:off x="6276975" y="3505200"/>
                <a:ext cx="4762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275"/>
                </a:pPr>
                <a:r>
                  <a:rPr lang="en-US" sz="1275" dirty="0" smtClean="0">
                    <a:solidFill>
                      <a:srgbClr val="285489"/>
                    </a:solidFill>
                    <a:latin typeface="Cambria Math"/>
                    <a:ea typeface="Cambria Math"/>
                    <a:cs typeface="Cambria Math"/>
                  </a:rPr>
                  <a:t>r=2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64" name="Editable Equation gain-cost-left"/>
              <p:cNvSpPr txBox="1"/>
              <p:nvPr/>
            </p:nvSpPr>
            <p:spPr>
              <a:xfrm>
                <a:off x="5286375" y="3648075"/>
                <a:ext cx="10668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47731F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m:rPr>
                          <m:sty m:val="p"/>
                        </m:rPr>
                        <a:rPr lang="en-US" sz="1350" dirty="0" smtClean="0">
                          <a:solidFill>
                            <a:srgbClr val="47731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Gain</m:t>
                      </m:r>
                      <m:r>
                        <a:rPr lang="en-US" sz="1350" dirty="0" smtClean="0">
                          <a:solidFill>
                            <a:srgbClr val="47731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US" sz="1350" dirty="0" smtClean="0">
                          <a:solidFill>
                            <a:srgbClr val="47731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Cost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64" name="Editable Equation gain-cost-left Fallback"/>
              <p:cNvSpPr txBox="1"/>
              <p:nvPr/>
            </p:nvSpPr>
            <p:spPr>
              <a:xfrm>
                <a:off x="5286375" y="3648075"/>
                <a:ext cx="10668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47731F"/>
                    </a:solidFill>
                    <a:latin typeface="Cambria Math"/>
                    <a:ea typeface="Cambria Math"/>
                    <a:cs typeface="Cambria Math"/>
                  </a:rPr>
                  <a:t>\mathrm{Gain} &gt; \mathrm{Cost}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65" name="Editable Equation gain-cost-right"/>
              <p:cNvSpPr txBox="1"/>
              <p:nvPr/>
            </p:nvSpPr>
            <p:spPr>
              <a:xfrm>
                <a:off x="7191375" y="3648075"/>
                <a:ext cx="10668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B4111F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m:rPr>
                          <m:sty m:val="p"/>
                        </m:rPr>
                        <a:rPr lang="en-US" sz="1350" dirty="0" smtClean="0">
                          <a:solidFill>
                            <a:srgbClr val="B4111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Gain</m:t>
                      </m:r>
                      <m:r>
                        <a:rPr lang="en-US" sz="1350" dirty="0" smtClean="0">
                          <a:solidFill>
                            <a:srgbClr val="B4111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US" sz="1350" dirty="0" smtClean="0">
                          <a:solidFill>
                            <a:srgbClr val="B4111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Cost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65" name="Editable Equation gain-cost-right Fallback"/>
              <p:cNvSpPr txBox="1"/>
              <p:nvPr/>
            </p:nvSpPr>
            <p:spPr>
              <a:xfrm>
                <a:off x="7191375" y="3648075"/>
                <a:ext cx="10668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350"/>
                </a:pPr>
                <a:r>
                  <a:rPr lang="en-US" sz="1350" dirty="0" smtClean="0">
                    <a:solidFill>
                      <a:srgbClr val="B4111F"/>
                    </a:solidFill>
                    <a:latin typeface="Cambria Math"/>
                    <a:ea typeface="Cambria Math"/>
                    <a:cs typeface="Cambria Math"/>
                  </a:rPr>
                  <a:t>\mathrm{Gain} &lt; \mathrm{Cost}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66" name="Editable Equation heatmap-neq"/>
              <p:cNvSpPr txBox="1"/>
              <p:nvPr/>
            </p:nvSpPr>
            <p:spPr>
              <a:xfrm>
                <a:off x="11887200" y="3438525"/>
                <a:ext cx="51435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025"/>
                </a:pPr>
                <a:r>
                  <a:rPr lang="en-US" sz="20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2025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≠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66" name="Editable Equation heatmap-neq Fallback"/>
              <p:cNvSpPr txBox="1"/>
              <p:nvPr/>
            </p:nvSpPr>
            <p:spPr>
              <a:xfrm>
                <a:off x="11887200" y="3438525"/>
                <a:ext cx="51435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025"/>
                </a:pPr>
                <a:r>
                  <a:rPr lang="en-US" sz="20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\neq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467" name="Editable Equation heatmap-approx"/>
              <p:cNvSpPr txBox="1"/>
              <p:nvPr/>
            </p:nvSpPr>
            <p:spPr>
              <a:xfrm>
                <a:off x="14620875" y="3438525"/>
                <a:ext cx="51435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025"/>
                </a:pPr>
                <a:r>
                  <a:rPr lang="en-US" sz="20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2025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67" name="Editable Equation heatmap-approx Fallback"/>
              <p:cNvSpPr txBox="1"/>
              <p:nvPr/>
            </p:nvSpPr>
            <p:spPr>
              <a:xfrm>
                <a:off x="14620875" y="3438525"/>
                <a:ext cx="51435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025"/>
                </a:pPr>
                <a:r>
                  <a:rPr lang="en-US" sz="20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\approx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