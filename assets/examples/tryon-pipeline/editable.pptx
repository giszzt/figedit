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3945850" cy="12077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64044d2de5c1bc5.png"/>
  <Relationship Id="rId3" Type="http://schemas.openxmlformats.org/officeDocument/2006/relationships/image" Target="../media/image_b27798e569876a1c.png"/>
  <Relationship Id="rId4" Type="http://schemas.openxmlformats.org/officeDocument/2006/relationships/image" Target="../media/image_beda3e0abb82961f.png"/>
  <Relationship Id="rId5" Type="http://schemas.openxmlformats.org/officeDocument/2006/relationships/image" Target="../media/image_06531ca7195f6c48.png"/>
  <Relationship Id="rId6" Type="http://schemas.openxmlformats.org/officeDocument/2006/relationships/image" Target="../media/image_06ef7d0ae99e4542.png"/>
  <Relationship Id="rId7" Type="http://schemas.openxmlformats.org/officeDocument/2006/relationships/image" Target="../media/image_24d85f8387255661.png"/>
  <Relationship Id="rId8" Type="http://schemas.openxmlformats.org/officeDocument/2006/relationships/image" Target="../media/image_938a3f3dc50d5319.png"/>
  <Relationship Id="rId9" Type="http://schemas.openxmlformats.org/officeDocument/2006/relationships/image" Target="../media/image_35420c6ee3794c40.png"/>
  <Relationship Id="rId10" Type="http://schemas.openxmlformats.org/officeDocument/2006/relationships/image" Target="../media/image_2f6bc7027677a125.png"/>
  <Relationship Id="rId11" Type="http://schemas.openxmlformats.org/officeDocument/2006/relationships/image" Target="../media/image_9add357c6c0348ac.png"/>
  <Relationship Id="rId12" Type="http://schemas.openxmlformats.org/officeDocument/2006/relationships/image" Target="../media/image_8d5ccb05ab6bb45b.png"/>
  <Relationship Id="rId13" Type="http://schemas.openxmlformats.org/officeDocument/2006/relationships/image" Target="../media/image_b2c16c116a123ba2.png"/>
  <Relationship Id="rId14" Type="http://schemas.openxmlformats.org/officeDocument/2006/relationships/image" Target="../media/image_61e0fdc1765705dc.png"/>
  <Relationship Id="rId15" Type="http://schemas.openxmlformats.org/officeDocument/2006/relationships/image" Target="../media/image_ad242a393f24acc2.png"/>
  <Relationship Id="rId16" Type="http://schemas.openxmlformats.org/officeDocument/2006/relationships/image" Target="../media/image_c3c1ab1a128f2738.png"/>
  <Relationship Id="rId17" Type="http://schemas.openxmlformats.org/officeDocument/2006/relationships/image" Target="../media/image_577903a0546b8944.png"/>
  <Relationship Id="rId18" Type="http://schemas.openxmlformats.org/officeDocument/2006/relationships/image" Target="../media/image_43f5099136f095ec.png"/>
  <Relationship Id="rId19" Type="http://schemas.openxmlformats.org/officeDocument/2006/relationships/image" Target="../media/image_9d0ee46cb4791128.png"/>
  <Relationship Id="rId20" Type="http://schemas.openxmlformats.org/officeDocument/2006/relationships/image" Target="../media/image_9415eab16727af74.png"/>
  <Relationship Id="rId21" Type="http://schemas.openxmlformats.org/officeDocument/2006/relationships/image" Target="../media/image_21b06751016afb13.png"/>
  <Relationship Id="rId22" Type="http://schemas.openxmlformats.org/officeDocument/2006/relationships/image" Target="../media/image_c70e014af597aea2.png"/>
  <Relationship Id="rId23" Type="http://schemas.openxmlformats.org/officeDocument/2006/relationships/image" Target="../media/image_ebcfd5f08b39efc2.png"/>
  <Relationship Id="rId24" Type="http://schemas.openxmlformats.org/officeDocument/2006/relationships/image" Target="../media/image_3d9af9a5a3682430.png"/>
  <Relationship Id="rId25" Type="http://schemas.openxmlformats.org/officeDocument/2006/relationships/image" Target="../media/image_f416e8a4299ae6be.png"/>
  <Relationship Id="rId26" Type="http://schemas.openxmlformats.org/officeDocument/2006/relationships/image" Target="../media/image_55962b98fe4794ff.png"/>
  <Relationship Id="rId27" Type="http://schemas.openxmlformats.org/officeDocument/2006/relationships/image" Target="../media/image_4acb9e0d795a5f7d.png"/>
  <Relationship Id="rId28" Type="http://schemas.openxmlformats.org/officeDocument/2006/relationships/image" Target="../media/image_492ce13927cfd9cd.png"/>
  <Relationship Id="rId29" Type="http://schemas.openxmlformats.org/officeDocument/2006/relationships/image" Target="../media/image_4acfd7a514648a4c.png"/>
  <Relationship Id="rId30" Type="http://schemas.openxmlformats.org/officeDocument/2006/relationships/image" Target="../media/image_e4cada3ffed90f4f.png"/>
  <Relationship Id="rId31" Type="http://schemas.openxmlformats.org/officeDocument/2006/relationships/image" Target="../media/image_4648bccf1f0b9992.png"/>
  <Relationship Id="rId32" Type="http://schemas.openxmlformats.org/officeDocument/2006/relationships/image" Target="../media/image_d5040f2db28547cb.png"/>
  <Relationship Id="rId33" Type="http://schemas.openxmlformats.org/officeDocument/2006/relationships/image" Target="../media/image_609a882023645263.png"/>
  <Relationship Id="rId34" Type="http://schemas.openxmlformats.org/officeDocument/2006/relationships/image" Target="../media/image_dd16152317dbe32a.png"/>
  <Relationship Id="rId35" Type="http://schemas.openxmlformats.org/officeDocument/2006/relationships/image" Target="../media/image_60c5e92783fa2dff.png"/>
  <Relationship Id="rId36" Type="http://schemas.openxmlformats.org/officeDocument/2006/relationships/image" Target="../media/image_545ecd5c7b20f986.png"/>
  <Relationship Id="rId37" Type="http://schemas.openxmlformats.org/officeDocument/2006/relationships/image" Target="../media/image_2f96f9c88188cd26.png"/>
  <Relationship Id="rId38" Type="http://schemas.openxmlformats.org/officeDocument/2006/relationships/image" Target="../media/image_2d427e221ff5b9ef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23945850" cy="1207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447675" y="1562100"/>
            <a:ext cx="21536025" cy="9944100"/>
            <a:chOff x="447675" y="1562100"/>
            <a:chExt cx="21536025" cy="9944100"/>
          </a:xfrm>
        </p:grpSpPr>
        <p:sp>
          <p:nvSpPr>
            <p:cNvPr id="3" name="Rectangle 3"/>
            <p:cNvSpPr/>
            <p:nvPr/>
          </p:nvSpPr>
          <p:spPr>
            <a:xfrm>
              <a:off x="447675" y="1562100"/>
              <a:ext cx="2781300" cy="2505075"/>
            </a:xfrm>
            <a:prstGeom prst="roundRect">
              <a:avLst>
                <a:gd name="adj" fmla="val 22053"/>
              </a:avLst>
            </a:prstGeom>
            <a:solidFill>
              <a:srgbClr val="E5EAE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3781425" y="1562100"/>
              <a:ext cx="2790825" cy="2505075"/>
            </a:xfrm>
            <a:prstGeom prst="roundRect">
              <a:avLst>
                <a:gd name="adj" fmla="val 22053"/>
              </a:avLst>
            </a:prstGeom>
            <a:solidFill>
              <a:srgbClr val="E5EAEE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447675" y="4543425"/>
              <a:ext cx="6124575" cy="5095875"/>
            </a:xfrm>
            <a:prstGeom prst="roundRect">
              <a:avLst>
                <a:gd name="adj" fmla="val 9346"/>
              </a:avLst>
            </a:prstGeom>
            <a:solidFill>
              <a:srgbClr val="F0F0F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543800" y="1695450"/>
              <a:ext cx="8763000" cy="5019675"/>
            </a:xfrm>
            <a:prstGeom prst="roundRect">
              <a:avLst>
                <a:gd name="adj" fmla="val 3416"/>
              </a:avLst>
            </a:prstGeom>
            <a:solidFill>
              <a:srgbClr val="F0F0F0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543800" y="1695450"/>
              <a:ext cx="8763000" cy="990600"/>
            </a:xfrm>
            <a:prstGeom prst="roundRect">
              <a:avLst>
                <a:gd name="adj" fmla="val 17308"/>
              </a:avLst>
            </a:prstGeom>
            <a:solidFill>
              <a:srgbClr val="D7D7D7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0" y="2781300"/>
              <a:ext cx="6867525" cy="1400175"/>
            </a:xfrm>
            <a:prstGeom prst="roundRect">
              <a:avLst>
                <a:gd name="adj" fmla="val 5442"/>
              </a:avLst>
            </a:prstGeom>
            <a:solidFill>
              <a:srgbClr val="FFF7ED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62875" y="4810125"/>
              <a:ext cx="3162300" cy="1885950"/>
            </a:xfrm>
            <a:prstGeom prst="roundRect">
              <a:avLst>
                <a:gd name="adj" fmla="val 9091"/>
              </a:avLst>
            </a:prstGeom>
            <a:solidFill>
              <a:srgbClr val="E0EE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3068300" y="4810125"/>
              <a:ext cx="2952750" cy="1885950"/>
            </a:xfrm>
            <a:prstGeom prst="roundRect">
              <a:avLst>
                <a:gd name="adj" fmla="val 9091"/>
              </a:avLst>
            </a:prstGeom>
            <a:solidFill>
              <a:srgbClr val="E4F4E4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43800" y="7143750"/>
              <a:ext cx="4114800" cy="4362450"/>
            </a:xfrm>
            <a:prstGeom prst="roundRect">
              <a:avLst>
                <a:gd name="adj" fmla="val 5093"/>
              </a:avLst>
            </a:prstGeom>
            <a:solidFill>
              <a:srgbClr val="F3F3F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543800" y="7143750"/>
              <a:ext cx="4114800" cy="990600"/>
            </a:xfrm>
            <a:prstGeom prst="roundRect">
              <a:avLst>
                <a:gd name="adj" fmla="val 19231"/>
              </a:avLst>
            </a:prstGeom>
            <a:solidFill>
              <a:srgbClr val="D7D7D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2258675" y="7143750"/>
              <a:ext cx="4048125" cy="4362450"/>
            </a:xfrm>
            <a:prstGeom prst="roundRect">
              <a:avLst>
                <a:gd name="adj" fmla="val 5176"/>
              </a:avLst>
            </a:prstGeom>
            <a:solidFill>
              <a:srgbClr val="F3F3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2258675" y="7143750"/>
              <a:ext cx="4048125" cy="990600"/>
            </a:xfrm>
            <a:prstGeom prst="roundRect">
              <a:avLst>
                <a:gd name="adj" fmla="val 19231"/>
              </a:avLst>
            </a:prstGeom>
            <a:solidFill>
              <a:srgbClr val="D7D7D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8888075" y="6267450"/>
              <a:ext cx="3019425" cy="466725"/>
            </a:xfrm>
            <a:prstGeom prst="roundRect">
              <a:avLst>
                <a:gd name="adj" fmla="val 16327"/>
              </a:avLst>
            </a:prstGeom>
            <a:solidFill>
              <a:srgbClr val="F4F4F4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888075" y="6838950"/>
              <a:ext cx="3019425" cy="466725"/>
            </a:xfrm>
            <a:prstGeom prst="roundRect">
              <a:avLst>
                <a:gd name="adj" fmla="val 16327"/>
              </a:avLst>
            </a:prstGeom>
            <a:solidFill>
              <a:srgbClr val="F4F4F4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8888075" y="7410450"/>
              <a:ext cx="3019425" cy="466725"/>
            </a:xfrm>
            <a:prstGeom prst="roundRect">
              <a:avLst>
                <a:gd name="adj" fmla="val 16327"/>
              </a:avLst>
            </a:prstGeom>
            <a:solidFill>
              <a:srgbClr val="F4F4F4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088100" y="8334375"/>
              <a:ext cx="2895600" cy="2181225"/>
            </a:xfrm>
            <a:prstGeom prst="roundRect">
              <a:avLst>
                <a:gd name="adj" fmla="val 14847"/>
              </a:avLst>
            </a:prstGeom>
            <a:solidFill>
              <a:srgbClr val="E4F2FA"/>
            </a:solidFill>
            <a:ln w="28575">
              <a:solidFill>
                <a:srgbClr val="11111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8954750" y="8467725"/>
              <a:ext cx="2895600" cy="2181225"/>
            </a:xfrm>
            <a:prstGeom prst="roundRect">
              <a:avLst>
                <a:gd name="adj" fmla="val 14847"/>
              </a:avLst>
            </a:prstGeom>
            <a:solidFill>
              <a:srgbClr val="E4F2FA"/>
            </a:solidFill>
            <a:ln w="28575">
              <a:solidFill>
                <a:srgbClr val="11111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8821400" y="8601075"/>
              <a:ext cx="2895600" cy="2181225"/>
            </a:xfrm>
            <a:prstGeom prst="roundRect">
              <a:avLst>
                <a:gd name="adj" fmla="val 14847"/>
              </a:avLst>
            </a:prstGeom>
            <a:solidFill>
              <a:srgbClr val="E4F2FA"/>
            </a:solidFill>
            <a:ln w="28575">
              <a:solidFill>
                <a:srgbClr val="111111"/>
              </a:solidFill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552450" y="1676400"/>
            <a:ext cx="23012400" cy="9839325"/>
            <a:chOff x="552450" y="1676400"/>
            <a:chExt cx="23012400" cy="9839325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2475" y="1676400"/>
              <a:ext cx="1981200" cy="1571625"/>
            </a:xfrm>
            <a:prstGeom prst="rect">
              <a:avLst/>
            </a:prstGeom>
          </p:spPr>
        </p:pic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05300" y="1885950"/>
              <a:ext cx="1743075" cy="1343025"/>
            </a:xfrm>
            <a:prstGeom prst="rect">
              <a:avLst/>
            </a:prstGeom>
          </p:spPr>
        </p:pic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2450" y="5314950"/>
              <a:ext cx="1981200" cy="3190875"/>
            </a:xfrm>
            <a:prstGeom prst="rect">
              <a:avLst/>
            </a:prstGeom>
          </p:spPr>
        </p:pic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7250" y="5334000"/>
              <a:ext cx="1800225" cy="3524250"/>
            </a:xfrm>
            <a:prstGeom prst="rect">
              <a:avLst/>
            </a:prstGeom>
          </p:spPr>
        </p:pic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38475" y="5248275"/>
              <a:ext cx="1133475" cy="1038225"/>
            </a:xfrm>
            <a:prstGeom prst="rect">
              <a:avLst/>
            </a:prstGeom>
          </p:spPr>
        </p:pic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05125" y="10020300"/>
              <a:ext cx="1657350" cy="1495425"/>
            </a:xfrm>
            <a:prstGeom prst="rect">
              <a:avLst/>
            </a:prstGeom>
          </p:spPr>
        </p:pic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44050" y="2952750"/>
              <a:ext cx="609600" cy="552450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496425" y="3571875"/>
              <a:ext cx="666750" cy="657225"/>
            </a:xfrm>
            <a:prstGeom prst="rect">
              <a:avLst/>
            </a:prstGeom>
          </p:spPr>
        </p:pic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677775" y="3019425"/>
              <a:ext cx="1009650" cy="514350"/>
            </a:xfrm>
            <a:prstGeom prst="rect">
              <a:avLst/>
            </a:prstGeom>
          </p:spPr>
        </p:pic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962900" y="4933950"/>
              <a:ext cx="409575" cy="685800"/>
            </a:xfrm>
            <a:prstGeom prst="rect">
              <a:avLst/>
            </a:prstGeom>
          </p:spPr>
        </p:pic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53375" y="5819775"/>
              <a:ext cx="428625" cy="542925"/>
            </a:xfrm>
            <a:prstGeom prst="rect">
              <a:avLst/>
            </a:prstGeom>
          </p:spPr>
        </p:pic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220450" y="4810125"/>
              <a:ext cx="628650" cy="628650"/>
            </a:xfrm>
            <a:prstGeom prst="rect">
              <a:avLst/>
            </a:prstGeom>
          </p:spPr>
        </p:pic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096625" y="5857875"/>
              <a:ext cx="752475" cy="704850"/>
            </a:xfrm>
            <a:prstGeom prst="rect">
              <a:avLst/>
            </a:prstGeom>
          </p:spPr>
        </p:pic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3201650" y="4895850"/>
              <a:ext cx="676275" cy="666750"/>
            </a:xfrm>
            <a:prstGeom prst="rect">
              <a:avLst/>
            </a:prstGeom>
          </p:spPr>
        </p:pic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125450" y="5800725"/>
              <a:ext cx="962025" cy="581025"/>
            </a:xfrm>
            <a:prstGeom prst="rect">
              <a:avLst/>
            </a:prstGeom>
          </p:spPr>
        </p:pic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715250" y="8648700"/>
              <a:ext cx="847725" cy="600075"/>
            </a:xfrm>
            <a:prstGeom prst="rect">
              <a:avLst/>
            </a:prstGeom>
          </p:spPr>
        </p:pic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715250" y="9401175"/>
              <a:ext cx="895350" cy="819150"/>
            </a:xfrm>
            <a:prstGeom prst="rect">
              <a:avLst/>
            </a:prstGeom>
          </p:spPr>
        </p:pic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715250" y="10448925"/>
              <a:ext cx="723900" cy="685800"/>
            </a:xfrm>
            <a:prstGeom prst="rect">
              <a:avLst/>
            </a:prstGeom>
          </p:spPr>
        </p:pic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734550" y="9515475"/>
              <a:ext cx="809625" cy="1552575"/>
            </a:xfrm>
            <a:prstGeom prst="rect">
              <a:avLst/>
            </a:prstGeom>
          </p:spPr>
        </p:pic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544175" y="9267825"/>
              <a:ext cx="552450" cy="1781175"/>
            </a:xfrm>
            <a:prstGeom prst="rect">
              <a:avLst/>
            </a:prstGeom>
          </p:spPr>
        </p:pic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468225" y="8582025"/>
              <a:ext cx="1200150" cy="1076325"/>
            </a:xfrm>
            <a:prstGeom prst="rect">
              <a:avLst/>
            </a:prstGeom>
          </p:spPr>
        </p:pic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4611350" y="8524875"/>
              <a:ext cx="1257300" cy="971550"/>
            </a:xfrm>
            <a:prstGeom prst="rect">
              <a:avLst/>
            </a:prstGeom>
          </p:spPr>
        </p:pic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2468225" y="10077450"/>
              <a:ext cx="1200150" cy="1066800"/>
            </a:xfrm>
            <a:prstGeom prst="rect">
              <a:avLst/>
            </a:prstGeom>
          </p:spPr>
        </p:pic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4735175" y="10020300"/>
              <a:ext cx="1104900" cy="1133475"/>
            </a:xfrm>
            <a:prstGeom prst="rect">
              <a:avLst/>
            </a:prstGeom>
          </p:spPr>
        </p:pic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7411700" y="1809750"/>
              <a:ext cx="2143125" cy="1495425"/>
            </a:xfrm>
            <a:prstGeom prst="rect">
              <a:avLst/>
            </a:prstGeom>
          </p:spPr>
        </p:pic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1307425" y="1809750"/>
              <a:ext cx="2105025" cy="1495425"/>
            </a:xfrm>
            <a:prstGeom prst="rect">
              <a:avLst/>
            </a:prstGeom>
          </p:spPr>
        </p:pic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9640550" y="1724025"/>
              <a:ext cx="1466850" cy="1781175"/>
            </a:xfrm>
            <a:prstGeom prst="rect">
              <a:avLst/>
            </a:prstGeom>
          </p:spPr>
        </p:pic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7440275" y="4200525"/>
              <a:ext cx="923925" cy="1181100"/>
            </a:xfrm>
            <a:prstGeom prst="rect">
              <a:avLst/>
            </a:prstGeom>
          </p:spPr>
        </p:pic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8497550" y="4210050"/>
              <a:ext cx="866775" cy="1171575"/>
            </a:xfrm>
            <a:prstGeom prst="rect">
              <a:avLst/>
            </a:prstGeom>
          </p:spPr>
        </p:pic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9516725" y="4200525"/>
              <a:ext cx="942975" cy="1181100"/>
            </a:xfrm>
            <a:prstGeom prst="rect">
              <a:avLst/>
            </a:prstGeom>
          </p:spPr>
        </p:pic>
        <p:pic>
          <p:nvPicPr>
            <p:cNvPr id="52" name="Image 52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20574000" y="4200525"/>
              <a:ext cx="876300" cy="1181100"/>
            </a:xfrm>
            <a:prstGeom prst="rect">
              <a:avLst/>
            </a:prstGeom>
          </p:spPr>
        </p:pic>
        <p:pic>
          <p:nvPicPr>
            <p:cNvPr id="53" name="Image 53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21621750" y="4200525"/>
              <a:ext cx="866775" cy="1181100"/>
            </a:xfrm>
            <a:prstGeom prst="rect">
              <a:avLst/>
            </a:prstGeom>
          </p:spPr>
        </p:pic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22698075" y="4200525"/>
              <a:ext cx="866775" cy="1181100"/>
            </a:xfrm>
            <a:prstGeom prst="rect">
              <a:avLst/>
            </a:prstGeom>
          </p:spPr>
        </p:pic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7449800" y="6248400"/>
              <a:ext cx="1285875" cy="1657350"/>
            </a:xfrm>
            <a:prstGeom prst="rect">
              <a:avLst/>
            </a:prstGeom>
          </p:spPr>
        </p:pic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21955125" y="6248400"/>
              <a:ext cx="1276350" cy="1657350"/>
            </a:xfrm>
            <a:prstGeom prst="rect">
              <a:avLst/>
            </a:prstGeom>
          </p:spPr>
        </p:pic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9135725" y="8810625"/>
              <a:ext cx="638175" cy="1704975"/>
            </a:xfrm>
            <a:prstGeom prst="rect">
              <a:avLst/>
            </a:prstGeom>
          </p:spPr>
        </p:pic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20383500" y="8772525"/>
              <a:ext cx="1162050" cy="1724025"/>
            </a:xfrm>
            <a:prstGeom prst="rect">
              <a:avLst/>
            </a:prstGeom>
          </p:spPr>
        </p:pic>
      </p:grpSp>
      <p:grpSp>
        <p:nvGrpSpPr>
          <p:cNvPr id="63" name="Group 63"/>
          <p:cNvGrpSpPr/>
          <p:nvPr/>
        </p:nvGrpSpPr>
        <p:grpSpPr>
          <a:xfrm>
            <a:off x="171450" y="152400"/>
            <a:ext cx="23593425" cy="11782425"/>
            <a:chOff x="171450" y="152400"/>
            <a:chExt cx="23593425" cy="11782425"/>
          </a:xfrm>
        </p:grpSpPr>
        <p:sp>
          <p:nvSpPr>
            <p:cNvPr id="60" name="Rectangle 60"/>
            <p:cNvSpPr/>
            <p:nvPr/>
          </p:nvSpPr>
          <p:spPr>
            <a:xfrm>
              <a:off x="171450" y="152400"/>
              <a:ext cx="6667500" cy="11782425"/>
            </a:xfrm>
            <a:prstGeom prst="roundRect">
              <a:avLst>
                <a:gd name="adj" fmla="val 8286"/>
              </a:avLst>
            </a:prstGeom>
            <a:noFill/>
            <a:ln w="38100">
              <a:solidFill>
                <a:srgbClr val="0B536D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19950" y="152400"/>
              <a:ext cx="9486900" cy="11782425"/>
            </a:xfrm>
            <a:prstGeom prst="roundRect">
              <a:avLst>
                <a:gd name="adj" fmla="val 5221"/>
              </a:avLst>
            </a:prstGeom>
            <a:noFill/>
            <a:ln w="38100">
              <a:solidFill>
                <a:srgbClr val="0B536D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7087850" y="152400"/>
              <a:ext cx="6677025" cy="11782425"/>
            </a:xfrm>
            <a:prstGeom prst="roundRect">
              <a:avLst>
                <a:gd name="adj" fmla="val 8274"/>
              </a:avLst>
            </a:prstGeom>
            <a:noFill/>
            <a:ln w="38100">
              <a:solidFill>
                <a:srgbClr val="0B536D"/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2609850" y="4095750"/>
            <a:ext cx="20974050" cy="4981575"/>
            <a:chOff x="2609850" y="4095750"/>
            <a:chExt cx="20974050" cy="4981575"/>
          </a:xfrm>
        </p:grpSpPr>
        <p:sp>
          <p:nvSpPr>
            <p:cNvPr id="64" name="Polygon 64"/>
            <p:cNvSpPr/>
            <p:nvPr/>
          </p:nvSpPr>
          <p:spPr>
            <a:xfrm>
              <a:off x="2609850" y="6781800"/>
              <a:ext cx="2019300" cy="2295525"/>
            </a:xfrm>
            <a:custGeom>
              <a:avLst/>
              <a:gdLst/>
              <a:ahLst/>
              <a:cxnLst/>
              <a:rect l="l" t="t" r="r" b="b"/>
              <a:pathLst>
                <a:path w="2019300" h="2295525">
                  <a:moveTo>
                    <a:pt x="0" y="0"/>
                  </a:moveTo>
                  <a:lnTo>
                    <a:pt x="2019300" y="0"/>
                  </a:lnTo>
                  <a:lnTo>
                    <a:pt x="1390650" y="1857375"/>
                  </a:lnTo>
                  <a:lnTo>
                    <a:pt x="1390650" y="2162175"/>
                  </a:lnTo>
                  <a:lnTo>
                    <a:pt x="1009650" y="2295525"/>
                  </a:lnTo>
                  <a:lnTo>
                    <a:pt x="628650" y="2162175"/>
                  </a:lnTo>
                  <a:lnTo>
                    <a:pt x="628650" y="1857375"/>
                  </a:lnTo>
                  <a:close/>
                </a:path>
              </a:pathLst>
            </a:custGeom>
            <a:solidFill>
              <a:srgbClr val="D7E8F4"/>
            </a:solidFill>
            <a:ln w="38100">
              <a:solidFill>
                <a:srgbClr val="1F3854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7249775" y="4095750"/>
              <a:ext cx="6334125" cy="1857375"/>
            </a:xfrm>
            <a:prstGeom prst="rect">
              <a:avLst/>
            </a:prstGeom>
            <a:noFill/>
            <a:ln w="19050">
              <a:solidFill>
                <a:srgbClr val="2E78A8"/>
              </a:solidFill>
              <a:custDash>
                <a:ds d="300000" sp="200000"/>
              </a:custDash>
            </a:ln>
          </p:spPr>
        </p:sp>
        <p:sp>
          <p:nvSpPr>
            <p:cNvPr id="66" name="Rectangle 66"/>
            <p:cNvSpPr/>
            <p:nvPr/>
          </p:nvSpPr>
          <p:spPr>
            <a:xfrm>
              <a:off x="17402175" y="4162425"/>
              <a:ext cx="1000125" cy="1676400"/>
            </a:xfrm>
            <a:prstGeom prst="rect">
              <a:avLst/>
            </a:prstGeom>
            <a:noFill/>
            <a:ln w="19050">
              <a:solidFill>
                <a:srgbClr val="318C4D"/>
              </a:solidFill>
              <a:custDash>
                <a:ds d="300000" sp="200000"/>
              </a:custDash>
            </a:ln>
          </p:spPr>
        </p:sp>
        <p:sp>
          <p:nvSpPr>
            <p:cNvPr id="67" name="Rectangle 67"/>
            <p:cNvSpPr/>
            <p:nvPr/>
          </p:nvSpPr>
          <p:spPr>
            <a:xfrm>
              <a:off x="19478625" y="4162425"/>
              <a:ext cx="1009650" cy="1676400"/>
            </a:xfrm>
            <a:prstGeom prst="rect">
              <a:avLst/>
            </a:prstGeom>
            <a:noFill/>
            <a:ln w="19050">
              <a:solidFill>
                <a:srgbClr val="318C4D"/>
              </a:solidFill>
              <a:custDash>
                <a:ds d="300000" sp="200000"/>
              </a:custDash>
            </a:ln>
          </p:spPr>
        </p:sp>
      </p:grpSp>
      <p:grpSp>
        <p:nvGrpSpPr>
          <p:cNvPr id="96" name="Group 96"/>
          <p:cNvGrpSpPr/>
          <p:nvPr/>
        </p:nvGrpSpPr>
        <p:grpSpPr>
          <a:xfrm>
            <a:off x="1885950" y="1809750"/>
            <a:ext cx="20669251" cy="8991601"/>
            <a:chOff x="1885950" y="1809750"/>
            <a:chExt cx="20669251" cy="8991601"/>
          </a:xfrm>
        </p:grpSpPr>
        <p:sp>
          <p:nvSpPr>
            <p:cNvPr id="69" name="Freeform 69"/>
            <p:cNvSpPr/>
            <p:nvPr/>
          </p:nvSpPr>
          <p:spPr>
            <a:xfrm>
              <a:off x="1885950" y="4076700"/>
              <a:ext cx="171450" cy="466725"/>
            </a:xfrm>
            <a:custGeom>
              <a:avLst/>
              <a:gdLst/>
              <a:ahLst/>
              <a:cxnLst/>
              <a:rect l="l" t="t" r="r" b="b"/>
              <a:pathLst>
                <a:path w="171450" h="466725">
                  <a:moveTo>
                    <a:pt x="9525" y="0"/>
                  </a:moveTo>
                  <a:cubicBezTo>
                    <a:pt x="0" y="257175"/>
                    <a:pt x="171450" y="285750"/>
                    <a:pt x="171450" y="466725"/>
                  </a:cubicBezTo>
                </a:path>
              </a:pathLst>
            </a:cu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70" name="Freeform 70"/>
            <p:cNvSpPr/>
            <p:nvPr/>
          </p:nvSpPr>
          <p:spPr>
            <a:xfrm>
              <a:off x="4914900" y="4076700"/>
              <a:ext cx="257175" cy="466725"/>
            </a:xfrm>
            <a:custGeom>
              <a:avLst/>
              <a:gdLst/>
              <a:ahLst/>
              <a:cxnLst/>
              <a:rect l="l" t="t" r="r" b="b"/>
              <a:pathLst>
                <a:path w="257175" h="466725">
                  <a:moveTo>
                    <a:pt x="257175" y="0"/>
                  </a:moveTo>
                  <a:cubicBezTo>
                    <a:pt x="257175" y="257175"/>
                    <a:pt x="0" y="285750"/>
                    <a:pt x="0" y="466725"/>
                  </a:cubicBezTo>
                </a:path>
              </a:pathLst>
            </a:cu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71" name="Freeform 71"/>
            <p:cNvSpPr/>
            <p:nvPr/>
          </p:nvSpPr>
          <p:spPr>
            <a:xfrm>
              <a:off x="2590800" y="6276975"/>
              <a:ext cx="628650" cy="495300"/>
            </a:xfrm>
            <a:custGeom>
              <a:avLst/>
              <a:gdLst/>
              <a:ahLst/>
              <a:cxnLst/>
              <a:rect l="l" t="t" r="r" b="b"/>
              <a:pathLst>
                <a:path w="628650" h="495300">
                  <a:moveTo>
                    <a:pt x="0" y="0"/>
                  </a:moveTo>
                  <a:cubicBezTo>
                    <a:pt x="352425" y="9525"/>
                    <a:pt x="542925" y="238125"/>
                    <a:pt x="628650" y="495300"/>
                  </a:cubicBezTo>
                </a:path>
              </a:pathLst>
            </a:cu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72" name="Freeform 72"/>
            <p:cNvSpPr/>
            <p:nvPr/>
          </p:nvSpPr>
          <p:spPr>
            <a:xfrm>
              <a:off x="3990975" y="6276975"/>
              <a:ext cx="638175" cy="495300"/>
            </a:xfrm>
            <a:custGeom>
              <a:avLst/>
              <a:gdLst/>
              <a:ahLst/>
              <a:cxnLst/>
              <a:rect l="l" t="t" r="r" b="b"/>
              <a:pathLst>
                <a:path w="638175" h="495300">
                  <a:moveTo>
                    <a:pt x="638175" y="0"/>
                  </a:moveTo>
                  <a:cubicBezTo>
                    <a:pt x="276225" y="9525"/>
                    <a:pt x="95250" y="238125"/>
                    <a:pt x="0" y="495300"/>
                  </a:cubicBezTo>
                </a:path>
              </a:pathLst>
            </a:cu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73" name="Line 73"/>
            <p:cNvSpPr/>
            <p:nvPr/>
          </p:nvSpPr>
          <p:spPr>
            <a:xfrm>
              <a:off x="3619500" y="9086850"/>
              <a:ext cx="1" cy="819150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74" name="Line 74"/>
            <p:cNvSpPr/>
            <p:nvPr/>
          </p:nvSpPr>
          <p:spPr>
            <a:xfrm>
              <a:off x="9525000" y="35814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19050">
              <a:solidFill>
                <a:srgbClr val="111111"/>
              </a:solidFill>
              <a:custDash>
                <a:ds d="500000" sp="400000"/>
              </a:custDash>
            </a:ln>
          </p:spPr>
        </p:sp>
        <p:sp>
          <p:nvSpPr>
            <p:cNvPr id="75" name="Line 75"/>
            <p:cNvSpPr/>
            <p:nvPr/>
          </p:nvSpPr>
          <p:spPr>
            <a:xfrm>
              <a:off x="12763500" y="35814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rgbClr val="111111"/>
              </a:solidFill>
              <a:custDash>
                <a:ds d="500000" sp="400000"/>
              </a:custDash>
            </a:ln>
          </p:spPr>
        </p:sp>
        <p:sp>
          <p:nvSpPr>
            <p:cNvPr id="76" name="Line 76"/>
            <p:cNvSpPr/>
            <p:nvPr/>
          </p:nvSpPr>
          <p:spPr>
            <a:xfrm>
              <a:off x="8039100" y="5734050"/>
              <a:ext cx="2562225" cy="9525"/>
            </a:xfrm>
            <a:custGeom>
              <a:avLst/>
              <a:gdLst/>
              <a:ahLst/>
              <a:cxnLst/>
              <a:rect l="l" t="t" r="r" b="b"/>
              <a:pathLst>
                <a:path w="2562225" h="9525">
                  <a:moveTo>
                    <a:pt x="0" y="0"/>
                  </a:moveTo>
                  <a:lnTo>
                    <a:pt x="2562225" y="0"/>
                  </a:lnTo>
                </a:path>
              </a:pathLst>
            </a:custGeom>
            <a:noFill/>
            <a:ln w="19050">
              <a:solidFill>
                <a:srgbClr val="111111"/>
              </a:solidFill>
              <a:custDash>
                <a:ds d="500000" sp="400000"/>
              </a:custDash>
            </a:ln>
          </p:spPr>
        </p:sp>
        <p:sp>
          <p:nvSpPr>
            <p:cNvPr id="77" name="Line 77"/>
            <p:cNvSpPr/>
            <p:nvPr/>
          </p:nvSpPr>
          <p:spPr>
            <a:xfrm>
              <a:off x="13144500" y="5734050"/>
              <a:ext cx="2752725" cy="9525"/>
            </a:xfrm>
            <a:custGeom>
              <a:avLst/>
              <a:gdLst/>
              <a:ahLst/>
              <a:cxnLst/>
              <a:rect l="l" t="t" r="r" b="b"/>
              <a:pathLst>
                <a:path w="2752725" h="9525">
                  <a:moveTo>
                    <a:pt x="0" y="0"/>
                  </a:moveTo>
                  <a:lnTo>
                    <a:pt x="2752725" y="0"/>
                  </a:lnTo>
                </a:path>
              </a:pathLst>
            </a:custGeom>
            <a:noFill/>
            <a:ln w="19050">
              <a:solidFill>
                <a:srgbClr val="111111"/>
              </a:solidFill>
              <a:custDash>
                <a:ds d="500000" sp="400000"/>
              </a:custDash>
            </a:ln>
          </p:spPr>
        </p:sp>
        <p:sp>
          <p:nvSpPr>
            <p:cNvPr id="78" name="Line 78"/>
            <p:cNvSpPr/>
            <p:nvPr/>
          </p:nvSpPr>
          <p:spPr>
            <a:xfrm>
              <a:off x="11944350" y="4181475"/>
              <a:ext cx="1" cy="533400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79" name="Line 79"/>
            <p:cNvSpPr/>
            <p:nvPr/>
          </p:nvSpPr>
          <p:spPr>
            <a:xfrm>
              <a:off x="10925175" y="5200650"/>
              <a:ext cx="314325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80" name="Line 80"/>
            <p:cNvSpPr/>
            <p:nvPr/>
          </p:nvSpPr>
          <p:spPr>
            <a:xfrm flipH="1">
              <a:off x="12763500" y="5200650"/>
              <a:ext cx="30480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81" name="Line 81"/>
            <p:cNvSpPr/>
            <p:nvPr/>
          </p:nvSpPr>
          <p:spPr>
            <a:xfrm>
              <a:off x="11944350" y="5476875"/>
              <a:ext cx="1" cy="381000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82" name="Line 82"/>
            <p:cNvSpPr/>
            <p:nvPr/>
          </p:nvSpPr>
          <p:spPr>
            <a:xfrm>
              <a:off x="8143875" y="9258300"/>
              <a:ext cx="1" cy="133350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83" name="Line 83"/>
            <p:cNvSpPr/>
            <p:nvPr/>
          </p:nvSpPr>
          <p:spPr>
            <a:xfrm>
              <a:off x="8143875" y="10229850"/>
              <a:ext cx="1" cy="200025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84" name="Line 84"/>
            <p:cNvSpPr/>
            <p:nvPr/>
          </p:nvSpPr>
          <p:spPr>
            <a:xfrm>
              <a:off x="8467725" y="10801350"/>
              <a:ext cx="866775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85" name="Freeform 85"/>
            <p:cNvSpPr/>
            <p:nvPr/>
          </p:nvSpPr>
          <p:spPr>
            <a:xfrm>
              <a:off x="13592175" y="9020175"/>
              <a:ext cx="1123950" cy="428625"/>
            </a:xfrm>
            <a:custGeom>
              <a:avLst/>
              <a:gdLst/>
              <a:ahLst/>
              <a:cxnLst/>
              <a:rect l="l" t="t" r="r" b="b"/>
              <a:pathLst>
                <a:path w="1123950" h="428625">
                  <a:moveTo>
                    <a:pt x="266700" y="0"/>
                  </a:moveTo>
                  <a:cubicBezTo>
                    <a:pt x="0" y="0"/>
                    <a:pt x="0" y="428625"/>
                    <a:pt x="266700" y="428625"/>
                  </a:cubicBezTo>
                  <a:moveTo>
                    <a:pt x="857250" y="428625"/>
                  </a:moveTo>
                  <a:cubicBezTo>
                    <a:pt x="1123950" y="428625"/>
                    <a:pt x="1123950" y="0"/>
                    <a:pt x="857250" y="0"/>
                  </a:cubicBezTo>
                </a:path>
              </a:pathLst>
            </a:cu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86" name="Line 86"/>
            <p:cNvSpPr/>
            <p:nvPr/>
          </p:nvSpPr>
          <p:spPr>
            <a:xfrm>
              <a:off x="13058775" y="9667875"/>
              <a:ext cx="1" cy="371475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87" name="Line 87"/>
            <p:cNvSpPr/>
            <p:nvPr/>
          </p:nvSpPr>
          <p:spPr>
            <a:xfrm>
              <a:off x="13696950" y="10610850"/>
              <a:ext cx="952500" cy="1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88" name="Freeform 88"/>
            <p:cNvSpPr/>
            <p:nvPr/>
          </p:nvSpPr>
          <p:spPr>
            <a:xfrm>
              <a:off x="19221450" y="1819275"/>
              <a:ext cx="590550" cy="304800"/>
            </a:xfrm>
            <a:custGeom>
              <a:avLst/>
              <a:gdLst/>
              <a:ahLst/>
              <a:cxnLst/>
              <a:rect l="l" t="t" r="r" b="b"/>
              <a:pathLst>
                <a:path w="590550" h="304800">
                  <a:moveTo>
                    <a:pt x="0" y="209550"/>
                  </a:moveTo>
                  <a:cubicBezTo>
                    <a:pt x="304800" y="0"/>
                    <a:pt x="504825" y="76200"/>
                    <a:pt x="590550" y="304800"/>
                  </a:cubicBezTo>
                </a:path>
              </a:pathLst>
            </a:cu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89" name="Freeform 89"/>
            <p:cNvSpPr/>
            <p:nvPr/>
          </p:nvSpPr>
          <p:spPr>
            <a:xfrm>
              <a:off x="20974050" y="1809750"/>
              <a:ext cx="619125" cy="314325"/>
            </a:xfrm>
            <a:custGeom>
              <a:avLst/>
              <a:gdLst/>
              <a:ahLst/>
              <a:cxnLst/>
              <a:rect l="l" t="t" r="r" b="b"/>
              <a:pathLst>
                <a:path w="619125" h="314325">
                  <a:moveTo>
                    <a:pt x="619125" y="219075"/>
                  </a:moveTo>
                  <a:cubicBezTo>
                    <a:pt x="323850" y="0"/>
                    <a:pt x="104775" y="76200"/>
                    <a:pt x="0" y="314325"/>
                  </a:cubicBezTo>
                </a:path>
              </a:pathLst>
            </a:cu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90" name="Freeform 90"/>
            <p:cNvSpPr/>
            <p:nvPr/>
          </p:nvSpPr>
          <p:spPr>
            <a:xfrm>
              <a:off x="17907000" y="5962650"/>
              <a:ext cx="2076450" cy="142875"/>
            </a:xfrm>
            <a:custGeom>
              <a:avLst/>
              <a:gdLst/>
              <a:ahLst/>
              <a:cxnLst/>
              <a:rect l="l" t="t" r="r" b="b"/>
              <a:pathLst>
                <a:path w="2076450" h="142875">
                  <a:moveTo>
                    <a:pt x="0" y="0"/>
                  </a:moveTo>
                  <a:lnTo>
                    <a:pt x="0" y="142875"/>
                  </a:lnTo>
                  <a:lnTo>
                    <a:pt x="2076450" y="142875"/>
                  </a:lnTo>
                  <a:lnTo>
                    <a:pt x="2076450" y="0"/>
                  </a:lnTo>
                </a:path>
              </a:pathLst>
            </a:custGeom>
            <a:noFill/>
            <a:ln w="19050">
              <a:solidFill>
                <a:srgbClr val="318C4D"/>
              </a:solidFill>
            </a:ln>
          </p:spPr>
        </p:sp>
        <p:sp>
          <p:nvSpPr>
            <p:cNvPr id="91" name="Line 91"/>
            <p:cNvSpPr/>
            <p:nvPr/>
          </p:nvSpPr>
          <p:spPr>
            <a:xfrm>
              <a:off x="17907000" y="6105525"/>
              <a:ext cx="1" cy="104775"/>
            </a:xfrm>
            <a:prstGeom prst="line">
              <a:avLst/>
            </a:prstGeom>
            <a:noFill/>
            <a:ln w="19050">
              <a:solidFill>
                <a:srgbClr val="318C4D"/>
              </a:solidFill>
              <a:tailEnd type="triangle" w="lg" len="lg"/>
            </a:ln>
          </p:spPr>
        </p:sp>
        <p:sp>
          <p:nvSpPr>
            <p:cNvPr id="92" name="Line 92"/>
            <p:cNvSpPr/>
            <p:nvPr/>
          </p:nvSpPr>
          <p:spPr>
            <a:xfrm>
              <a:off x="22555200" y="5962650"/>
              <a:ext cx="1" cy="247650"/>
            </a:xfrm>
            <a:prstGeom prst="line">
              <a:avLst/>
            </a:prstGeom>
            <a:noFill/>
            <a:ln w="19050">
              <a:solidFill>
                <a:srgbClr val="2474A2"/>
              </a:solidFill>
              <a:tailEnd type="triangle" w="lg" len="lg"/>
            </a:ln>
          </p:spPr>
        </p:sp>
        <p:sp>
          <p:nvSpPr>
            <p:cNvPr id="93" name="Line 93"/>
            <p:cNvSpPr/>
            <p:nvPr/>
          </p:nvSpPr>
          <p:spPr>
            <a:xfrm>
              <a:off x="20393025" y="7905750"/>
              <a:ext cx="1" cy="352425"/>
            </a:xfrm>
            <a:prstGeom prst="line">
              <a:avLst/>
            </a:prstGeom>
            <a:noFill/>
            <a:ln w="38100">
              <a:solidFill>
                <a:srgbClr val="111111"/>
              </a:solidFill>
              <a:tailEnd type="triangle" w="lg" len="lg"/>
            </a:ln>
          </p:spPr>
        </p:sp>
        <p:sp>
          <p:nvSpPr>
            <p:cNvPr id="94" name="Line 94"/>
            <p:cNvSpPr/>
            <p:nvPr/>
          </p:nvSpPr>
          <p:spPr>
            <a:xfrm>
              <a:off x="19973925" y="947737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66675">
              <a:solidFill>
                <a:srgbClr val="111111"/>
              </a:solidFill>
            </a:ln>
          </p:spPr>
        </p:sp>
        <p:sp>
          <p:nvSpPr>
            <p:cNvPr id="95" name="Line 95"/>
            <p:cNvSpPr/>
            <p:nvPr/>
          </p:nvSpPr>
          <p:spPr>
            <a:xfrm>
              <a:off x="19716750" y="973455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66675">
              <a:solidFill>
                <a:srgbClr val="111111"/>
              </a:solidFill>
            </a:ln>
          </p:spPr>
        </p:sp>
      </p:grpSp>
      <p:grpSp>
        <p:nvGrpSpPr>
          <p:cNvPr id="162" name="Group 162"/>
          <p:cNvGrpSpPr/>
          <p:nvPr/>
        </p:nvGrpSpPr>
        <p:grpSpPr>
          <a:xfrm>
            <a:off x="283479" y="309086"/>
            <a:ext cx="23116410" cy="11492389"/>
            <a:chOff x="283479" y="309086"/>
            <a:chExt cx="23116410" cy="11492389"/>
          </a:xfrm>
        </p:grpSpPr>
        <p:sp>
          <p:nvSpPr>
            <p:cNvPr id="97" name="TextBox 97"/>
            <p:cNvSpPr txBox="1"/>
            <p:nvPr/>
          </p:nvSpPr>
          <p:spPr>
            <a:xfrm>
              <a:off x="940154" y="564832"/>
              <a:ext cx="513009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Stage 1: Data Collection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18767" y="3439478"/>
              <a:ext cx="243911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Internet Data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3649628" y="3420428"/>
              <a:ext cx="30639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E-commerce Data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28809" y="4742021"/>
              <a:ext cx="5971832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9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Expert-Tagged Data Retrieval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3074224" y="6407944"/>
              <a:ext cx="107150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Tag List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2919666" y="7179469"/>
              <a:ext cx="13996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Automated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3057495" y="7477125"/>
              <a:ext cx="112401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&amp; Manual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3011552" y="7774781"/>
              <a:ext cx="121589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Retrieval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549950" y="8622506"/>
              <a:ext cx="2271951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Garment and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283479" y="9039225"/>
              <a:ext cx="2804892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Accessory Data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4554593" y="9051131"/>
              <a:ext cx="1977914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Model Data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85935" y="10211752"/>
              <a:ext cx="174288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Retrieved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48418" y="10616565"/>
              <a:ext cx="16179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Raw Data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37679" y="11021378"/>
              <a:ext cx="143939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(&gt;500K)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858435" y="309086"/>
              <a:ext cx="8209931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Stage 2: Data Filtering, Refinement,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935594" y="821055"/>
              <a:ext cx="4055612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and Anonymization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529876" y="1984058"/>
              <a:ext cx="8790849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Quality Filtering with Hierarchical policy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677077" y="3072289"/>
              <a:ext cx="1352695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7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Shared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774215" y="3512820"/>
              <a:ext cx="1158421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7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Polity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309009" y="3120866"/>
              <a:ext cx="1670481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Blur Image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3598990" y="3187541"/>
              <a:ext cx="2386671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Low Resolution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291526" y="3787616"/>
              <a:ext cx="180069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Watermark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3787505" y="3701891"/>
              <a:ext cx="1133339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......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554316" y="4369118"/>
              <a:ext cx="390326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Model-domain Policy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2642471" y="4331018"/>
              <a:ext cx="382345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Cloth-domain Policy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708753" y="5225891"/>
              <a:ext cx="775245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Pose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657205" y="5949791"/>
              <a:ext cx="173559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Non-human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2048028" y="4856798"/>
              <a:ext cx="55464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VLM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925163" y="5166360"/>
              <a:ext cx="80037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Judge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992954" y="5971222"/>
              <a:ext cx="95054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Expert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2068038" y="6280785"/>
              <a:ext cx="80037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Check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4097367" y="5130641"/>
              <a:ext cx="1751867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Incomplete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3936163" y="5949791"/>
              <a:ext cx="2207624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Multi-subject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8084175" y="6259830"/>
              <a:ext cx="538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...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9493875" y="6259830"/>
              <a:ext cx="538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...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3380075" y="6259830"/>
              <a:ext cx="538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...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4818350" y="6259830"/>
              <a:ext cx="538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...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7449216" y="7509986"/>
              <a:ext cx="4303968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Tagging Refinement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2171147" y="7509986"/>
              <a:ext cx="4213656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Privacy Protection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8966325" y="8559165"/>
              <a:ext cx="267944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Human-collected Tags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9306568" y="8844915"/>
              <a:ext cx="199896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Taobao SKU Tags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8750925" y="9536430"/>
              <a:ext cx="538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Tag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8464239" y="9869805"/>
              <a:ext cx="111187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Library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8634655" y="10557034"/>
              <a:ext cx="61864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7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VLM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9370609" y="11140440"/>
              <a:ext cx="213758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Dense Attributes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3797644" y="8587740"/>
              <a:ext cx="78921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Match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4467494" y="9702165"/>
              <a:ext cx="15831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Face Library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3140714" y="9825990"/>
              <a:ext cx="8648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Switch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4433061" y="11149965"/>
              <a:ext cx="17091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Quality Check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7816296" y="309086"/>
              <a:ext cx="5229658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Stage 3: Try-on Pairing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9396743" y="821055"/>
              <a:ext cx="2068763" cy="655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2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Strategy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7499706" y="1357789"/>
              <a:ext cx="2090938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7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Model Data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21386661" y="1357789"/>
              <a:ext cx="2013228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7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Cloth Data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18949667" y="3584258"/>
              <a:ext cx="292481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Pairing Policy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7491421" y="5496401"/>
              <a:ext cx="83115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Upper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8598094" y="5496401"/>
              <a:ext cx="67521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Coat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9539518" y="5496401"/>
              <a:ext cx="887865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Lower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20596571" y="5496401"/>
              <a:ext cx="83115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Shoes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21800266" y="5496401"/>
              <a:ext cx="51926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Bag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22867066" y="5496401"/>
              <a:ext cx="51926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111111"/>
                  </a:solidFill>
                  <a:latin typeface="Georgia"/>
                  <a:ea typeface="SimSun"/>
                  <a:cs typeface="Georgia"/>
                </a:rPr>
                <a:t>Hat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18882287" y="6359366"/>
              <a:ext cx="3021475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Multi-cloth Try-on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19248521" y="6930866"/>
              <a:ext cx="2289009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Multi-Layered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19321767" y="7502366"/>
              <a:ext cx="2142515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Diverse Pairs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8471942" y="10742771"/>
              <a:ext cx="3842166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9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Diverse &amp; Intricate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18564091" y="11207115"/>
              <a:ext cx="3657868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925" b="1" dirty="0">
                  <a:solidFill>
                    <a:srgbClr val="111111"/>
                  </a:solidFill>
                  <a:latin typeface="Comic Sans MS"/>
                  <a:ea typeface="Microsoft YaHei"/>
                  <a:cs typeface="Comic Sans MS"/>
                </a:rPr>
                <a:t>Try-on Benchmark</a:t>
              </a:r>
            </a:p>
          </p:txBody>
        </p:sp>
      </p:grp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63" name="Editable Equation stage2-pose-threshold"/>
              <p:cNvSpPr txBox="1"/>
              <p:nvPr/>
            </p:nvSpPr>
            <p:spPr>
              <a:xfrm>
                <a:off x="9382125" y="5172075"/>
                <a:ext cx="1143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325"/>
                </a:pPr>
                <a:r>
                  <a:rPr lang="en-US" sz="23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/>
                </a:r>
                <a14:m>
                  <m:oMathPara>
                    <m:oMath xmlns:mml="http://www.w3.org/1998/Math/MathML">
                      <m:r>
                        <a:rPr lang="en-US" sz="2325" dirty="0" smtClean="0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sSup>
                        <m:e>
                          <m:r>
                            <a:rPr lang="en-US" sz="23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90</m:t>
                          </m:r>
                        </m:e>
                        <m:sup>
                          <m:r>
                            <a:rPr lang="en-US" sz="2325" dirty="0" smtClean="0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63" name="Editable Equation stage2-pose-threshold Fallback"/>
              <p:cNvSpPr txBox="1"/>
              <p:nvPr/>
            </p:nvSpPr>
            <p:spPr>
              <a:xfrm>
                <a:off x="9382125" y="5172075"/>
                <a:ext cx="1143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>
                  <a:defRPr sz="2325"/>
                </a:pPr>
                <a:r>
                  <a:rPr lang="en-US" sz="2325" dirty="0" smtClean="0">
                    <a:solidFill>
                      <a:srgbClr val="111111"/>
                    </a:solidFill>
                    <a:latin typeface="Cambria Math"/>
                    <a:ea typeface="Cambria Math"/>
                    <a:cs typeface="Cambria Math"/>
                  </a:rPr>
                  <a:t>&gt; 90^\circ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